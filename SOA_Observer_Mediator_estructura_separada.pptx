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0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4E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419" dirty="0"/>
              <a:t>Arquitectura Orientada a Servicios (SOA)</a:t>
            </a:r>
            <a:endParaRPr lang="en-US" sz="4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DFDCA49-15E5-9528-7942-58D1A631B8E2}"/>
              </a:ext>
            </a:extLst>
          </p:cNvPr>
          <p:cNvSpPr txBox="1"/>
          <p:nvPr/>
        </p:nvSpPr>
        <p:spPr>
          <a:xfrm>
            <a:off x="607423" y="3448594"/>
            <a:ext cx="4572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s-419" sz="1200" b="1" i="0" dirty="0">
                <a:solidFill>
                  <a:srgbClr val="1F2328"/>
                </a:solidFill>
                <a:effectLst/>
                <a:latin typeface="Mona Sans VF"/>
              </a:rPr>
              <a:t> </a:t>
            </a:r>
            <a:r>
              <a:rPr lang="es-419" sz="1200" b="1" i="0" dirty="0">
                <a:solidFill>
                  <a:schemeClr val="bg1"/>
                </a:solidFill>
                <a:effectLst/>
                <a:latin typeface="Mona Sans VF"/>
              </a:rPr>
              <a:t>Integrantes del Equipo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200" b="0" i="0" dirty="0">
                <a:solidFill>
                  <a:schemeClr val="bg1"/>
                </a:solidFill>
                <a:effectLst/>
                <a:latin typeface="Mona Sans VF"/>
              </a:rPr>
              <a:t>David Villanueva Potosí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200" b="0" i="0" dirty="0">
                <a:solidFill>
                  <a:schemeClr val="bg1"/>
                </a:solidFill>
                <a:effectLst/>
                <a:latin typeface="Mona Sans VF"/>
              </a:rPr>
              <a:t>Brandon Duván Guevara Rodríguez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419" sz="1200" b="0" i="0" dirty="0">
                <a:solidFill>
                  <a:schemeClr val="bg1"/>
                </a:solidFill>
                <a:effectLst/>
                <a:latin typeface="Mona Sans VF"/>
              </a:rPr>
              <a:t>Erick Santiago Vasquez Reyes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SOA: Definición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Qué es: </a:t>
            </a:r>
            <a:r>
              <a:rPr lang="en-US" sz="1500" dirty="0">
                <a:solidFill>
                  <a:schemeClr val="tx1"/>
                </a:solidFill>
              </a:rPr>
              <a:t>estilo de arquitectura que divide el software en servicios independientes. Cada uno hace una función de negocio y publica un contrato.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Metáfora: </a:t>
            </a:r>
            <a:r>
              <a:rPr lang="en-US" sz="1500" dirty="0">
                <a:solidFill>
                  <a:schemeClr val="tx1"/>
                </a:solidFill>
              </a:rPr>
              <a:t>un centro comercial; cada local hace una cosa y, si uno cierra, los demás siguen abiertos.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Sirve para: </a:t>
            </a:r>
            <a:r>
              <a:rPr lang="en-US" sz="1500" dirty="0">
                <a:solidFill>
                  <a:schemeClr val="tx1"/>
                </a:solidFill>
              </a:rPr>
              <a:t>integrar sistemas viejos y nuevos, reutilizar lógica y cambiar una parte sin romper todo.</a:t>
            </a:r>
            <a:endParaRPr lang="en-US" sz="1500" dirty="0"/>
          </a:p>
        </p:txBody>
      </p:sp>
      <p:sp>
        <p:nvSpPr>
          <p:cNvPr id="4" name="Separador"/>
          <p:cNvSpPr/>
          <p:nvPr/>
        </p:nvSpPr>
        <p:spPr>
          <a:xfrm>
            <a:off x="4709160" y="1097280"/>
            <a:ext cx="0" cy="34747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 txBox="1"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Principios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55448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Contrato estándar: </a:t>
            </a:r>
            <a:r>
              <a:rPr lang="en-US" sz="1300" dirty="0">
                <a:solidFill>
                  <a:schemeClr val="tx1"/>
                </a:solidFill>
              </a:rPr>
              <a:t>describe qué ofrece.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Bajo acoplamiento: </a:t>
            </a:r>
            <a:r>
              <a:rPr lang="en-US" sz="1300" dirty="0">
                <a:solidFill>
                  <a:schemeClr val="tx1"/>
                </a:solidFill>
              </a:rPr>
              <a:t>depende del contrato, no del código.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Reutilización: </a:t>
            </a:r>
            <a:r>
              <a:rPr lang="en-US" sz="1300" dirty="0">
                <a:solidFill>
                  <a:schemeClr val="tx1"/>
                </a:solidFill>
              </a:rPr>
              <a:t>varias apps usan el mismo servicio.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Autonomía: </a:t>
            </a:r>
            <a:r>
              <a:rPr lang="en-US" sz="1300" dirty="0">
                <a:solidFill>
                  <a:schemeClr val="tx1"/>
                </a:solidFill>
              </a:rPr>
              <a:t>cada servicio controla su lógica y datos.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Abstracción: </a:t>
            </a:r>
            <a:r>
              <a:rPr lang="en-US" sz="1300" dirty="0">
                <a:solidFill>
                  <a:schemeClr val="tx1"/>
                </a:solidFill>
              </a:rPr>
              <a:t>el consumidor no ve el interior.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Composición: </a:t>
            </a:r>
            <a:r>
              <a:rPr lang="en-US" sz="1300" dirty="0">
                <a:solidFill>
                  <a:schemeClr val="tx1"/>
                </a:solidFill>
              </a:rPr>
              <a:t>servicios simples forman procesos.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SOA: Características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Cómo se organiza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Proveedor: </a:t>
            </a:r>
            <a:r>
              <a:rPr lang="en-US" sz="1400" dirty="0">
                <a:solidFill>
                  <a:schemeClr val="tx1"/>
                </a:solidFill>
              </a:rPr>
              <a:t>implementa y publica el servicio.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Consumidor: </a:t>
            </a:r>
            <a:r>
              <a:rPr lang="en-US" sz="1400" dirty="0">
                <a:solidFill>
                  <a:schemeClr val="tx1"/>
                </a:solidFill>
              </a:rPr>
              <a:t>lo busca y lo usa (app web o móvil).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Registro: </a:t>
            </a:r>
            <a:r>
              <a:rPr lang="en-US" sz="1400" dirty="0">
                <a:solidFill>
                  <a:schemeClr val="tx1"/>
                </a:solidFill>
              </a:rPr>
              <a:t>catálogo donde se publican los contratos.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Capas: </a:t>
            </a:r>
            <a:r>
              <a:rPr lang="en-US" sz="1400" dirty="0">
                <a:solidFill>
                  <a:schemeClr val="tx1"/>
                </a:solidFill>
              </a:rPr>
              <a:t>consumidores, procesos, servicios de negocio, datos e integración (ESB, gateway, broker).</a:t>
            </a:r>
            <a:endParaRPr lang="en-US" sz="1400" dirty="0"/>
          </a:p>
        </p:txBody>
      </p:sp>
      <p:sp>
        <p:nvSpPr>
          <p:cNvPr id="5" name="Separador"/>
          <p:cNvSpPr/>
          <p:nvPr/>
        </p:nvSpPr>
        <p:spPr>
          <a:xfrm>
            <a:off x="4709160" y="1097280"/>
            <a:ext cx="0" cy="34747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 txBox="1"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Cómo funciona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5544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El proveedor publica su contrato.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El consumidor busca el servicio.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Envía un mensaje (SOAP/XML o REST/JSON) por HTTP o colas.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El proveedor responde; su código interno no se ve.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Además: </a:t>
            </a:r>
            <a:r>
              <a:rPr lang="en-US" sz="1400" dirty="0">
                <a:solidFill>
                  <a:schemeClr val="tx1"/>
                </a:solidFill>
              </a:rPr>
              <a:t>los servicios no guardan estado y funcionan en distintas plataformas.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SOA: Diagrama</a:t>
            </a:r>
            <a:endParaRPr lang="en-US" sz="3400" dirty="0"/>
          </a:p>
        </p:txBody>
      </p:sp>
      <p:sp>
        <p:nvSpPr>
          <p:cNvPr id="3" name="Registro de servicios"/>
          <p:cNvSpPr/>
          <p:nvPr/>
        </p:nvSpPr>
        <p:spPr>
          <a:xfrm>
            <a:off x="1737360" y="1371600"/>
            <a:ext cx="2560320" cy="64008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 txBox="1"/>
          <p:nvPr/>
        </p:nvSpPr>
        <p:spPr>
          <a:xfrm>
            <a:off x="1737360" y="13716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Registro de servicios</a:t>
            </a:r>
            <a:endParaRPr lang="en-US" sz="1200" dirty="0"/>
          </a:p>
        </p:txBody>
      </p:sp>
      <p:sp>
        <p:nvSpPr>
          <p:cNvPr id="5" name="Consumidor"/>
          <p:cNvSpPr/>
          <p:nvPr/>
        </p:nvSpPr>
        <p:spPr>
          <a:xfrm>
            <a:off x="548640" y="3108960"/>
            <a:ext cx="182880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Consumidor</a:t>
            </a:r>
            <a:endParaRPr lang="en-US" sz="1200" dirty="0"/>
          </a:p>
        </p:txBody>
      </p:sp>
      <p:sp>
        <p:nvSpPr>
          <p:cNvPr id="7" name="Proveedor"/>
          <p:cNvSpPr/>
          <p:nvPr/>
        </p:nvSpPr>
        <p:spPr>
          <a:xfrm>
            <a:off x="3657600" y="3108960"/>
            <a:ext cx="182880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 txBox="1"/>
          <p:nvPr/>
        </p:nvSpPr>
        <p:spPr>
          <a:xfrm>
            <a:off x="365760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Proveedor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flipV="1">
            <a:off x="1463040" y="2011680"/>
            <a:ext cx="640080" cy="10972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0" name="Shape 8"/>
          <p:cNvSpPr/>
          <p:nvPr/>
        </p:nvSpPr>
        <p:spPr>
          <a:xfrm>
            <a:off x="3931920" y="2011680"/>
            <a:ext cx="640080" cy="109728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419"/>
          </a:p>
        </p:txBody>
      </p:sp>
      <p:sp>
        <p:nvSpPr>
          <p:cNvPr id="11" name="Shape 9"/>
          <p:cNvSpPr/>
          <p:nvPr/>
        </p:nvSpPr>
        <p:spPr>
          <a:xfrm>
            <a:off x="2377440" y="3310128"/>
            <a:ext cx="12801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2" name="Shape 10"/>
          <p:cNvSpPr/>
          <p:nvPr/>
        </p:nvSpPr>
        <p:spPr>
          <a:xfrm>
            <a:off x="2377440" y="3657600"/>
            <a:ext cx="12801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 txBox="1"/>
          <p:nvPr/>
        </p:nvSpPr>
        <p:spPr>
          <a:xfrm>
            <a:off x="548640" y="242316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</a:rPr>
              <a:t>2 busca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423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1 publica contrato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3017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3 invoca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37307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4 responde</a:t>
            </a:r>
            <a:endParaRPr lang="en-US" sz="1200" dirty="0"/>
          </a:p>
        </p:txBody>
      </p:sp>
      <p:sp>
        <p:nvSpPr>
          <p:cNvPr id="17" name="Separador"/>
          <p:cNvSpPr/>
          <p:nvPr/>
        </p:nvSpPr>
        <p:spPr>
          <a:xfrm>
            <a:off x="6126480" y="1097280"/>
            <a:ext cx="0" cy="34747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 txBox="1"/>
          <p:nvPr/>
        </p:nvSpPr>
        <p:spPr>
          <a:xfrm>
            <a:off x="6355080" y="1371600"/>
            <a:ext cx="2286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1 </a:t>
            </a:r>
            <a:r>
              <a:rPr lang="en-US" sz="1400" dirty="0">
                <a:solidFill>
                  <a:schemeClr val="tx1"/>
                </a:solidFill>
              </a:rPr>
              <a:t>El proveedor publica su contrato en el registro.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2 </a:t>
            </a:r>
            <a:r>
              <a:rPr lang="en-US" sz="1400" dirty="0">
                <a:solidFill>
                  <a:schemeClr val="tx1"/>
                </a:solidFill>
              </a:rPr>
              <a:t>El consumidor busca el servicio.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3 </a:t>
            </a:r>
            <a:r>
              <a:rPr lang="en-US" sz="1400" dirty="0">
                <a:solidFill>
                  <a:schemeClr val="tx1"/>
                </a:solidFill>
              </a:rPr>
              <a:t>Lo invoca con un mensaje.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4 </a:t>
            </a:r>
            <a:r>
              <a:rPr lang="en-US" sz="1400" dirty="0">
                <a:solidFill>
                  <a:schemeClr val="tx1"/>
                </a:solidFill>
              </a:rPr>
              <a:t>El proveedor responde.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4630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Patrones Observer y Mediator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Patrones: Definición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Observer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Mediator</a:t>
            </a:r>
            <a:endParaRPr lang="en-US" sz="2000" dirty="0"/>
          </a:p>
        </p:txBody>
      </p:sp>
      <p:sp>
        <p:nvSpPr>
          <p:cNvPr id="5" name="Separador"/>
          <p:cNvSpPr/>
          <p:nvPr/>
        </p:nvSpPr>
        <p:spPr>
          <a:xfrm>
            <a:off x="4526280" y="1097280"/>
            <a:ext cx="0" cy="34747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Qué es: </a:t>
            </a:r>
            <a:r>
              <a:rPr lang="en-US" sz="1400" dirty="0">
                <a:solidFill>
                  <a:schemeClr val="tx1"/>
                </a:solidFill>
              </a:rPr>
              <a:t>relación uno a muchos; si el Subject cambia, avisa a todos sus Observers.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Metáfora: </a:t>
            </a:r>
            <a:r>
              <a:rPr lang="en-US" sz="1400" dirty="0">
                <a:solidFill>
                  <a:schemeClr val="tx1"/>
                </a:solidFill>
              </a:rPr>
              <a:t>un canal de YouTube y sus suscriptores.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Sirve para: </a:t>
            </a:r>
            <a:r>
              <a:rPr lang="en-US" sz="1400" dirty="0">
                <a:solidFill>
                  <a:schemeClr val="tx1"/>
                </a:solidFill>
              </a:rPr>
              <a:t>reaccionar a cambios sin que el emisor conozca a quién avisa.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En SOA: </a:t>
            </a:r>
            <a:r>
              <a:rPr lang="en-US" sz="1400" dirty="0">
                <a:solidFill>
                  <a:schemeClr val="tx1"/>
                </a:solidFill>
              </a:rPr>
              <a:t>publish/subscribe con un broker (RabbitMQ, Kafka).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5087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Qué es: </a:t>
            </a:r>
            <a:r>
              <a:rPr lang="en-US" sz="1400" dirty="0">
                <a:solidFill>
                  <a:schemeClr val="tx1"/>
                </a:solidFill>
              </a:rPr>
              <a:t>un intermediario que centraliza la comunicación entre componentes.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Metáfora: </a:t>
            </a:r>
            <a:r>
              <a:rPr lang="en-US" sz="1400" dirty="0">
                <a:solidFill>
                  <a:schemeClr val="tx1"/>
                </a:solidFill>
              </a:rPr>
              <a:t>la torre de control de un aeropuerto.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Sirve para: </a:t>
            </a:r>
            <a:r>
              <a:rPr lang="en-US" sz="1400" dirty="0">
                <a:solidFill>
                  <a:schemeClr val="tx1"/>
                </a:solidFill>
              </a:rPr>
              <a:t>evitar una maraña de dependencias y coordinar en un solo lugar.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En SOA: </a:t>
            </a:r>
            <a:r>
              <a:rPr lang="en-US" sz="1400" dirty="0">
                <a:solidFill>
                  <a:schemeClr val="tx1"/>
                </a:solidFill>
              </a:rPr>
              <a:t>orquestador, ESB o API Gateway.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Patrones: Características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Observer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Mediator</a:t>
            </a:r>
            <a:endParaRPr lang="en-US" sz="2000" dirty="0"/>
          </a:p>
        </p:txBody>
      </p:sp>
      <p:sp>
        <p:nvSpPr>
          <p:cNvPr id="5" name="Separador"/>
          <p:cNvSpPr/>
          <p:nvPr/>
        </p:nvSpPr>
        <p:spPr>
          <a:xfrm>
            <a:off x="4526280" y="1097280"/>
            <a:ext cx="0" cy="34747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Componentes: </a:t>
            </a:r>
            <a:r>
              <a:rPr lang="en-US" sz="1300" dirty="0">
                <a:solidFill>
                  <a:schemeClr val="tx1"/>
                </a:solidFill>
              </a:rPr>
              <a:t>Subject, Observer, subscribe(), unsubscribe(), notify() y update().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Por dentro: </a:t>
            </a:r>
            <a:r>
              <a:rPr lang="en-US" sz="1300" dirty="0">
                <a:solidFill>
                  <a:schemeClr val="tx1"/>
                </a:solidFill>
              </a:rPr>
              <a:t>el Subject guarda una lista de observadores y la recorre al notificar: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</a:rPr>
              <a:t>se registran con subscribe()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</a:rPr>
              <a:t>cambia el estado y llama notify()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</a:rPr>
              <a:t>cada uno recibe update()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En SOA: </a:t>
            </a:r>
            <a:r>
              <a:rPr lang="en-US" sz="1300" dirty="0">
                <a:solidFill>
                  <a:schemeClr val="tx1"/>
                </a:solidFill>
              </a:rPr>
              <a:t>el broker hace de lista y entrega el evento a cada suscriptor.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50876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Componentes: </a:t>
            </a:r>
            <a:r>
              <a:rPr lang="en-US" sz="1300" dirty="0">
                <a:solidFill>
                  <a:schemeClr val="tx1"/>
                </a:solidFill>
              </a:rPr>
              <a:t>interfaz Mediator, mediador concreto y Colleagues.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Por dentro: </a:t>
            </a:r>
            <a:r>
              <a:rPr lang="en-US" sz="1300" dirty="0">
                <a:solidFill>
                  <a:schemeClr val="tx1"/>
                </a:solidFill>
              </a:rPr>
              <a:t>los Colleagues solo conocen al mediador: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</a:rPr>
              <a:t>un Colleague le avisa lo que necesita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</a:rPr>
              <a:t>el mediador decide a quién, en qué orden y con qué reglas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chemeClr val="tx1"/>
                </a:solidFill>
              </a:rPr>
              <a:t>los demás responden al mediador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chemeClr val="tx2"/>
                </a:solidFill>
              </a:rPr>
              <a:t>En SOA: </a:t>
            </a:r>
            <a:r>
              <a:rPr lang="en-US" sz="1300" dirty="0">
                <a:solidFill>
                  <a:schemeClr val="tx1"/>
                </a:solidFill>
              </a:rPr>
              <a:t>el ESB o gateway enruta, transforma y coordina.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Patrones: Diagramas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Observer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8463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Mediator</a:t>
            </a:r>
            <a:endParaRPr lang="en-US" sz="2000" dirty="0"/>
          </a:p>
        </p:txBody>
      </p:sp>
      <p:sp>
        <p:nvSpPr>
          <p:cNvPr id="5" name="Separador"/>
          <p:cNvSpPr/>
          <p:nvPr/>
        </p:nvSpPr>
        <p:spPr>
          <a:xfrm>
            <a:off x="4526280" y="1097280"/>
            <a:ext cx="0" cy="34747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Subject notify()"/>
          <p:cNvSpPr/>
          <p:nvPr/>
        </p:nvSpPr>
        <p:spPr>
          <a:xfrm>
            <a:off x="548640" y="1920240"/>
            <a:ext cx="1371600" cy="128016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Subject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notify()</a:t>
            </a:r>
            <a:endParaRPr lang="en-US" sz="1200" dirty="0"/>
          </a:p>
        </p:txBody>
      </p:sp>
      <p:sp>
        <p:nvSpPr>
          <p:cNvPr id="8" name="Observer A"/>
          <p:cNvSpPr/>
          <p:nvPr/>
        </p:nvSpPr>
        <p:spPr>
          <a:xfrm>
            <a:off x="2926080" y="1463040"/>
            <a:ext cx="137160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 txBox="1"/>
          <p:nvPr/>
        </p:nvSpPr>
        <p:spPr>
          <a:xfrm>
            <a:off x="2926080" y="1463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Observer A</a:t>
            </a:r>
            <a:endParaRPr lang="en-US" sz="1200" dirty="0"/>
          </a:p>
        </p:txBody>
      </p:sp>
      <p:sp>
        <p:nvSpPr>
          <p:cNvPr id="10" name="Observer B"/>
          <p:cNvSpPr/>
          <p:nvPr/>
        </p:nvSpPr>
        <p:spPr>
          <a:xfrm>
            <a:off x="2926080" y="2286000"/>
            <a:ext cx="137160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 txBox="1"/>
          <p:nvPr/>
        </p:nvSpPr>
        <p:spPr>
          <a:xfrm>
            <a:off x="292608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Observer B</a:t>
            </a:r>
            <a:endParaRPr lang="en-US" sz="1200" dirty="0"/>
          </a:p>
        </p:txBody>
      </p:sp>
      <p:sp>
        <p:nvSpPr>
          <p:cNvPr id="12" name="Observer C"/>
          <p:cNvSpPr/>
          <p:nvPr/>
        </p:nvSpPr>
        <p:spPr>
          <a:xfrm>
            <a:off x="2926080" y="3108960"/>
            <a:ext cx="1371600" cy="54864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 txBox="1"/>
          <p:nvPr/>
        </p:nvSpPr>
        <p:spPr>
          <a:xfrm>
            <a:off x="2926080" y="3108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Observer 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1920240" y="1737360"/>
            <a:ext cx="1005840" cy="8229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5" name="Shape 13"/>
          <p:cNvSpPr/>
          <p:nvPr/>
        </p:nvSpPr>
        <p:spPr>
          <a:xfrm>
            <a:off x="1920240" y="2560320"/>
            <a:ext cx="10058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6" name="Shape 14"/>
          <p:cNvSpPr/>
          <p:nvPr/>
        </p:nvSpPr>
        <p:spPr>
          <a:xfrm>
            <a:off x="1920240" y="2560320"/>
            <a:ext cx="1005840" cy="8229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17" name="Mediator"/>
          <p:cNvSpPr/>
          <p:nvPr/>
        </p:nvSpPr>
        <p:spPr>
          <a:xfrm>
            <a:off x="5943600" y="1463040"/>
            <a:ext cx="1554480" cy="64008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 txBox="1"/>
          <p:nvPr/>
        </p:nvSpPr>
        <p:spPr>
          <a:xfrm>
            <a:off x="594360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Mediator</a:t>
            </a:r>
            <a:endParaRPr lang="en-US" sz="1200" dirty="0"/>
          </a:p>
        </p:txBody>
      </p:sp>
      <p:sp>
        <p:nvSpPr>
          <p:cNvPr id="19" name="Colleague A"/>
          <p:cNvSpPr/>
          <p:nvPr/>
        </p:nvSpPr>
        <p:spPr>
          <a:xfrm>
            <a:off x="4846320" y="2926080"/>
            <a:ext cx="1097280" cy="6400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 txBox="1"/>
          <p:nvPr/>
        </p:nvSpPr>
        <p:spPr>
          <a:xfrm>
            <a:off x="484632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Colleague A</a:t>
            </a:r>
            <a:endParaRPr lang="en-US" sz="1200" dirty="0"/>
          </a:p>
        </p:txBody>
      </p:sp>
      <p:sp>
        <p:nvSpPr>
          <p:cNvPr id="21" name="Colleague B"/>
          <p:cNvSpPr/>
          <p:nvPr/>
        </p:nvSpPr>
        <p:spPr>
          <a:xfrm>
            <a:off x="6172200" y="2926080"/>
            <a:ext cx="1097280" cy="6400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 txBox="1"/>
          <p:nvPr/>
        </p:nvSpPr>
        <p:spPr>
          <a:xfrm>
            <a:off x="617220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Colleague B</a:t>
            </a:r>
            <a:endParaRPr lang="en-US" sz="1200" dirty="0"/>
          </a:p>
        </p:txBody>
      </p:sp>
      <p:sp>
        <p:nvSpPr>
          <p:cNvPr id="23" name="Colleague C"/>
          <p:cNvSpPr/>
          <p:nvPr/>
        </p:nvSpPr>
        <p:spPr>
          <a:xfrm>
            <a:off x="7498080" y="2926080"/>
            <a:ext cx="1097280" cy="6400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 txBox="1"/>
          <p:nvPr/>
        </p:nvSpPr>
        <p:spPr>
          <a:xfrm>
            <a:off x="7498080" y="2926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Colleague 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flipV="1">
            <a:off x="5394960" y="2103120"/>
            <a:ext cx="822960" cy="8229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6" name="Shape 24"/>
          <p:cNvSpPr/>
          <p:nvPr/>
        </p:nvSpPr>
        <p:spPr>
          <a:xfrm>
            <a:off x="6720840" y="2103120"/>
            <a:ext cx="0" cy="8229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7" name="Shape 25"/>
          <p:cNvSpPr/>
          <p:nvPr/>
        </p:nvSpPr>
        <p:spPr>
          <a:xfrm>
            <a:off x="7223760" y="2103120"/>
            <a:ext cx="822960" cy="8229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 txBox="1"/>
          <p:nvPr/>
        </p:nvSpPr>
        <p:spPr>
          <a:xfrm>
            <a:off x="548640" y="3840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 Subject avisa a todos sus Observers con notify(). En SOA, el broker entrega el evento.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38404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Todos hablan con el Mediator, que coordina; los Colleagues no se conocen entre sí.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l">
  <a:themeElements>
    <a:clrScheme name="Azul">
      <a:dk1>
        <a:srgbClr val="222222"/>
      </a:dk1>
      <a:lt1>
        <a:srgbClr val="FFFFFF"/>
      </a:lt1>
      <a:dk2>
        <a:srgbClr val="1F4E9C"/>
      </a:dk2>
      <a:lt2>
        <a:srgbClr val="E8F0FB"/>
      </a:lt2>
      <a:accent1>
        <a:srgbClr val="1F4E9C"/>
      </a:accent1>
      <a:accent2>
        <a:srgbClr val="4A90D9"/>
      </a:accent2>
      <a:accent3>
        <a:srgbClr val="9CC3EE"/>
      </a:accent3>
      <a:accent4>
        <a:srgbClr val="E76F51"/>
      </a:accent4>
      <a:accent5>
        <a:srgbClr val="6C8EAD"/>
      </a:accent5>
      <a:accent6>
        <a:srgbClr val="5B9E6B"/>
      </a:accent6>
      <a:hlink>
        <a:srgbClr val="1F4E9C"/>
      </a:hlink>
      <a:folHlink>
        <a:srgbClr val="6C8EAD"/>
      </a:folHlink>
    </a:clrScheme>
    <a:fontScheme name="Azu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615</Words>
  <Application>Microsoft Office PowerPoint</Application>
  <PresentationFormat>Presentación en pantalla (16:9)</PresentationFormat>
  <Paragraphs>97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Mona Sans VF</vt:lpstr>
      <vt:lpstr>Azul</vt:lpstr>
      <vt:lpstr>Arquitectura Orientada a Servicios (SOA)</vt:lpstr>
      <vt:lpstr>SOA: Definición</vt:lpstr>
      <vt:lpstr>SOA: Características</vt:lpstr>
      <vt:lpstr>SOA: Diagrama</vt:lpstr>
      <vt:lpstr>Patrones Observer y Mediator</vt:lpstr>
      <vt:lpstr>Patrones: Definición</vt:lpstr>
      <vt:lpstr>Patrones: Características</vt:lpstr>
      <vt:lpstr>Patrones: Diagramas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SOA: patrones Observer y Mediator</dc:title>
  <dc:subject>PptxGenJS Presentation</dc:subject>
  <dc:creator>PptxGenJS</dc:creator>
  <cp:lastModifiedBy>Gisel lorena mosquera fierro</cp:lastModifiedBy>
  <cp:revision>2</cp:revision>
  <dcterms:created xsi:type="dcterms:W3CDTF">2026-10-14T14:14:31Z</dcterms:created>
  <dcterms:modified xsi:type="dcterms:W3CDTF">2026-10-14T14:50:46Z</dcterms:modified>
</cp:coreProperties>
</file>