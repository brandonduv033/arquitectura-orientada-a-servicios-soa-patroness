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9" r:id="rId6"/>
    <p:sldId id="260" r:id="rId7"/>
    <p:sldId id="264" r:id="rId8"/>
    <p:sldId id="274" r:id="rId9"/>
    <p:sldId id="278" r:id="rId10"/>
    <p:sldId id="275" r:id="rId11"/>
    <p:sldId id="276" r:id="rId12"/>
    <p:sldId id="277" r:id="rId13"/>
    <p:sldId id="261" r:id="rId14"/>
    <p:sldId id="262" r:id="rId15"/>
    <p:sldId id="269" r:id="rId16"/>
    <p:sldId id="273" r:id="rId17"/>
    <p:sldId id="272" r:id="rId18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2658"/>
    <a:srgbClr val="0F12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56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E3B52-FEC4-42BC-B06A-8CABB6F8B49F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2515F-3EE2-4EA1-A46A-FD31DBD2A5F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2386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3486-1119-D441-CFFA-0D4BF48B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CB646-D7BA-23B8-962E-7F6C14B01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8D1F0-1B18-6E38-C383-58D2DD360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B9C84-F9B7-B183-D328-6FA2F158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5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04E60B-7F9A-9675-77A3-DA1D44A35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1E47B4-048B-D575-500F-E04EED3A8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BC8C73-ED8F-E36F-1621-8EF758F2D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E19228-CBA9-6954-F26D-8B5BD23E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A57172-F50B-B8B1-A5DA-ADA9BA309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00678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ACFD7-6AD2-A602-A46A-9435F882C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E55D79-9FA4-9B5F-D253-E0554D087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53B26D-D98B-3F8C-000D-63DD181D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36A74-6AC1-E294-E991-88CDC161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6348FD-981D-525A-408D-9C1404A9E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3301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509089-D697-D3BB-26D3-AFA2336D1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9D6A36-205A-FB5D-B548-B7EDE1A2E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D21036-BD16-1980-F12B-A5651C052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8ED95A-AA2A-3F3D-9EB6-867F2992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6F77395-094F-A6ED-6DF9-6990518E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1089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A246E2-6E35-200B-536F-48CEA3347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66C3D7-AA58-5B9D-D448-5E570E7BD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A6332F-2A09-7EFA-1A50-ED290739F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B8E707-1FAD-25B4-577B-82A20DAC3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8051302-23AE-7AE4-76B8-F4748DD20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35BCF8-4A75-AEEA-FBE2-1D27CF336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95590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48D75A-AC16-7E6D-2835-3D3031DE3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53AF6BC-8470-DB8A-74FC-96EACF046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9BFA8E6-4AFC-E70A-D731-97E2E9CE6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3C7A58-D5B7-A757-F8BB-1888975F65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65CACA-DB87-0334-8D3A-9BE82DD78A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695F097-2B41-3575-B245-84C34C670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8BAB29F-D579-82C0-FAA5-B4FCA2484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4D4B9C-02BC-FC81-B29B-39AE4198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73777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1CCAD3-7DF5-94B1-7CEF-686D535A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827FD4-BFE5-A255-9040-7E4D962F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09CD20F-F8E8-E721-BFDE-59B5F47C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04BAE63-37D6-D1E1-1078-02CD54815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63430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A43F091-DD49-1555-4CBE-9631012F9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202E41E-F808-B0CF-C6AC-BF6719332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DE1DA9-B9A0-718C-45A1-E06F6E33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1280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4256B-A11D-AB6B-9F6F-AEA69AB4B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97140BB-26F5-6153-182A-59925F4EB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149A52-5004-F96E-1E6B-C1E0C83215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9908898-25C7-1546-7755-260C38E34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D52D588-EF59-76F1-5DA7-762F36C08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24E04F-7265-5157-F417-1B5C63F54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185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A8173-07BF-A28C-F317-6D2AE79E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D512064-7370-D1E1-5869-A4DBC9B9B8D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0554678-0F5F-37E2-EA0C-32095AB6E4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0D2B0C-FC2D-D793-6BAE-822628476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906E5D-BADC-8CF2-E8E3-E4A6FEB8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CB6E8C-AA80-1244-7D73-4DBD232FF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80592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56801C-E3BC-4FBE-B0E9-207DE5A6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64D3378-7605-DD38-3B5A-891910F97C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4F3B3-5D17-CFA3-8F69-F8F1331DF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463431-DDEF-D2BE-F0B9-C08E6EA0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CFC611-7935-435D-302C-ADD14AE37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68720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4F743C1-5A8F-685A-6BFF-01CA6974F7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78E38B-EE06-89AF-C48F-3EB6C3651F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F94757-D047-CD0D-ADAB-3729E501C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DA2DB3-2E37-8A31-8092-E6FC0A66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D99AEC-59E7-F01F-4C63-15AD4D47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351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ORTADA">
    <p:bg>
      <p:bgPr>
        <a:solidFill>
          <a:srgbClr val="1F4E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75360" y="1950720"/>
            <a:ext cx="10241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333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333" dirty="0"/>
          </a:p>
        </p:txBody>
      </p:sp>
    </p:spTree>
    <p:extLst>
      <p:ext uri="{BB962C8B-B14F-4D97-AF65-F5344CB8AC3E}">
        <p14:creationId xmlns:p14="http://schemas.microsoft.com/office/powerpoint/2010/main" val="3325857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365760"/>
            <a:ext cx="10728960" cy="85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533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453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43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EE551A-754E-8EBF-6A69-2FD067464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36F641-D44E-36C0-614B-4DC3307FD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97DDFE-FE1E-B9A8-24C0-00D699C048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352A7-4D7D-4A5E-A016-C2965DC63AEC}" type="datetimeFigureOut">
              <a:rPr lang="es-CO" smtClean="0"/>
              <a:t>16/10/2026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D09D7C-0847-1FAA-8DEF-F91B45E137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2C2033-36CA-E140-26E8-1F54C7116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C55409-EAD8-4FD9-9741-7849243000B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92921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pPr algn="ctr"/>
            <a:r>
              <a:rPr lang="es-419" b="1" dirty="0">
                <a:solidFill>
                  <a:srgbClr val="FFFFFF"/>
                </a:solidFill>
                <a:latin typeface="Calibri"/>
              </a:rPr>
              <a:t>Arquitectura Orientada a Servicios (SOA)</a:t>
            </a:r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DFDCA49-15E5-9528-7942-58D1A631B8E2}"/>
              </a:ext>
            </a:extLst>
          </p:cNvPr>
          <p:cNvSpPr txBox="1"/>
          <p:nvPr/>
        </p:nvSpPr>
        <p:spPr>
          <a:xfrm>
            <a:off x="777813" y="4181031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400"/>
              </a:spcBef>
              <a:spcAft>
                <a:spcPts val="1600"/>
              </a:spcAft>
            </a:pPr>
            <a:r>
              <a:rPr lang="es-419" sz="1600" b="1" dirty="0">
                <a:solidFill>
                  <a:srgbClr val="FFFFFF"/>
                </a:solidFill>
                <a:latin typeface="Calibri"/>
              </a:rPr>
              <a:t> </a:t>
            </a:r>
            <a:r>
              <a:rPr lang="es-419" sz="2000" b="1" dirty="0">
                <a:solidFill>
                  <a:srgbClr val="FFFFFF"/>
                </a:solidFill>
                <a:latin typeface="Calibri"/>
              </a:rPr>
              <a:t>Integrantes del Equipo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David Villanueva Potosí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Brandon Duván Guevara Rodríguez</a:t>
            </a:r>
          </a:p>
          <a:p>
            <a:pPr marL="457189" indent="-457189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419" sz="2000" dirty="0">
                <a:solidFill>
                  <a:srgbClr val="BEC5E6"/>
                </a:solidFill>
                <a:latin typeface="Calibri"/>
              </a:rPr>
              <a:t>Erick Santiago Vasquez Reyes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1. SOA: Definición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2</a:t>
            </a:fld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84960"/>
            <a:ext cx="5242560" cy="451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2000" dirty="0" err="1">
                <a:solidFill>
                  <a:srgbClr val="BEC5E6"/>
                </a:solidFill>
                <a:latin typeface="Calibri"/>
              </a:rPr>
              <a:t>estilo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 de arquitectura que divide el software en servicios independientes. Cada uno hace una función de negocio y publica un contrato.</a:t>
            </a:r>
          </a:p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un centro comercial; cada local hace una cosa y, si uno cierra, los demás siguen abiertos.</a:t>
            </a:r>
          </a:p>
          <a:p>
            <a:pPr>
              <a:spcAft>
                <a:spcPts val="1333"/>
              </a:spcAft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2000" dirty="0" err="1">
                <a:solidFill>
                  <a:srgbClr val="BEC5E6"/>
                </a:solidFill>
                <a:latin typeface="Calibri"/>
              </a:rPr>
              <a:t>integrar</a:t>
            </a:r>
            <a:r>
              <a:rPr lang="en-US" sz="2000" dirty="0">
                <a:solidFill>
                  <a:srgbClr val="BEC5E6"/>
                </a:solidFill>
                <a:latin typeface="Calibri"/>
              </a:rPr>
              <a:t> sistemas viejos y nuevos, reutilizar lógica y cambiar una parte sin romper todo.</a:t>
            </a:r>
          </a:p>
        </p:txBody>
      </p:sp>
      <p:sp>
        <p:nvSpPr>
          <p:cNvPr id="4" name="Separador"/>
          <p:cNvSpPr/>
          <p:nvPr/>
        </p:nvSpPr>
        <p:spPr>
          <a:xfrm>
            <a:off x="627888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5" name="Text 3"/>
          <p:cNvSpPr txBox="1"/>
          <p:nvPr/>
        </p:nvSpPr>
        <p:spPr>
          <a:xfrm>
            <a:off x="6583680" y="1402080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Principios</a:t>
            </a:r>
            <a:endParaRPr lang="en-US" sz="2667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072640"/>
            <a:ext cx="4876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Contrato estándar: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describe qué ofrece.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Bajo acoplamiento: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depende del contrato, no del código.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Reutilización: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varias apps usan el mismo servicio.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Autonomía: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cada servicio controla su lógica y datos.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Abstracción: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consumidor no ve el interior.</a:t>
            </a:r>
          </a:p>
          <a:p>
            <a:pPr>
              <a:spcAft>
                <a:spcPts val="800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Composición: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servicios simples forman procesos.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2. SOA: Características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3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670561" y="2425309"/>
            <a:ext cx="5242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Cómo se organiza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70561" y="3048000"/>
            <a:ext cx="524256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Proveedor: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implementa y publica el servicio.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Consumidor: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 busca y lo usa (app web o móvil).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Registro: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catálogo donde se publican los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contratos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.</a:t>
            </a:r>
          </a:p>
        </p:txBody>
      </p:sp>
      <p:sp>
        <p:nvSpPr>
          <p:cNvPr id="5" name="Separador"/>
          <p:cNvSpPr/>
          <p:nvPr/>
        </p:nvSpPr>
        <p:spPr>
          <a:xfrm>
            <a:off x="627888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6583680" y="2316480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Cómo funciona</a:t>
            </a:r>
            <a:endParaRPr lang="en-US" sz="2667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2844800"/>
            <a:ext cx="4876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publica su contrato.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consumidor busca el servicio.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Envía un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mensaje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por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 HTTP.</a:t>
            </a:r>
          </a:p>
          <a:p>
            <a:pPr marL="457189" indent="-457189">
              <a:spcAft>
                <a:spcPts val="1067"/>
              </a:spcAft>
              <a:buSzPct val="100000"/>
              <a:buFont typeface="+mj-lt"/>
              <a:buAutoNum type="arabicPeriod"/>
            </a:pP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responde; su código interno no se 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3. SOA: Diagrama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4</a:t>
            </a:fld>
            <a:endParaRPr lang="en-US"/>
          </a:p>
        </p:txBody>
      </p:sp>
      <p:sp>
        <p:nvSpPr>
          <p:cNvPr id="3" name="Registro de servicios"/>
          <p:cNvSpPr/>
          <p:nvPr/>
        </p:nvSpPr>
        <p:spPr>
          <a:xfrm>
            <a:off x="2316480" y="1828800"/>
            <a:ext cx="341376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4" name="Text 2"/>
          <p:cNvSpPr txBox="1"/>
          <p:nvPr/>
        </p:nvSpPr>
        <p:spPr>
          <a:xfrm>
            <a:off x="2316480" y="1828800"/>
            <a:ext cx="3413760" cy="85344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Registro de servicios</a:t>
            </a:r>
            <a:endParaRPr lang="en-US" sz="1600" dirty="0"/>
          </a:p>
        </p:txBody>
      </p:sp>
      <p:sp>
        <p:nvSpPr>
          <p:cNvPr id="5" name="Consumidor"/>
          <p:cNvSpPr/>
          <p:nvPr/>
        </p:nvSpPr>
        <p:spPr>
          <a:xfrm>
            <a:off x="731520" y="4145280"/>
            <a:ext cx="2438400" cy="97536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4145280"/>
            <a:ext cx="2438400" cy="97536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Consumidor</a:t>
            </a:r>
            <a:endParaRPr lang="en-US" sz="1600" dirty="0"/>
          </a:p>
        </p:txBody>
      </p:sp>
      <p:sp>
        <p:nvSpPr>
          <p:cNvPr id="7" name="Proveedor"/>
          <p:cNvSpPr/>
          <p:nvPr/>
        </p:nvSpPr>
        <p:spPr>
          <a:xfrm>
            <a:off x="4876800" y="4145280"/>
            <a:ext cx="2438400" cy="97536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8" name="Text 6"/>
          <p:cNvSpPr txBox="1"/>
          <p:nvPr/>
        </p:nvSpPr>
        <p:spPr>
          <a:xfrm>
            <a:off x="4876800" y="4145280"/>
            <a:ext cx="2438400" cy="97536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Proveedor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flipV="1">
            <a:off x="1950720" y="2682240"/>
            <a:ext cx="853440" cy="146304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0" name="Shape 8"/>
          <p:cNvSpPr/>
          <p:nvPr/>
        </p:nvSpPr>
        <p:spPr>
          <a:xfrm>
            <a:off x="5242560" y="2682240"/>
            <a:ext cx="853440" cy="146304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1" name="Shape 9"/>
          <p:cNvSpPr/>
          <p:nvPr/>
        </p:nvSpPr>
        <p:spPr>
          <a:xfrm>
            <a:off x="3169920" y="4413504"/>
            <a:ext cx="170688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2" name="Shape 10"/>
          <p:cNvSpPr/>
          <p:nvPr/>
        </p:nvSpPr>
        <p:spPr>
          <a:xfrm>
            <a:off x="3169920" y="4876800"/>
            <a:ext cx="170688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3" name="Text 11"/>
          <p:cNvSpPr txBox="1"/>
          <p:nvPr/>
        </p:nvSpPr>
        <p:spPr>
          <a:xfrm>
            <a:off x="731520" y="3230880"/>
            <a:ext cx="1402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/>
            <a:r>
              <a:rPr lang="en-US" sz="1600" dirty="0">
                <a:solidFill>
                  <a:srgbClr val="F4B942"/>
                </a:solidFill>
                <a:latin typeface="Calibri"/>
              </a:rPr>
              <a:t>2 busca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035040" y="3230880"/>
            <a:ext cx="19507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F4B942"/>
                </a:solidFill>
                <a:latin typeface="Calibri"/>
              </a:rPr>
              <a:t>1 publica contrato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3169920" y="4023360"/>
            <a:ext cx="1706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dirty="0">
                <a:solidFill>
                  <a:srgbClr val="F4B942"/>
                </a:solidFill>
                <a:latin typeface="Calibri"/>
              </a:rPr>
              <a:t>3 invoca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3169920" y="4974336"/>
            <a:ext cx="1706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600" dirty="0">
                <a:solidFill>
                  <a:srgbClr val="F4B942"/>
                </a:solidFill>
                <a:latin typeface="Calibri"/>
              </a:rPr>
              <a:t>4 responde</a:t>
            </a:r>
          </a:p>
        </p:txBody>
      </p:sp>
      <p:sp>
        <p:nvSpPr>
          <p:cNvPr id="17" name="Separador"/>
          <p:cNvSpPr/>
          <p:nvPr/>
        </p:nvSpPr>
        <p:spPr>
          <a:xfrm>
            <a:off x="81686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8" name="Text 16"/>
          <p:cNvSpPr txBox="1"/>
          <p:nvPr/>
        </p:nvSpPr>
        <p:spPr>
          <a:xfrm>
            <a:off x="8473440" y="1828800"/>
            <a:ext cx="30480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1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publica su contrato en el registro.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2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consumidor busca el servicio.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3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Lo invoca con un mensaje.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4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El proveedor responde.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FC9324-6BCE-493A-12D3-5F293AC6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SOA: Ventajas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A1A7B28-27E2-7096-1FBC-6250A82044B0}"/>
              </a:ext>
            </a:extLst>
          </p:cNvPr>
          <p:cNvSpPr/>
          <p:nvPr/>
        </p:nvSpPr>
        <p:spPr>
          <a:xfrm>
            <a:off x="635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9EA1E8B-6A49-E4C7-6CC9-52C34567DCC5}"/>
              </a:ext>
            </a:extLst>
          </p:cNvPr>
          <p:cNvSpPr/>
          <p:nvPr/>
        </p:nvSpPr>
        <p:spPr>
          <a:xfrm>
            <a:off x="889000" y="17780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BE01947-2410-16CC-ECE4-1034DB36CD79}"/>
              </a:ext>
            </a:extLst>
          </p:cNvPr>
          <p:cNvSpPr txBox="1"/>
          <p:nvPr/>
        </p:nvSpPr>
        <p:spPr>
          <a:xfrm>
            <a:off x="1676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Reutilización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E5C1B1-5949-AED3-C6C2-EE08962DC082}"/>
              </a:ext>
            </a:extLst>
          </p:cNvPr>
          <p:cNvSpPr txBox="1"/>
          <p:nvPr/>
        </p:nvSpPr>
        <p:spPr>
          <a:xfrm>
            <a:off x="1676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Un mismo servicio lo usan varias aplicaciones, sin volver a escribir el código.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F06F80-2031-7981-419C-E5BEE8DDDD7D}"/>
              </a:ext>
            </a:extLst>
          </p:cNvPr>
          <p:cNvSpPr/>
          <p:nvPr/>
        </p:nvSpPr>
        <p:spPr>
          <a:xfrm>
            <a:off x="6223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B896B1-5D9A-81B9-31D2-BD22E740F8A9}"/>
              </a:ext>
            </a:extLst>
          </p:cNvPr>
          <p:cNvSpPr/>
          <p:nvPr/>
        </p:nvSpPr>
        <p:spPr>
          <a:xfrm>
            <a:off x="6477000" y="17780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55297F9-9C29-435C-410D-ABEFC6403CB7}"/>
              </a:ext>
            </a:extLst>
          </p:cNvPr>
          <p:cNvSpPr txBox="1"/>
          <p:nvPr/>
        </p:nvSpPr>
        <p:spPr>
          <a:xfrm>
            <a:off x="7264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Bajo acoplamiento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8A3ADE4-C4FA-B0ED-CFD7-6142EB5B435C}"/>
              </a:ext>
            </a:extLst>
          </p:cNvPr>
          <p:cNvSpPr txBox="1"/>
          <p:nvPr/>
        </p:nvSpPr>
        <p:spPr>
          <a:xfrm>
            <a:off x="7264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Los servicios dependen del contrato, no del código de los demás.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156885B-435B-954B-5C0B-800A73A27E51}"/>
              </a:ext>
            </a:extLst>
          </p:cNvPr>
          <p:cNvSpPr/>
          <p:nvPr/>
        </p:nvSpPr>
        <p:spPr>
          <a:xfrm>
            <a:off x="635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F1672ED-A365-2CDD-2BC2-1E1A14A235D7}"/>
              </a:ext>
            </a:extLst>
          </p:cNvPr>
          <p:cNvSpPr/>
          <p:nvPr/>
        </p:nvSpPr>
        <p:spPr>
          <a:xfrm>
            <a:off x="889000" y="37465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942B85-3806-6E7E-563D-5A2CD5190C24}"/>
              </a:ext>
            </a:extLst>
          </p:cNvPr>
          <p:cNvSpPr txBox="1"/>
          <p:nvPr/>
        </p:nvSpPr>
        <p:spPr>
          <a:xfrm>
            <a:off x="1676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Escalabilidad y flexibilidad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661E214-57C6-6793-3A51-E3769CBC0974}"/>
              </a:ext>
            </a:extLst>
          </p:cNvPr>
          <p:cNvSpPr txBox="1"/>
          <p:nvPr/>
        </p:nvSpPr>
        <p:spPr>
          <a:xfrm>
            <a:off x="1676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Cada servicio crece por separado y se puede cambiar sin tocar el resto.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BC47647E-07AB-D185-4A16-81A9D019AB1A}"/>
              </a:ext>
            </a:extLst>
          </p:cNvPr>
          <p:cNvSpPr/>
          <p:nvPr/>
        </p:nvSpPr>
        <p:spPr>
          <a:xfrm>
            <a:off x="6223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11902E1-8E1D-E6A5-DB20-22E858D2FD55}"/>
              </a:ext>
            </a:extLst>
          </p:cNvPr>
          <p:cNvSpPr/>
          <p:nvPr/>
        </p:nvSpPr>
        <p:spPr>
          <a:xfrm>
            <a:off x="6477000" y="3746500"/>
            <a:ext cx="584200" cy="584200"/>
          </a:xfrm>
          <a:prstGeom prst="ellipse">
            <a:avLst/>
          </a:prstGeom>
          <a:solidFill>
            <a:srgbClr val="2EC4A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✔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8081BF-5AC4-1715-0AF2-68FF9BC7596A}"/>
              </a:ext>
            </a:extLst>
          </p:cNvPr>
          <p:cNvSpPr txBox="1"/>
          <p:nvPr/>
        </p:nvSpPr>
        <p:spPr>
          <a:xfrm>
            <a:off x="7264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Integración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98D59C2-0A95-7CF0-042E-E1FCDC50F697}"/>
              </a:ext>
            </a:extLst>
          </p:cNvPr>
          <p:cNvSpPr txBox="1"/>
          <p:nvPr/>
        </p:nvSpPr>
        <p:spPr>
          <a:xfrm>
            <a:off x="7264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Conecta sistemas viejos y nuevos, incluso hechos en lenguajes distintos.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EDDBE48-E002-0A02-70EF-AEF10BEC1A4C}"/>
              </a:ext>
            </a:extLst>
          </p:cNvPr>
          <p:cNvSpPr/>
          <p:nvPr/>
        </p:nvSpPr>
        <p:spPr>
          <a:xfrm>
            <a:off x="635000" y="5524500"/>
            <a:ext cx="10922000" cy="7366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rgbClr val="F4B942"/>
                </a:solidFill>
                <a:latin typeface="Calibri" panose="020F0502020204030204" pitchFamily="34" charset="0"/>
              </a:rPr>
              <a:t>Si un servicio cambia o falla, el resto del sistema sigue funcionando.</a:t>
            </a:r>
            <a:endParaRPr lang="es-CO" dirty="0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Slide Number Placeholder 0">
            <a:extLst>
              <a:ext uri="{FF2B5EF4-FFF2-40B4-BE49-F238E27FC236}">
                <a16:creationId xmlns:a16="http://schemas.microsoft.com/office/drawing/2014/main" id="{CF19A215-D7AB-F9EE-A636-D754D1A63FF1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FC9324-6BCE-493A-12D3-5F293AC6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SOA: Desventajas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A1A7B28-27E2-7096-1FBC-6250A82044B0}"/>
              </a:ext>
            </a:extLst>
          </p:cNvPr>
          <p:cNvSpPr/>
          <p:nvPr/>
        </p:nvSpPr>
        <p:spPr>
          <a:xfrm>
            <a:off x="635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9EA1E8B-6A49-E4C7-6CC9-52C34567DCC5}"/>
              </a:ext>
            </a:extLst>
          </p:cNvPr>
          <p:cNvSpPr/>
          <p:nvPr/>
        </p:nvSpPr>
        <p:spPr>
          <a:xfrm>
            <a:off x="889000" y="17780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BE01947-2410-16CC-ECE4-1034DB36CD79}"/>
              </a:ext>
            </a:extLst>
          </p:cNvPr>
          <p:cNvSpPr txBox="1"/>
          <p:nvPr/>
        </p:nvSpPr>
        <p:spPr>
          <a:xfrm>
            <a:off x="1676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Mayor complejidad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E5C1B1-5949-AED3-C6C2-EE08962DC082}"/>
              </a:ext>
            </a:extLst>
          </p:cNvPr>
          <p:cNvSpPr txBox="1"/>
          <p:nvPr/>
        </p:nvSpPr>
        <p:spPr>
          <a:xfrm>
            <a:off x="1676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Hay que diseñar, desplegar y mantener muchos servicios en lugar de una sola aplicación.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F06F80-2031-7981-419C-E5BEE8DDDD7D}"/>
              </a:ext>
            </a:extLst>
          </p:cNvPr>
          <p:cNvSpPr/>
          <p:nvPr/>
        </p:nvSpPr>
        <p:spPr>
          <a:xfrm>
            <a:off x="6223000" y="15240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B896B1-5D9A-81B9-31D2-BD22E740F8A9}"/>
              </a:ext>
            </a:extLst>
          </p:cNvPr>
          <p:cNvSpPr/>
          <p:nvPr/>
        </p:nvSpPr>
        <p:spPr>
          <a:xfrm>
            <a:off x="6477000" y="17780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55297F9-9C29-435C-410D-ABEFC6403CB7}"/>
              </a:ext>
            </a:extLst>
          </p:cNvPr>
          <p:cNvSpPr txBox="1"/>
          <p:nvPr/>
        </p:nvSpPr>
        <p:spPr>
          <a:xfrm>
            <a:off x="7264400" y="17272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Latencia de red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8A3ADE4-C4FA-B0ED-CFD7-6142EB5B435C}"/>
              </a:ext>
            </a:extLst>
          </p:cNvPr>
          <p:cNvSpPr txBox="1"/>
          <p:nvPr/>
        </p:nvSpPr>
        <p:spPr>
          <a:xfrm>
            <a:off x="7264400" y="21590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Cada llamada entre servicios viaja por la red, y eso es más lento que una llamada interna.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156885B-435B-954B-5C0B-800A73A27E51}"/>
              </a:ext>
            </a:extLst>
          </p:cNvPr>
          <p:cNvSpPr/>
          <p:nvPr/>
        </p:nvSpPr>
        <p:spPr>
          <a:xfrm>
            <a:off x="635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BF1672ED-A365-2CDD-2BC2-1E1A14A235D7}"/>
              </a:ext>
            </a:extLst>
          </p:cNvPr>
          <p:cNvSpPr/>
          <p:nvPr/>
        </p:nvSpPr>
        <p:spPr>
          <a:xfrm>
            <a:off x="889000" y="37465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942B85-3806-6E7E-563D-5A2CD5190C24}"/>
              </a:ext>
            </a:extLst>
          </p:cNvPr>
          <p:cNvSpPr txBox="1"/>
          <p:nvPr/>
        </p:nvSpPr>
        <p:spPr>
          <a:xfrm>
            <a:off x="1676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Gobierno de contratos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661E214-57C6-6793-3A51-E3769CBC0974}"/>
              </a:ext>
            </a:extLst>
          </p:cNvPr>
          <p:cNvSpPr txBox="1"/>
          <p:nvPr/>
        </p:nvSpPr>
        <p:spPr>
          <a:xfrm>
            <a:off x="1676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Los cambios en una API se deben versionar para no romper a quienes la consumen.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BC47647E-07AB-D185-4A16-81A9D019AB1A}"/>
              </a:ext>
            </a:extLst>
          </p:cNvPr>
          <p:cNvSpPr/>
          <p:nvPr/>
        </p:nvSpPr>
        <p:spPr>
          <a:xfrm>
            <a:off x="6223000" y="3492500"/>
            <a:ext cx="5334000" cy="17780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11902E1-8E1D-E6A5-DB20-22E858D2FD55}"/>
              </a:ext>
            </a:extLst>
          </p:cNvPr>
          <p:cNvSpPr/>
          <p:nvPr/>
        </p:nvSpPr>
        <p:spPr>
          <a:xfrm>
            <a:off x="6477000" y="3746500"/>
            <a:ext cx="584200" cy="584200"/>
          </a:xfrm>
          <a:prstGeom prst="ellipse">
            <a:avLst/>
          </a:prstGeom>
          <a:solidFill>
            <a:srgbClr val="E85A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2300" b="1">
                <a:solidFill>
                  <a:srgbClr val="FFFFFF"/>
                </a:solidFill>
                <a:latin typeface="Segoe UI Symbol" panose="020B0502040204020203" pitchFamily="34" charset="0"/>
              </a:rPr>
              <a:t>✖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8081BF-5AC4-1715-0AF2-68FF9BC7596A}"/>
              </a:ext>
            </a:extLst>
          </p:cNvPr>
          <p:cNvSpPr txBox="1"/>
          <p:nvPr/>
        </p:nvSpPr>
        <p:spPr>
          <a:xfrm>
            <a:off x="7264400" y="3695700"/>
            <a:ext cx="4064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100" b="1">
                <a:solidFill>
                  <a:srgbClr val="FFFFFF"/>
                </a:solidFill>
                <a:latin typeface="Calibri" panose="020F0502020204030204" pitchFamily="34" charset="0"/>
              </a:rPr>
              <a:t>Seguridad y monitoreo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98D59C2-0A95-7CF0-042E-E1FCDC50F697}"/>
              </a:ext>
            </a:extLst>
          </p:cNvPr>
          <p:cNvSpPr txBox="1"/>
          <p:nvPr/>
        </p:nvSpPr>
        <p:spPr>
          <a:xfrm>
            <a:off x="7264400" y="4127500"/>
            <a:ext cx="4064000" cy="1041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BEC5E6"/>
                </a:solidFill>
                <a:latin typeface="Calibri" panose="020F0502020204030204" pitchFamily="34" charset="0"/>
              </a:rPr>
              <a:t>Hay más puntos de entrada que proteger y es más difícil seguir una petición de principio a fin.</a:t>
            </a:r>
            <a:endParaRPr lang="es-CO" sz="1500">
              <a:solidFill>
                <a:srgbClr val="BEC5E6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EDDBE48-E002-0A02-70EF-AEF10BEC1A4C}"/>
              </a:ext>
            </a:extLst>
          </p:cNvPr>
          <p:cNvSpPr/>
          <p:nvPr/>
        </p:nvSpPr>
        <p:spPr>
          <a:xfrm>
            <a:off x="635000" y="5524500"/>
            <a:ext cx="10922000" cy="7366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rgbClr val="F4B942"/>
                </a:solidFill>
                <a:latin typeface="Calibri" panose="020F0502020204030204" pitchFamily="34" charset="0"/>
              </a:rPr>
              <a:t>En proyectos pequeños, SOA puede ser exagerado.</a:t>
            </a:r>
            <a:endParaRPr lang="es-CO" dirty="0">
              <a:solidFill>
                <a:srgbClr val="F4B942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Slide Number Placeholder 0">
            <a:extLst>
              <a:ext uri="{FF2B5EF4-FFF2-40B4-BE49-F238E27FC236}">
                <a16:creationId xmlns:a16="http://schemas.microsoft.com/office/drawing/2014/main" id="{D8A0553B-6B6B-3BCB-E235-396D8A62E129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856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0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E80C4B23-6F1F-4034-F041-884DDE151CA4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5767BBE-4BC1-A828-1C2D-063335E1D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5. Tecnologías relacionadas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614D4279-19EA-87D0-2A3B-5D62843C2BC6}"/>
              </a:ext>
            </a:extLst>
          </p:cNvPr>
          <p:cNvSpPr/>
          <p:nvPr/>
        </p:nvSpPr>
        <p:spPr>
          <a:xfrm>
            <a:off x="6350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C1138B7-D7B7-F048-6118-43614A444D87}"/>
              </a:ext>
            </a:extLst>
          </p:cNvPr>
          <p:cNvSpPr/>
          <p:nvPr/>
        </p:nvSpPr>
        <p:spPr>
          <a:xfrm>
            <a:off x="939800" y="1803400"/>
            <a:ext cx="889000" cy="889000"/>
          </a:xfrm>
          <a:prstGeom prst="ellipse">
            <a:avLst/>
          </a:prstGeom>
          <a:solidFill>
            <a:srgbClr val="6473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Segoe UI Symbol" panose="020B0502040204020203" pitchFamily="34" charset="0"/>
              </a:rPr>
              <a:t>⚛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E681C8-BD47-F8C4-00F5-EECF5F928B9E}"/>
              </a:ext>
            </a:extLst>
          </p:cNvPr>
          <p:cNvSpPr txBox="1"/>
          <p:nvPr/>
        </p:nvSpPr>
        <p:spPr>
          <a:xfrm>
            <a:off x="20320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React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0388281-913B-1AFA-95E2-4122613D3C0C}"/>
              </a:ext>
            </a:extLst>
          </p:cNvPr>
          <p:cNvSpPr txBox="1"/>
          <p:nvPr/>
        </p:nvSpPr>
        <p:spPr>
          <a:xfrm>
            <a:off x="20320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Interfaz (cliente)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3300DFC-18A3-348F-81AD-4DBDA6F0BB65}"/>
              </a:ext>
            </a:extLst>
          </p:cNvPr>
          <p:cNvSpPr txBox="1"/>
          <p:nvPr/>
        </p:nvSpPr>
        <p:spPr>
          <a:xfrm>
            <a:off x="9398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Observer: el estado y los hooks (useState, useEffect) vuelven a dibujar los componentes que dependen de él.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Mediator: Context o Redux centralizan la comunicación entre componentes.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AA080EF-82F4-A956-9F63-D72C37E0BD53}"/>
              </a:ext>
            </a:extLst>
          </p:cNvPr>
          <p:cNvSpPr/>
          <p:nvPr/>
        </p:nvSpPr>
        <p:spPr>
          <a:xfrm>
            <a:off x="43815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89F4CFA-1246-4957-C40A-7BCCA1D683DE}"/>
              </a:ext>
            </a:extLst>
          </p:cNvPr>
          <p:cNvSpPr/>
          <p:nvPr/>
        </p:nvSpPr>
        <p:spPr>
          <a:xfrm>
            <a:off x="4686300" y="1803400"/>
            <a:ext cx="889000" cy="8890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Calibri" panose="020F0502020204030204" pitchFamily="34" charset="0"/>
              </a:rPr>
              <a:t>DB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D21E515-0583-B822-0421-DAC125CA2CD6}"/>
              </a:ext>
            </a:extLst>
          </p:cNvPr>
          <p:cNvSpPr txBox="1"/>
          <p:nvPr/>
        </p:nvSpPr>
        <p:spPr>
          <a:xfrm>
            <a:off x="57785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MySQL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65EBF4C-8852-45A7-82D2-CCD92E5D1B22}"/>
              </a:ext>
            </a:extLst>
          </p:cNvPr>
          <p:cNvSpPr txBox="1"/>
          <p:nvPr/>
        </p:nvSpPr>
        <p:spPr>
          <a:xfrm>
            <a:off x="57785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Datos (persistencia)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F96EF8F-91BC-E130-C244-4A95F1C85BCC}"/>
              </a:ext>
            </a:extLst>
          </p:cNvPr>
          <p:cNvSpPr txBox="1"/>
          <p:nvPr/>
        </p:nvSpPr>
        <p:spPr>
          <a:xfrm>
            <a:off x="46863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En SOA, un servicio es dueño de sus datos y los expone por una API.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La interfaz nunca consulta la base directamente: siempre pasa por el servicio.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043A1F00-8C45-EE55-3E31-8F9CB0BE8B1E}"/>
              </a:ext>
            </a:extLst>
          </p:cNvPr>
          <p:cNvSpPr/>
          <p:nvPr/>
        </p:nvSpPr>
        <p:spPr>
          <a:xfrm>
            <a:off x="8128000" y="1524000"/>
            <a:ext cx="3429000" cy="4508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177E368A-5615-D831-6BCB-CF251B0C7B07}"/>
              </a:ext>
            </a:extLst>
          </p:cNvPr>
          <p:cNvSpPr/>
          <p:nvPr/>
        </p:nvSpPr>
        <p:spPr>
          <a:xfrm>
            <a:off x="8432800" y="1803400"/>
            <a:ext cx="889000" cy="8890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CO" sz="3500" b="1">
                <a:solidFill>
                  <a:srgbClr val="0F122D"/>
                </a:solidFill>
                <a:latin typeface="Segoe UI Symbol" panose="020B0502040204020203" pitchFamily="34" charset="0"/>
              </a:rPr>
              <a:t>☁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57BC6AF-ED6D-1A8A-51C4-34A16BAB10CE}"/>
              </a:ext>
            </a:extLst>
          </p:cNvPr>
          <p:cNvSpPr txBox="1"/>
          <p:nvPr/>
        </p:nvSpPr>
        <p:spPr>
          <a:xfrm>
            <a:off x="9525000" y="1854200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600" b="1">
                <a:solidFill>
                  <a:srgbClr val="FFFFFF"/>
                </a:solidFill>
                <a:latin typeface="Calibri" panose="020F0502020204030204" pitchFamily="34" charset="0"/>
              </a:rPr>
              <a:t>Nube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627263-B3B5-0FD4-34C7-0EA78737736A}"/>
              </a:ext>
            </a:extLst>
          </p:cNvPr>
          <p:cNvSpPr txBox="1"/>
          <p:nvPr/>
        </p:nvSpPr>
        <p:spPr>
          <a:xfrm>
            <a:off x="9525000" y="2311400"/>
            <a:ext cx="1905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1500">
                <a:solidFill>
                  <a:srgbClr val="BEC5E6"/>
                </a:solidFill>
                <a:latin typeface="Calibri" panose="020F0502020204030204" pitchFamily="34" charset="0"/>
              </a:rPr>
              <a:t>Despliegue y servicios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846604D-FD0F-0843-DF1E-BB91C66AC276}"/>
              </a:ext>
            </a:extLst>
          </p:cNvPr>
          <p:cNvSpPr txBox="1"/>
          <p:nvPr/>
        </p:nvSpPr>
        <p:spPr>
          <a:xfrm>
            <a:off x="8432800" y="3048000"/>
            <a:ext cx="2819400" cy="285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Los servicios se publican como APIs en AWS, Azure o Google Cloud y escalan por separado.</a:t>
            </a:r>
          </a:p>
          <a:p>
            <a:pPr>
              <a:spcAft>
                <a:spcPts val="800"/>
              </a:spcAft>
            </a:pPr>
            <a:r>
              <a:rPr lang="es-ES" sz="1500">
                <a:solidFill>
                  <a:srgbClr val="FFFFFF"/>
                </a:solidFill>
                <a:latin typeface="Calibri" panose="020F0502020204030204" pitchFamily="34" charset="0"/>
              </a:rPr>
              <a:t>Las colas y el pub/sub aplican la idea de Observer a gran escala.</a:t>
            </a:r>
            <a:endParaRPr lang="es-CO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Slide Number Placeholder 0">
            <a:extLst>
              <a:ext uri="{FF2B5EF4-FFF2-40B4-BE49-F238E27FC236}">
                <a16:creationId xmlns:a16="http://schemas.microsoft.com/office/drawing/2014/main" id="{7566D090-DF0B-5930-31CA-DFF70AA7B212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460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8" grpId="0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  <p:bldP spid="17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SOA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8" y="1206500"/>
            <a:ext cx="11038183" cy="419100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45EDA06-79F8-310E-8954-BFAD8F5E29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94" t="14697" r="6094" b="16050"/>
          <a:stretch/>
        </p:blipFill>
        <p:spPr>
          <a:xfrm>
            <a:off x="635001" y="1460500"/>
            <a:ext cx="10706100" cy="3429000"/>
          </a:xfrm>
          <a:prstGeom prst="rect">
            <a:avLst/>
          </a:prstGeom>
        </p:spPr>
      </p:pic>
      <p:sp>
        <p:nvSpPr>
          <p:cNvPr id="4" name="Slide Number Placeholder 0">
            <a:extLst>
              <a:ext uri="{FF2B5EF4-FFF2-40B4-BE49-F238E27FC236}">
                <a16:creationId xmlns:a16="http://schemas.microsoft.com/office/drawing/2014/main" id="{A8AB2E6D-704E-6B64-D423-26F23DF79B06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15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0DC3A5-6E25-0CE9-42A0-C50E0565D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62A2209-5066-A9B5-3E35-5ED7D290F26D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Calibri"/>
              </a:rPr>
              <a:t>Patrones Observer y Mediator</a:t>
            </a:r>
          </a:p>
        </p:txBody>
      </p:sp>
    </p:spTree>
    <p:extLst>
      <p:ext uri="{BB962C8B-B14F-4D97-AF65-F5344CB8AC3E}">
        <p14:creationId xmlns:p14="http://schemas.microsoft.com/office/powerpoint/2010/main" val="151879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Definición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10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relación uno a muchos; si el Subject cambia, avisa a todos sus Observers.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un canal de YouTube y sus suscriptores.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reaccionar a cambios sin que el emisor conozca a quién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avisa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6176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Qué es: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un intermediario que centraliza la comunicación entre componentes.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Metáfora: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la torre de control de un aeropuerto.</a:t>
            </a:r>
          </a:p>
          <a:p>
            <a:pPr>
              <a:spcAft>
                <a:spcPts val="1067"/>
              </a:spcAft>
            </a:pPr>
            <a:r>
              <a:rPr lang="en-US" sz="1867" b="1" dirty="0">
                <a:solidFill>
                  <a:srgbClr val="FFFFFF"/>
                </a:solidFill>
                <a:latin typeface="Calibri"/>
              </a:rPr>
              <a:t>Sirve para: 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evitar una maraña de dependencias y coordinar en un solo </a:t>
            </a:r>
            <a:r>
              <a:rPr lang="en-US" sz="1867" dirty="0" err="1">
                <a:solidFill>
                  <a:srgbClr val="BEC5E6"/>
                </a:solidFill>
                <a:latin typeface="Calibri"/>
              </a:rPr>
              <a:t>lugar</a:t>
            </a:r>
            <a:r>
              <a:rPr lang="en-US" sz="1867" dirty="0">
                <a:solidFill>
                  <a:srgbClr val="BEC5E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2.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Características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11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Componentes: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Subject, Observer, subscribe(), unsubscribe(), notify() y update().</a:t>
            </a:r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Por dentro: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el Subject guarda una lista de observadores y la recorre al notificar: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se registran con subscribe()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cambia el estado y llama notify()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cada uno recibe update()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6461760" y="2011680"/>
            <a:ext cx="4998720" cy="414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Componentes: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interfaz Mediator, mediador concreto y Colleagues.</a:t>
            </a:r>
          </a:p>
          <a:p>
            <a:pPr>
              <a:spcAft>
                <a:spcPts val="667"/>
              </a:spcAft>
            </a:pPr>
            <a:r>
              <a:rPr lang="en-US" sz="1733" b="1" dirty="0">
                <a:solidFill>
                  <a:srgbClr val="FFFFFF"/>
                </a:solidFill>
                <a:latin typeface="Calibri"/>
              </a:rPr>
              <a:t>Por dentro: 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los Colleagues solo conocen al mediador: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un Colleague le avisa lo que necesita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el </a:t>
            </a:r>
            <a:r>
              <a:rPr lang="en-US" sz="1733" dirty="0" err="1">
                <a:solidFill>
                  <a:srgbClr val="BEC5E6"/>
                </a:solidFill>
                <a:latin typeface="Calibri"/>
              </a:rPr>
              <a:t>mediador</a:t>
            </a:r>
            <a:r>
              <a:rPr lang="en-US" sz="1733" dirty="0">
                <a:solidFill>
                  <a:srgbClr val="BEC5E6"/>
                </a:solidFill>
                <a:latin typeface="Calibri"/>
              </a:rPr>
              <a:t> decide a quién, en qué orden y con qué reglas</a:t>
            </a:r>
          </a:p>
          <a:p>
            <a:pPr marL="457189" indent="-457189">
              <a:spcAft>
                <a:spcPts val="667"/>
              </a:spcAft>
              <a:buSzPct val="100000"/>
              <a:buFont typeface="+mj-lt"/>
              <a:buAutoNum type="arabicPeriod"/>
            </a:pPr>
            <a:r>
              <a:rPr lang="en-US" sz="1733" dirty="0">
                <a:solidFill>
                  <a:srgbClr val="BEC5E6"/>
                </a:solidFill>
                <a:latin typeface="Calibri"/>
              </a:rPr>
              <a:t>los demás responden al </a:t>
            </a:r>
            <a:r>
              <a:rPr lang="en-US" sz="1733" dirty="0" err="1">
                <a:solidFill>
                  <a:srgbClr val="BEC5E6"/>
                </a:solidFill>
                <a:latin typeface="Calibri"/>
              </a:rPr>
              <a:t>mediador</a:t>
            </a:r>
            <a:endParaRPr lang="en-US" sz="1733" dirty="0">
              <a:solidFill>
                <a:srgbClr val="BEC5E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Elipse 2">
            <a:extLst>
              <a:ext uri="{FF2B5EF4-FFF2-40B4-BE49-F238E27FC236}">
                <a16:creationId xmlns:a16="http://schemas.microsoft.com/office/drawing/2014/main" id="{73E27086-79B5-6F79-3728-22245EE1FBD1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30936" y="320040"/>
            <a:ext cx="10158984" cy="8869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  <a:latin typeface="Calibri"/>
              </a:rPr>
              <a:t>3. </a:t>
            </a:r>
            <a:r>
              <a:rPr lang="en-US" sz="3600" b="1" dirty="0" err="1">
                <a:solidFill>
                  <a:srgbClr val="FFFFFF"/>
                </a:solidFill>
                <a:latin typeface="Calibri"/>
              </a:rPr>
              <a:t>Patrones</a:t>
            </a:r>
            <a:r>
              <a:rPr lang="en-US" sz="3600" b="1" dirty="0">
                <a:solidFill>
                  <a:srgbClr val="FFFFFF"/>
                </a:solidFill>
                <a:latin typeface="Calibri"/>
              </a:rPr>
              <a:t>: Diagramas</a:t>
            </a:r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333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rgbClr val="BEC5E6"/>
                </a:solidFill>
              </a:rPr>
              <a:t>12</a:t>
            </a:fld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Observer</a:t>
            </a:r>
            <a:endParaRPr lang="en-US" sz="2667" dirty="0"/>
          </a:p>
        </p:txBody>
      </p:sp>
      <p:sp>
        <p:nvSpPr>
          <p:cNvPr id="4" name="Text 2"/>
          <p:cNvSpPr txBox="1"/>
          <p:nvPr/>
        </p:nvSpPr>
        <p:spPr>
          <a:xfrm>
            <a:off x="6461760" y="1402080"/>
            <a:ext cx="49987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667" b="1" dirty="0">
                <a:solidFill>
                  <a:srgbClr val="F4B942"/>
                </a:solidFill>
                <a:latin typeface="Calibri"/>
              </a:rPr>
              <a:t>Mediator</a:t>
            </a:r>
            <a:endParaRPr lang="en-US" sz="2667" dirty="0"/>
          </a:p>
        </p:txBody>
      </p:sp>
      <p:sp>
        <p:nvSpPr>
          <p:cNvPr id="5" name="Separador"/>
          <p:cNvSpPr/>
          <p:nvPr/>
        </p:nvSpPr>
        <p:spPr>
          <a:xfrm>
            <a:off x="6035040" y="1463040"/>
            <a:ext cx="0" cy="4632960"/>
          </a:xfrm>
          <a:prstGeom prst="line">
            <a:avLst/>
          </a:prstGeom>
          <a:noFill/>
          <a:ln w="12700">
            <a:solidFill>
              <a:srgbClr val="2B3270"/>
            </a:solidFill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6" name="Subject notify()"/>
          <p:cNvSpPr/>
          <p:nvPr/>
        </p:nvSpPr>
        <p:spPr>
          <a:xfrm>
            <a:off x="731520" y="2560320"/>
            <a:ext cx="1828800" cy="170688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1828800" cy="170688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Subject</a:t>
            </a:r>
            <a:endParaRPr lang="en-US" sz="1600" dirty="0"/>
          </a:p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notify()</a:t>
            </a:r>
            <a:endParaRPr lang="en-US" sz="1600" dirty="0"/>
          </a:p>
        </p:txBody>
      </p:sp>
      <p:sp>
        <p:nvSpPr>
          <p:cNvPr id="8" name="Observer A"/>
          <p:cNvSpPr/>
          <p:nvPr/>
        </p:nvSpPr>
        <p:spPr>
          <a:xfrm>
            <a:off x="3901440" y="195072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9" name="Text 7"/>
          <p:cNvSpPr txBox="1"/>
          <p:nvPr/>
        </p:nvSpPr>
        <p:spPr>
          <a:xfrm>
            <a:off x="3901440" y="1950720"/>
            <a:ext cx="1828800" cy="73152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A</a:t>
            </a:r>
            <a:endParaRPr lang="en-US" sz="1600" dirty="0"/>
          </a:p>
        </p:txBody>
      </p:sp>
      <p:sp>
        <p:nvSpPr>
          <p:cNvPr id="10" name="Observer B"/>
          <p:cNvSpPr/>
          <p:nvPr/>
        </p:nvSpPr>
        <p:spPr>
          <a:xfrm>
            <a:off x="3901440" y="304800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1" name="Text 9"/>
          <p:cNvSpPr txBox="1"/>
          <p:nvPr/>
        </p:nvSpPr>
        <p:spPr>
          <a:xfrm>
            <a:off x="3901440" y="3048000"/>
            <a:ext cx="1828800" cy="73152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B</a:t>
            </a:r>
            <a:endParaRPr lang="en-US" sz="1600" dirty="0"/>
          </a:p>
        </p:txBody>
      </p:sp>
      <p:sp>
        <p:nvSpPr>
          <p:cNvPr id="12" name="Observer C"/>
          <p:cNvSpPr/>
          <p:nvPr/>
        </p:nvSpPr>
        <p:spPr>
          <a:xfrm>
            <a:off x="3901440" y="4145280"/>
            <a:ext cx="1828800" cy="73152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3" name="Text 11"/>
          <p:cNvSpPr txBox="1"/>
          <p:nvPr/>
        </p:nvSpPr>
        <p:spPr>
          <a:xfrm>
            <a:off x="3901440" y="4145280"/>
            <a:ext cx="1828800" cy="73152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Observer C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 flipV="1">
            <a:off x="2560320" y="2316480"/>
            <a:ext cx="134112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5" name="Shape 13"/>
          <p:cNvSpPr/>
          <p:nvPr/>
        </p:nvSpPr>
        <p:spPr>
          <a:xfrm>
            <a:off x="2560320" y="3413760"/>
            <a:ext cx="1341120" cy="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6" name="Shape 14"/>
          <p:cNvSpPr/>
          <p:nvPr/>
        </p:nvSpPr>
        <p:spPr>
          <a:xfrm>
            <a:off x="2560320" y="3413760"/>
            <a:ext cx="134112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7" name="Mediator"/>
          <p:cNvSpPr/>
          <p:nvPr/>
        </p:nvSpPr>
        <p:spPr>
          <a:xfrm>
            <a:off x="7924800" y="1950720"/>
            <a:ext cx="20726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18" name="Text 16"/>
          <p:cNvSpPr txBox="1"/>
          <p:nvPr/>
        </p:nvSpPr>
        <p:spPr>
          <a:xfrm>
            <a:off x="7924800" y="1950720"/>
            <a:ext cx="2072640" cy="85344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Mediator</a:t>
            </a:r>
            <a:endParaRPr lang="en-US" sz="1600" dirty="0"/>
          </a:p>
        </p:txBody>
      </p:sp>
      <p:sp>
        <p:nvSpPr>
          <p:cNvPr id="19" name="Colleague A"/>
          <p:cNvSpPr/>
          <p:nvPr/>
        </p:nvSpPr>
        <p:spPr>
          <a:xfrm>
            <a:off x="646176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0" name="Text 18"/>
          <p:cNvSpPr txBox="1"/>
          <p:nvPr/>
        </p:nvSpPr>
        <p:spPr>
          <a:xfrm>
            <a:off x="6461760" y="3901440"/>
            <a:ext cx="1463040" cy="85344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A</a:t>
            </a:r>
            <a:endParaRPr lang="en-US" sz="1600" dirty="0"/>
          </a:p>
        </p:txBody>
      </p:sp>
      <p:sp>
        <p:nvSpPr>
          <p:cNvPr id="21" name="Colleague B"/>
          <p:cNvSpPr/>
          <p:nvPr/>
        </p:nvSpPr>
        <p:spPr>
          <a:xfrm>
            <a:off x="822960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2" name="Text 20"/>
          <p:cNvSpPr txBox="1"/>
          <p:nvPr/>
        </p:nvSpPr>
        <p:spPr>
          <a:xfrm>
            <a:off x="8229600" y="3901440"/>
            <a:ext cx="1463040" cy="85344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B</a:t>
            </a:r>
            <a:endParaRPr lang="en-US" sz="1600" dirty="0"/>
          </a:p>
        </p:txBody>
      </p:sp>
      <p:sp>
        <p:nvSpPr>
          <p:cNvPr id="23" name="Colleague C"/>
          <p:cNvSpPr/>
          <p:nvPr/>
        </p:nvSpPr>
        <p:spPr>
          <a:xfrm>
            <a:off x="9997440" y="3901440"/>
            <a:ext cx="1463040" cy="853440"/>
          </a:xfrm>
          <a:prstGeom prst="rect">
            <a:avLst/>
          </a:prstGeom>
          <a:solidFill>
            <a:srgbClr val="6473F5"/>
          </a:solidFill>
          <a:ln w="15875">
            <a:noFill/>
            <a:prstDash val="solid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4" name="Text 22"/>
          <p:cNvSpPr txBox="1"/>
          <p:nvPr/>
        </p:nvSpPr>
        <p:spPr>
          <a:xfrm>
            <a:off x="9997440" y="3901440"/>
            <a:ext cx="1463040" cy="853440"/>
          </a:xfrm>
          <a:prstGeom prst="rect">
            <a:avLst/>
          </a:prstGeom>
          <a:solidFill>
            <a:srgbClr val="20265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Colleague C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 flipV="1">
            <a:off x="7193280" y="2804160"/>
            <a:ext cx="109728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6" name="Shape 24"/>
          <p:cNvSpPr/>
          <p:nvPr/>
        </p:nvSpPr>
        <p:spPr>
          <a:xfrm>
            <a:off x="8961120" y="2804160"/>
            <a:ext cx="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7" name="Shape 25"/>
          <p:cNvSpPr/>
          <p:nvPr/>
        </p:nvSpPr>
        <p:spPr>
          <a:xfrm>
            <a:off x="9631680" y="2804160"/>
            <a:ext cx="1097280" cy="1097280"/>
          </a:xfrm>
          <a:prstGeom prst="line">
            <a:avLst/>
          </a:prstGeom>
          <a:noFill/>
          <a:ln w="19050">
            <a:solidFill>
              <a:srgbClr val="BEC5E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 sz="2400"/>
          </a:p>
        </p:txBody>
      </p:sp>
      <p:sp>
        <p:nvSpPr>
          <p:cNvPr id="28" name="Text 26"/>
          <p:cNvSpPr txBox="1"/>
          <p:nvPr/>
        </p:nvSpPr>
        <p:spPr>
          <a:xfrm>
            <a:off x="731520" y="512064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dirty="0">
                <a:solidFill>
                  <a:srgbClr val="BEC5E6"/>
                </a:solidFill>
                <a:latin typeface="Calibri"/>
              </a:rPr>
              <a:t>El Subject avisa a todos sus Observers con notify(). En SOA, el broker entrega el evento.</a:t>
            </a:r>
          </a:p>
        </p:txBody>
      </p:sp>
      <p:sp>
        <p:nvSpPr>
          <p:cNvPr id="29" name="Text 27"/>
          <p:cNvSpPr txBox="1"/>
          <p:nvPr/>
        </p:nvSpPr>
        <p:spPr>
          <a:xfrm>
            <a:off x="6461760" y="512064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867" dirty="0">
                <a:solidFill>
                  <a:srgbClr val="BEC5E6"/>
                </a:solidFill>
                <a:latin typeface="Calibri"/>
              </a:rPr>
              <a:t>Todos hablan con el Mediator, que coordina; los Colleagues no se conocen entre sí.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FE7D64DB-C5FD-D992-F020-91F87E5C8482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13750F-AC17-AF7B-C66B-9B3777908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</a:t>
            </a:r>
            <a:r>
              <a:rPr lang="es-CO" sz="3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: Ventajas y Desventajas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8EDD861F-87A0-68C5-E3EB-742B2E52E244}"/>
              </a:ext>
            </a:extLst>
          </p:cNvPr>
          <p:cNvSpPr/>
          <p:nvPr/>
        </p:nvSpPr>
        <p:spPr>
          <a:xfrm>
            <a:off x="762000" y="3111500"/>
            <a:ext cx="1651000" cy="1651000"/>
          </a:xfrm>
          <a:prstGeom prst="ellipse">
            <a:avLst/>
          </a:prstGeom>
          <a:solidFill>
            <a:srgbClr val="2EC4B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b="1">
                <a:solidFill>
                  <a:srgbClr val="0F122D"/>
                </a:solidFill>
                <a:latin typeface="Calibri" panose="020F0502020204030204" pitchFamily="34" charset="0"/>
              </a:rPr>
              <a:t>Sujeto</a:t>
            </a:r>
          </a:p>
          <a:p>
            <a:pPr algn="ctr"/>
            <a:r>
              <a:rPr lang="es-CO" sz="1600">
                <a:solidFill>
                  <a:srgbClr val="0F122D"/>
                </a:solidFill>
                <a:latin typeface="Calibri" panose="020F0502020204030204" pitchFamily="34" charset="0"/>
              </a:rPr>
              <a:t>notifica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BC01D2D4-D3BE-42B8-B953-AE1DD8CCFB69}"/>
              </a:ext>
            </a:extLst>
          </p:cNvPr>
          <p:cNvCxnSpPr/>
          <p:nvPr/>
        </p:nvCxnSpPr>
        <p:spPr>
          <a:xfrm flipV="1">
            <a:off x="2438400" y="2127250"/>
            <a:ext cx="1701800" cy="18097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4853A48-A215-D8B8-E7C0-9228774DD494}"/>
              </a:ext>
            </a:extLst>
          </p:cNvPr>
          <p:cNvSpPr/>
          <p:nvPr/>
        </p:nvSpPr>
        <p:spPr>
          <a:xfrm>
            <a:off x="4191000" y="17780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A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0D9E3C50-0309-2C0E-1C81-9544E702937F}"/>
              </a:ext>
            </a:extLst>
          </p:cNvPr>
          <p:cNvCxnSpPr/>
          <p:nvPr/>
        </p:nvCxnSpPr>
        <p:spPr>
          <a:xfrm>
            <a:off x="2438400" y="3937000"/>
            <a:ext cx="1701800" cy="63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84780C4-F831-34CE-F3B0-9C034A3EBA03}"/>
              </a:ext>
            </a:extLst>
          </p:cNvPr>
          <p:cNvSpPr/>
          <p:nvPr/>
        </p:nvSpPr>
        <p:spPr>
          <a:xfrm>
            <a:off x="4191000" y="35941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B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9B3426D6-F236-00D4-D35D-43B760688F9C}"/>
              </a:ext>
            </a:extLst>
          </p:cNvPr>
          <p:cNvCxnSpPr/>
          <p:nvPr/>
        </p:nvCxnSpPr>
        <p:spPr>
          <a:xfrm>
            <a:off x="2438400" y="3937000"/>
            <a:ext cx="1701800" cy="1822450"/>
          </a:xfrm>
          <a:prstGeom prst="straightConnector1">
            <a:avLst/>
          </a:prstGeom>
          <a:ln w="44450">
            <a:solidFill>
              <a:srgbClr val="BEC5E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96B2B95-BB0D-FB09-B1FA-C3D25DD06C48}"/>
              </a:ext>
            </a:extLst>
          </p:cNvPr>
          <p:cNvSpPr/>
          <p:nvPr/>
        </p:nvSpPr>
        <p:spPr>
          <a:xfrm>
            <a:off x="4191000" y="5410200"/>
            <a:ext cx="1778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Observador C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D9A5083-F9DB-98FF-C9DA-2A60CDC8B45B}"/>
              </a:ext>
            </a:extLst>
          </p:cNvPr>
          <p:cNvSpPr/>
          <p:nvPr/>
        </p:nvSpPr>
        <p:spPr>
          <a:xfrm>
            <a:off x="6350000" y="15875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62A1560-1CE9-C4F5-81DF-74AAE2610360}"/>
              </a:ext>
            </a:extLst>
          </p:cNvPr>
          <p:cNvSpPr txBox="1"/>
          <p:nvPr/>
        </p:nvSpPr>
        <p:spPr>
          <a:xfrm>
            <a:off x="6629400" y="17653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34C78C"/>
                </a:solidFill>
                <a:latin typeface="Calibri" panose="020F0502020204030204" pitchFamily="34" charset="0"/>
              </a:rPr>
              <a:t>Ventajas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7224748-5BDF-EE20-EAFE-51A5697998CD}"/>
              </a:ext>
            </a:extLst>
          </p:cNvPr>
          <p:cNvSpPr txBox="1"/>
          <p:nvPr/>
        </p:nvSpPr>
        <p:spPr>
          <a:xfrm>
            <a:off x="6629400" y="22479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Emisor y receptores desacoplados: se agregan suscriptores sin tocar al sujeto.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Actualiza varias vistas a la vez y en tiempo real.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C7D73DA-3F39-E11B-6AE5-687EB1CE5CF7}"/>
              </a:ext>
            </a:extLst>
          </p:cNvPr>
          <p:cNvSpPr/>
          <p:nvPr/>
        </p:nvSpPr>
        <p:spPr>
          <a:xfrm>
            <a:off x="6350000" y="39370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F139612-C27A-1D3B-A912-644D2160E1FD}"/>
              </a:ext>
            </a:extLst>
          </p:cNvPr>
          <p:cNvSpPr txBox="1"/>
          <p:nvPr/>
        </p:nvSpPr>
        <p:spPr>
          <a:xfrm>
            <a:off x="6629400" y="41148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E85A64"/>
                </a:solidFill>
                <a:latin typeface="Calibri" panose="020F0502020204030204" pitchFamily="34" charset="0"/>
              </a:rPr>
              <a:t>Desventajas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27D2E8A-C202-D3C0-742F-9226CAB1C31E}"/>
              </a:ext>
            </a:extLst>
          </p:cNvPr>
          <p:cNvSpPr txBox="1"/>
          <p:nvPr/>
        </p:nvSpPr>
        <p:spPr>
          <a:xfrm>
            <a:off x="6629400" y="45974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Cascadas de actualizaciones difíciles de depurar.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Fugas de memoria si no se cancela la suscripción.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A29B4CA9-8089-F9E3-EB03-A4CF676FD100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16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124E5171-9A47-00D2-BC96-A5901261BD9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4E2CCA1-EE14-3AA7-0338-0E7A1EBC3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4. Mediator: Ventajas y Desventajas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8D35FC00-2D69-BA40-5AF6-3EB49BF70765}"/>
              </a:ext>
            </a:extLst>
          </p:cNvPr>
          <p:cNvCxnSpPr/>
          <p:nvPr/>
        </p:nvCxnSpPr>
        <p:spPr>
          <a:xfrm>
            <a:off x="1460500" y="2127250"/>
            <a:ext cx="1841500" cy="18097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6F9A43D-A78E-46F8-4D99-233FB6D7B4C7}"/>
              </a:ext>
            </a:extLst>
          </p:cNvPr>
          <p:cNvSpPr/>
          <p:nvPr/>
        </p:nvSpPr>
        <p:spPr>
          <a:xfrm>
            <a:off x="635000" y="17780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A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4622BE67-A102-5766-0653-7885AB6FC0B1}"/>
              </a:ext>
            </a:extLst>
          </p:cNvPr>
          <p:cNvCxnSpPr/>
          <p:nvPr/>
        </p:nvCxnSpPr>
        <p:spPr>
          <a:xfrm flipH="1">
            <a:off x="3302000" y="2127250"/>
            <a:ext cx="1841500" cy="18097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D57798C-B2F3-C974-6B8D-E86890C979F1}"/>
              </a:ext>
            </a:extLst>
          </p:cNvPr>
          <p:cNvSpPr/>
          <p:nvPr/>
        </p:nvSpPr>
        <p:spPr>
          <a:xfrm>
            <a:off x="4318000" y="17780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B</a:t>
            </a: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C5A47055-3FB2-98F5-3A20-AF2F8E43F394}"/>
              </a:ext>
            </a:extLst>
          </p:cNvPr>
          <p:cNvCxnSpPr/>
          <p:nvPr/>
        </p:nvCxnSpPr>
        <p:spPr>
          <a:xfrm flipV="1">
            <a:off x="1460500" y="3937000"/>
            <a:ext cx="1841500" cy="18224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47A118F-4E72-24A0-5009-6E64F780C260}"/>
              </a:ext>
            </a:extLst>
          </p:cNvPr>
          <p:cNvSpPr/>
          <p:nvPr/>
        </p:nvSpPr>
        <p:spPr>
          <a:xfrm>
            <a:off x="635000" y="54102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C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1A67FA3-0C71-0048-B14C-188C6D930DF0}"/>
              </a:ext>
            </a:extLst>
          </p:cNvPr>
          <p:cNvCxnSpPr/>
          <p:nvPr/>
        </p:nvCxnSpPr>
        <p:spPr>
          <a:xfrm flipH="1" flipV="1">
            <a:off x="3302000" y="3937000"/>
            <a:ext cx="1841500" cy="1822450"/>
          </a:xfrm>
          <a:prstGeom prst="straightConnector1">
            <a:avLst/>
          </a:prstGeom>
          <a:ln w="44450">
            <a:solidFill>
              <a:srgbClr val="BEC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A3E2112E-BBE0-FDAD-4BE6-8A6824E0DA6D}"/>
              </a:ext>
            </a:extLst>
          </p:cNvPr>
          <p:cNvSpPr/>
          <p:nvPr/>
        </p:nvSpPr>
        <p:spPr>
          <a:xfrm>
            <a:off x="4318000" y="5410200"/>
            <a:ext cx="1651000" cy="6985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>
                <a:solidFill>
                  <a:srgbClr val="FFFFFF"/>
                </a:solidFill>
                <a:latin typeface="Calibri" panose="020F0502020204030204" pitchFamily="34" charset="0"/>
              </a:rPr>
              <a:t>Módulo D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A5A1FE7-9DC0-7A73-0EBC-ED9FC6FD4189}"/>
              </a:ext>
            </a:extLst>
          </p:cNvPr>
          <p:cNvSpPr/>
          <p:nvPr/>
        </p:nvSpPr>
        <p:spPr>
          <a:xfrm>
            <a:off x="2476500" y="3111500"/>
            <a:ext cx="1651000" cy="1651000"/>
          </a:xfrm>
          <a:prstGeom prst="ellipse">
            <a:avLst/>
          </a:prstGeom>
          <a:solidFill>
            <a:srgbClr val="F4B9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solidFill>
                  <a:srgbClr val="0F122D"/>
                </a:solidFill>
                <a:latin typeface="Calibri" panose="020F0502020204030204" pitchFamily="34" charset="0"/>
              </a:rPr>
              <a:t>Mediador</a:t>
            </a:r>
          </a:p>
          <a:p>
            <a:pPr algn="ctr"/>
            <a:r>
              <a:rPr lang="es-CO" sz="1600" dirty="0">
                <a:solidFill>
                  <a:srgbClr val="0F122D"/>
                </a:solidFill>
                <a:latin typeface="Calibri" panose="020F0502020204030204" pitchFamily="34" charset="0"/>
              </a:rPr>
              <a:t>coordina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BE20CED-622E-DDA1-8F8F-89319FFA3CEA}"/>
              </a:ext>
            </a:extLst>
          </p:cNvPr>
          <p:cNvSpPr/>
          <p:nvPr/>
        </p:nvSpPr>
        <p:spPr>
          <a:xfrm>
            <a:off x="6350000" y="15875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770670-3A97-5DF3-1CFE-D198891BD127}"/>
              </a:ext>
            </a:extLst>
          </p:cNvPr>
          <p:cNvSpPr txBox="1"/>
          <p:nvPr/>
        </p:nvSpPr>
        <p:spPr>
          <a:xfrm>
            <a:off x="6629400" y="17653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34C78C"/>
                </a:solidFill>
                <a:latin typeface="Calibri" panose="020F0502020204030204" pitchFamily="34" charset="0"/>
              </a:rPr>
              <a:t>Ventajas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FF76C9D-FA8A-9CF3-6342-CBF05CA36FDC}"/>
              </a:ext>
            </a:extLst>
          </p:cNvPr>
          <p:cNvSpPr txBox="1"/>
          <p:nvPr/>
        </p:nvSpPr>
        <p:spPr>
          <a:xfrm>
            <a:off x="6629400" y="22479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Los módulos solo conocen al mediador, no entre sí: menos dependencias.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El código queda más ordenado y fácil de mantener.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7A9D1DF3-6723-F41D-2470-F72DC7420D9A}"/>
              </a:ext>
            </a:extLst>
          </p:cNvPr>
          <p:cNvSpPr/>
          <p:nvPr/>
        </p:nvSpPr>
        <p:spPr>
          <a:xfrm>
            <a:off x="6350000" y="3937000"/>
            <a:ext cx="5207000" cy="2095500"/>
          </a:xfrm>
          <a:prstGeom prst="roundRect">
            <a:avLst>
              <a:gd name="adj" fmla="val 8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912B45F-6587-AE11-FDB3-2D0E275D192E}"/>
              </a:ext>
            </a:extLst>
          </p:cNvPr>
          <p:cNvSpPr txBox="1"/>
          <p:nvPr/>
        </p:nvSpPr>
        <p:spPr>
          <a:xfrm>
            <a:off x="6629400" y="4114800"/>
            <a:ext cx="4648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800"/>
              </a:spcAft>
            </a:pPr>
            <a:r>
              <a:rPr lang="es-CO" sz="2200" b="1">
                <a:solidFill>
                  <a:srgbClr val="E85A64"/>
                </a:solidFill>
                <a:latin typeface="Calibri" panose="020F0502020204030204" pitchFamily="34" charset="0"/>
              </a:rPr>
              <a:t>Desventajas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9CD9A07-A7A9-9740-C01A-D27118F435DC}"/>
              </a:ext>
            </a:extLst>
          </p:cNvPr>
          <p:cNvSpPr txBox="1"/>
          <p:nvPr/>
        </p:nvSpPr>
        <p:spPr>
          <a:xfrm>
            <a:off x="6629400" y="4597400"/>
            <a:ext cx="4648200" cy="1308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El mediador puede crecer hasta volverse un 'objeto Dios'.</a:t>
            </a:r>
          </a:p>
          <a:p>
            <a:pPr marL="203200" indent="-203200">
              <a:spcAft>
                <a:spcPts val="800"/>
              </a:spcAft>
              <a:buFont typeface="+mj-lt"/>
              <a:buChar char="•"/>
            </a:pPr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Si falla, se cae toda la comunicación entre componentes.</a:t>
            </a:r>
            <a:endParaRPr lang="es-CO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Slide Number Placeholder 0">
            <a:extLst>
              <a:ext uri="{FF2B5EF4-FFF2-40B4-BE49-F238E27FC236}">
                <a16:creationId xmlns:a16="http://schemas.microsoft.com/office/drawing/2014/main" id="{41AC84D1-05AA-0109-3291-20151F30CEC2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468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4" grpId="0" animBg="1"/>
      <p:bldP spid="13" grpId="0" animBg="1"/>
      <p:bldP spid="14" grpId="0"/>
      <p:bldP spid="15" grpId="0"/>
      <p:bldP spid="16" grpId="0" animBg="1"/>
      <p:bldP spid="17" grpId="0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</a:t>
            </a:r>
            <a:r>
              <a:rPr lang="es-CO" sz="3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Observer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9" y="1206500"/>
            <a:ext cx="9201531" cy="542544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7" t="10007" r="7068" b="9250"/>
          <a:stretch>
            <a:fillRect/>
          </a:stretch>
        </p:blipFill>
        <p:spPr>
          <a:xfrm>
            <a:off x="739273" y="1332609"/>
            <a:ext cx="8748321" cy="5299332"/>
          </a:xfrm>
          <a:prstGeom prst="rect">
            <a:avLst/>
          </a:prstGeom>
        </p:spPr>
      </p:pic>
      <p:sp>
        <p:nvSpPr>
          <p:cNvPr id="4" name="Slide Number Placeholder 0">
            <a:extLst>
              <a:ext uri="{FF2B5EF4-FFF2-40B4-BE49-F238E27FC236}">
                <a16:creationId xmlns:a16="http://schemas.microsoft.com/office/drawing/2014/main" id="{44E2FF4A-AF77-C02B-AFD3-8D5358119CE8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202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5FA4C54D-F8F7-667D-27BC-8658065CB91A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116F78-536A-8DEB-2C90-7E0E23F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17500"/>
            <a:ext cx="10160000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  <a:r>
              <a:rPr lang="es-CO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. Demostración Mediator</a:t>
            </a:r>
          </a:p>
        </p:txBody>
      </p:sp>
      <p:sp>
        <p:nvSpPr>
          <p:cNvPr id="24" name="Rounded Rectangle 2">
            <a:extLst>
              <a:ext uri="{FF2B5EF4-FFF2-40B4-BE49-F238E27FC236}">
                <a16:creationId xmlns:a16="http://schemas.microsoft.com/office/drawing/2014/main" id="{251F3E1A-00CD-40F5-8C3B-ED106DFDCE14}"/>
              </a:ext>
            </a:extLst>
          </p:cNvPr>
          <p:cNvSpPr/>
          <p:nvPr/>
        </p:nvSpPr>
        <p:spPr>
          <a:xfrm>
            <a:off x="518818" y="1206500"/>
            <a:ext cx="9857081" cy="542544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0D8BA4A-1C0B-F821-C7A1-AF3C9FED97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32" r="2717"/>
          <a:stretch/>
        </p:blipFill>
        <p:spPr>
          <a:xfrm>
            <a:off x="846592" y="1310641"/>
            <a:ext cx="9201531" cy="5102527"/>
          </a:xfrm>
          <a:prstGeom prst="rect">
            <a:avLst/>
          </a:prstGeom>
        </p:spPr>
      </p:pic>
      <p:sp>
        <p:nvSpPr>
          <p:cNvPr id="4" name="Slide Number Placeholder 0">
            <a:extLst>
              <a:ext uri="{FF2B5EF4-FFF2-40B4-BE49-F238E27FC236}">
                <a16:creationId xmlns:a16="http://schemas.microsoft.com/office/drawing/2014/main" id="{BFEB0F68-9DE0-4916-056C-7CEAF9C282E6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935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6C99EE61-333B-7783-D814-D31484674B47}"/>
              </a:ext>
            </a:extLst>
          </p:cNvPr>
          <p:cNvSpPr/>
          <p:nvPr/>
        </p:nvSpPr>
        <p:spPr>
          <a:xfrm>
            <a:off x="10160000" y="-1016000"/>
            <a:ext cx="3302000" cy="3302000"/>
          </a:xfrm>
          <a:prstGeom prst="ellipse">
            <a:avLst/>
          </a:prstGeom>
          <a:solidFill>
            <a:srgbClr val="6473F5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1CF72A-16DB-3521-6B3A-546C13096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5" y="317500"/>
            <a:ext cx="2967177" cy="889000"/>
          </a:xfrm>
        </p:spPr>
        <p:txBody>
          <a:bodyPr anchor="ctr">
            <a:normAutofit/>
          </a:bodyPr>
          <a:lstStyle/>
          <a:p>
            <a:pPr algn="l"/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7. Conclusión</a:t>
            </a:r>
            <a:endParaRPr lang="es-CO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7870B7-4AD4-9A72-12C7-138960EE114F}"/>
              </a:ext>
            </a:extLst>
          </p:cNvPr>
          <p:cNvGraphicFramePr>
            <a:graphicFrameLocks noGrp="1"/>
          </p:cNvGraphicFramePr>
          <p:nvPr/>
        </p:nvGraphicFramePr>
        <p:xfrm>
          <a:off x="635003" y="1587500"/>
          <a:ext cx="10758976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7419">
                  <a:extLst>
                    <a:ext uri="{9D8B030D-6E8A-4147-A177-3AD203B41FA5}">
                      <a16:colId xmlns:a16="http://schemas.microsoft.com/office/drawing/2014/main" val="544620253"/>
                    </a:ext>
                  </a:extLst>
                </a:gridCol>
                <a:gridCol w="2061557">
                  <a:extLst>
                    <a:ext uri="{9D8B030D-6E8A-4147-A177-3AD203B41FA5}">
                      <a16:colId xmlns:a16="http://schemas.microsoft.com/office/drawing/2014/main" val="1056622285"/>
                    </a:ext>
                  </a:extLst>
                </a:gridCol>
              </a:tblGrid>
              <a:tr h="838200"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Si necesitas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Usa</a:t>
                      </a:r>
                    </a:p>
                  </a:txBody>
                  <a:tcPr anchor="ctr">
                    <a:solidFill>
                      <a:srgbClr val="647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5898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CO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Integrar sistemas o equipos independientes que escalan por separado</a:t>
                      </a: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21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SOA</a:t>
                      </a: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93442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MX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Que varios objetos reaccionen a un cambio de estado</a:t>
                      </a:r>
                      <a:endParaRPr lang="es-CO" sz="21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100" b="0" dirty="0" err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Observer</a:t>
                      </a:r>
                      <a:endParaRPr lang="es-CO" sz="21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1A1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72179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lang="es-MX" sz="2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Coordinar muchos componentes que hoy se llaman entre sí</a:t>
                      </a:r>
                      <a:endParaRPr lang="es-CO" sz="2100" b="1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3038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2100" b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Mediator</a:t>
                      </a:r>
                      <a:endParaRPr lang="es-CO" sz="2100" b="0" dirty="0">
                        <a:solidFill>
                          <a:srgbClr val="FFFFFF"/>
                        </a:solidFill>
                        <a:latin typeface="Calibri" panose="020F0502020204030204" pitchFamily="34" charset="0"/>
                      </a:endParaRPr>
                    </a:p>
                  </a:txBody>
                  <a:tcPr anchor="ctr">
                    <a:solidFill>
                      <a:srgbClr val="2026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621331"/>
                  </a:ext>
                </a:extLst>
              </a:tr>
            </a:tbl>
          </a:graphicData>
        </a:graphic>
      </p:graphicFrame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F5454D4-CD26-3A8C-F9B5-CA359EC50FC5}"/>
              </a:ext>
            </a:extLst>
          </p:cNvPr>
          <p:cNvSpPr/>
          <p:nvPr/>
        </p:nvSpPr>
        <p:spPr>
          <a:xfrm>
            <a:off x="635003" y="5232400"/>
            <a:ext cx="10758976" cy="1041400"/>
          </a:xfrm>
          <a:prstGeom prst="roundRect">
            <a:avLst>
              <a:gd name="adj" fmla="val 15000"/>
            </a:avLst>
          </a:prstGeom>
          <a:solidFill>
            <a:srgbClr val="20265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133" dirty="0">
                <a:solidFill>
                  <a:srgbClr val="FFC000"/>
                </a:solidFill>
                <a:latin typeface="Calibri" panose="020F0502020204030204" pitchFamily="34" charset="0"/>
              </a:rPr>
              <a:t>No compiten: se combinan. SOA organiza el sistema; </a:t>
            </a:r>
            <a:r>
              <a:rPr lang="es-MX" sz="2133" dirty="0" err="1">
                <a:solidFill>
                  <a:srgbClr val="FFC000"/>
                </a:solidFill>
                <a:latin typeface="Calibri" panose="020F0502020204030204" pitchFamily="34" charset="0"/>
              </a:rPr>
              <a:t>Observer</a:t>
            </a:r>
            <a:r>
              <a:rPr lang="es-MX" sz="2133" dirty="0">
                <a:solidFill>
                  <a:srgbClr val="FFC000"/>
                </a:solidFill>
                <a:latin typeface="Calibri" panose="020F0502020204030204" pitchFamily="34" charset="0"/>
              </a:rPr>
              <a:t> y Mediator organizan su código.</a:t>
            </a:r>
            <a:endParaRPr lang="es-CO" sz="2133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Slide Number Placeholder 0">
            <a:extLst>
              <a:ext uri="{FF2B5EF4-FFF2-40B4-BE49-F238E27FC236}">
                <a16:creationId xmlns:a16="http://schemas.microsoft.com/office/drawing/2014/main" id="{231A26C2-4BE6-BD5B-79A7-B3DC57256F3D}"/>
              </a:ext>
            </a:extLst>
          </p:cNvPr>
          <p:cNvSpPr txBox="1">
            <a:spLocks/>
          </p:cNvSpPr>
          <p:nvPr/>
        </p:nvSpPr>
        <p:spPr>
          <a:xfrm>
            <a:off x="11094720" y="6339840"/>
            <a:ext cx="6096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vert="horz" lIns="91440" tIns="45720" rIns="91440" bIns="45720" rtlCol="0" anchor="ctr"/>
          <a:lstStyle>
            <a:defPPr>
              <a:defRPr lang="es-CO"/>
            </a:defPPr>
            <a:lvl1pPr marL="0" algn="r" defTabSz="914400" rtl="0" eaLnBrk="1" latinLnBrk="0" hangingPunct="1"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>
                <a:solidFill>
                  <a:srgbClr val="BEC5E6"/>
                </a:solidFill>
              </a:rPr>
              <a:pPr algn="l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36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95</TotalTime>
  <Words>1029</Words>
  <Application>Microsoft Office PowerPoint</Application>
  <PresentationFormat>Panorámica</PresentationFormat>
  <Paragraphs>180</Paragraphs>
  <Slides>17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Segoe UI Symbol</vt:lpstr>
      <vt:lpstr>Tema de Office</vt:lpstr>
      <vt:lpstr>Arquitectura Orientada a Servicios (SOA)</vt:lpstr>
      <vt:lpstr>1. SOA: Definición</vt:lpstr>
      <vt:lpstr>2. SOA: Características</vt:lpstr>
      <vt:lpstr>3. SOA: Diagrama</vt:lpstr>
      <vt:lpstr>4. SOA: Ventajas</vt:lpstr>
      <vt:lpstr>4. SOA: Desventajas</vt:lpstr>
      <vt:lpstr>5. Tecnologías relacionadas</vt:lpstr>
      <vt:lpstr>6. Demostración SOA</vt:lpstr>
      <vt:lpstr>Patrones Observer y Mediator</vt:lpstr>
      <vt:lpstr>1. Patrones: Definición</vt:lpstr>
      <vt:lpstr>2. Patrones: Características</vt:lpstr>
      <vt:lpstr>3. Patrones: Diagramas</vt:lpstr>
      <vt:lpstr>4. Observer: Ventajas y Desventajas</vt:lpstr>
      <vt:lpstr>4. Mediator: Ventajas y Desventajas</vt:lpstr>
      <vt:lpstr>6. Demostración Observer</vt:lpstr>
      <vt:lpstr>6. Demostración Mediator</vt:lpstr>
      <vt:lpstr>7. 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SANDRO VASQUEZ</dc:creator>
  <cp:lastModifiedBy>Gisel lorena mosquera fierro</cp:lastModifiedBy>
  <cp:revision>11</cp:revision>
  <dcterms:created xsi:type="dcterms:W3CDTF">2026-10-15T20:46:09Z</dcterms:created>
  <dcterms:modified xsi:type="dcterms:W3CDTF">2026-10-16T12:08:52Z</dcterms:modified>
</cp:coreProperties>
</file>