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4" r:id="rId6"/>
    <p:sldId id="261" r:id="rId7"/>
    <p:sldId id="262" r:id="rId8"/>
    <p:sldId id="263" r:id="rId9"/>
    <p:sldId id="266" r:id="rId10"/>
    <p:sldId id="267" r:id="rId11"/>
    <p:sldId id="268" r:id="rId1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A1B2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>
        <p:scale>
          <a:sx n="125" d="100"/>
          <a:sy n="125" d="100"/>
        </p:scale>
        <p:origin x="1194" y="4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6807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913486-1119-D441-CFFA-0D4BF48BCF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65CB646-D7BA-23B8-962E-7F6C14B010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018D1F0-1B18-6E38-C383-58D2DD3608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0B9C84-F9B7-B183-D328-6FA2F1584FF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793539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080075-447D-901C-3244-0184D75E37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A2AF39-7543-FABF-C5B2-CA77E7BD4A2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DF4CDED-CAF2-CA79-EE74-FC22249947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BF1497-A489-EC0A-9F54-0D0AD37C8B3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485739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6AD2A2-D5EA-5213-76AE-DC4555251C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C0CCADC-7A05-BE3A-56E1-2CFF9E922F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13B1F4-F0D8-B0AB-9DB7-3CD0E31813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22CA4E-5301-7D51-FDB8-8D3A023C182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109094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C8E976-A7A3-DC33-43E0-6318C58CCB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62CE593-228B-98BE-CC6C-CED2719FFF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0F50E8-917D-B9E1-7902-8F93F2F156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818D37-44A4-7320-D6E6-944592E3E65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66353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rgbClr val="1F4E9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731520" y="1463040"/>
            <a:ext cx="768096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marL="0" indent="0">
              <a:buNone/>
            </a:pPr>
            <a:endParaRPr lang="en-US" sz="4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400" b="1" dirty="0">
                <a:solidFill>
                  <a:schemeClr val="tx2"/>
                </a:solidFill>
              </a:defRPr>
            </a:lvl1pPr>
          </a:lstStyle>
          <a:p>
            <a:pPr marL="0" indent="0" algn="l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731520" y="1463040"/>
            <a:ext cx="7680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419" dirty="0"/>
              <a:t>Arquitectura Orientada a Servicios (SOA)</a:t>
            </a:r>
            <a:endParaRPr lang="en-US" sz="4000" dirty="0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BDFDCA49-15E5-9528-7942-58D1A631B8E2}"/>
              </a:ext>
            </a:extLst>
          </p:cNvPr>
          <p:cNvSpPr txBox="1"/>
          <p:nvPr/>
        </p:nvSpPr>
        <p:spPr>
          <a:xfrm>
            <a:off x="607423" y="3448594"/>
            <a:ext cx="4572000" cy="12926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>
              <a:spcBef>
                <a:spcPts val="1800"/>
              </a:spcBef>
              <a:spcAft>
                <a:spcPts val="1200"/>
              </a:spcAft>
              <a:buNone/>
            </a:pPr>
            <a:r>
              <a:rPr lang="es-419" sz="1200" b="1" i="0" dirty="0">
                <a:solidFill>
                  <a:srgbClr val="1F2328"/>
                </a:solidFill>
                <a:effectLst/>
                <a:latin typeface="Mona Sans VF"/>
              </a:rPr>
              <a:t> </a:t>
            </a:r>
            <a:r>
              <a:rPr lang="es-419" sz="1200" b="1" i="0" dirty="0">
                <a:solidFill>
                  <a:schemeClr val="bg1"/>
                </a:solidFill>
                <a:effectLst/>
                <a:latin typeface="Mona Sans VF"/>
              </a:rPr>
              <a:t>Integrantes del Equipo</a:t>
            </a:r>
          </a:p>
          <a:p>
            <a:pPr marL="342900" lvl="0" indent="-342900" algn="l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s-419" sz="1200" b="0" i="0" dirty="0">
                <a:solidFill>
                  <a:schemeClr val="bg1"/>
                </a:solidFill>
                <a:effectLst/>
                <a:latin typeface="Mona Sans VF"/>
              </a:rPr>
              <a:t>David Villanueva Potosí</a:t>
            </a:r>
          </a:p>
          <a:p>
            <a:pPr marL="342900" lvl="0" indent="-342900" algn="l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s-419" sz="1200" b="0" i="0" dirty="0">
                <a:solidFill>
                  <a:schemeClr val="bg1"/>
                </a:solidFill>
                <a:effectLst/>
                <a:latin typeface="Mona Sans VF"/>
              </a:rPr>
              <a:t>Brandon Duván Guevara Rodríguez</a:t>
            </a:r>
          </a:p>
          <a:p>
            <a:pPr marL="342900" lvl="0" indent="-342900" algn="l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s-419" sz="1200" b="0" i="0" dirty="0">
                <a:solidFill>
                  <a:schemeClr val="bg1"/>
                </a:solidFill>
                <a:effectLst/>
                <a:latin typeface="Mona Sans VF"/>
              </a:rPr>
              <a:t>Erick Santiago Vasquez Reyes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tx2"/>
                </a:solidFill>
              </a:rPr>
              <a:t>1. SOA: Definición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39319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Qué es: </a:t>
            </a:r>
            <a:r>
              <a:rPr lang="en-US" sz="1500" dirty="0" err="1">
                <a:solidFill>
                  <a:schemeClr val="tx1"/>
                </a:solidFill>
              </a:rPr>
              <a:t>estilo</a:t>
            </a:r>
            <a:r>
              <a:rPr lang="en-US" sz="1500" dirty="0">
                <a:solidFill>
                  <a:schemeClr val="tx1"/>
                </a:solidFill>
              </a:rPr>
              <a:t> de arquitectura que divide el software en servicios independientes. Cada uno hace una función de negocio y publica un contrato.</a:t>
            </a:r>
            <a:endParaRPr lang="en-US" sz="150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Metáfora: </a:t>
            </a:r>
            <a:r>
              <a:rPr lang="en-US" sz="1500" dirty="0">
                <a:solidFill>
                  <a:schemeClr val="tx1"/>
                </a:solidFill>
              </a:rPr>
              <a:t>un centro comercial; cada local hace una cosa y, si uno cierra, los demás siguen abiertos.</a:t>
            </a:r>
            <a:endParaRPr lang="en-US" sz="150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Sirve para: </a:t>
            </a:r>
            <a:r>
              <a:rPr lang="en-US" sz="1500" dirty="0" err="1">
                <a:solidFill>
                  <a:schemeClr val="tx1"/>
                </a:solidFill>
              </a:rPr>
              <a:t>integrar</a:t>
            </a:r>
            <a:r>
              <a:rPr lang="en-US" sz="1500" dirty="0">
                <a:solidFill>
                  <a:schemeClr val="tx1"/>
                </a:solidFill>
              </a:rPr>
              <a:t> sistemas viejos y nuevos, reutilizar lógica y cambiar una parte sin romper todo.</a:t>
            </a:r>
            <a:endParaRPr lang="en-US" sz="1500" dirty="0"/>
          </a:p>
        </p:txBody>
      </p:sp>
      <p:sp>
        <p:nvSpPr>
          <p:cNvPr id="4" name="Separador"/>
          <p:cNvSpPr/>
          <p:nvPr/>
        </p:nvSpPr>
        <p:spPr>
          <a:xfrm>
            <a:off x="4709160" y="1097280"/>
            <a:ext cx="0" cy="347472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5" name="Text 3"/>
          <p:cNvSpPr txBox="1"/>
          <p:nvPr/>
        </p:nvSpPr>
        <p:spPr>
          <a:xfrm>
            <a:off x="4937760" y="10515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tx2"/>
                </a:solidFill>
              </a:rPr>
              <a:t>Principios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4937760" y="1554480"/>
            <a:ext cx="36576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300" b="1" dirty="0">
                <a:solidFill>
                  <a:schemeClr val="tx2"/>
                </a:solidFill>
              </a:rPr>
              <a:t>Contrato estándar: </a:t>
            </a:r>
            <a:r>
              <a:rPr lang="en-US" sz="1300" dirty="0">
                <a:solidFill>
                  <a:schemeClr val="tx1"/>
                </a:solidFill>
              </a:rPr>
              <a:t>describe qué ofrece.</a:t>
            </a:r>
            <a:endParaRPr lang="en-US" sz="13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300" b="1" dirty="0">
                <a:solidFill>
                  <a:schemeClr val="tx2"/>
                </a:solidFill>
              </a:rPr>
              <a:t>Bajo acoplamiento: </a:t>
            </a:r>
            <a:r>
              <a:rPr lang="en-US" sz="1300" dirty="0">
                <a:solidFill>
                  <a:schemeClr val="tx1"/>
                </a:solidFill>
              </a:rPr>
              <a:t>depende del contrato, no del código.</a:t>
            </a:r>
            <a:endParaRPr lang="en-US" sz="13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300" b="1" dirty="0">
                <a:solidFill>
                  <a:schemeClr val="tx2"/>
                </a:solidFill>
              </a:rPr>
              <a:t>Reutilización: </a:t>
            </a:r>
            <a:r>
              <a:rPr lang="en-US" sz="1300" dirty="0">
                <a:solidFill>
                  <a:schemeClr val="tx1"/>
                </a:solidFill>
              </a:rPr>
              <a:t>varias apps usan el mismo servicio.</a:t>
            </a:r>
            <a:endParaRPr lang="en-US" sz="13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300" b="1" dirty="0">
                <a:solidFill>
                  <a:schemeClr val="tx2"/>
                </a:solidFill>
              </a:rPr>
              <a:t>Autonomía: </a:t>
            </a:r>
            <a:r>
              <a:rPr lang="en-US" sz="1300" dirty="0">
                <a:solidFill>
                  <a:schemeClr val="tx1"/>
                </a:solidFill>
              </a:rPr>
              <a:t>cada servicio controla su lógica y datos.</a:t>
            </a:r>
            <a:endParaRPr lang="en-US" sz="13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300" b="1" dirty="0">
                <a:solidFill>
                  <a:schemeClr val="tx2"/>
                </a:solidFill>
              </a:rPr>
              <a:t>Abstracción: </a:t>
            </a:r>
            <a:r>
              <a:rPr lang="en-US" sz="1300" dirty="0">
                <a:solidFill>
                  <a:schemeClr val="tx1"/>
                </a:solidFill>
              </a:rPr>
              <a:t>el consumidor no ve el interior.</a:t>
            </a:r>
            <a:endParaRPr lang="en-US" sz="13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300" b="1" dirty="0">
                <a:solidFill>
                  <a:schemeClr val="tx2"/>
                </a:solidFill>
              </a:rPr>
              <a:t>Composición: </a:t>
            </a:r>
            <a:r>
              <a:rPr lang="en-US" sz="1300" dirty="0">
                <a:solidFill>
                  <a:schemeClr val="tx1"/>
                </a:solidFill>
              </a:rPr>
              <a:t>servicios simples forman procesos.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tx2"/>
                </a:solidFill>
              </a:rPr>
              <a:t>2. SOA: Características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tx2"/>
                </a:solidFill>
              </a:rPr>
              <a:t>Cómo se organiza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08760"/>
            <a:ext cx="39319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Proveedor: </a:t>
            </a:r>
            <a:r>
              <a:rPr lang="en-US" sz="1400" dirty="0">
                <a:solidFill>
                  <a:schemeClr val="tx1"/>
                </a:solidFill>
              </a:rPr>
              <a:t>implementa y publica el servicio.</a:t>
            </a:r>
            <a:endParaRPr lang="en-US" sz="14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Consumidor: </a:t>
            </a:r>
            <a:r>
              <a:rPr lang="en-US" sz="1400" dirty="0">
                <a:solidFill>
                  <a:schemeClr val="tx1"/>
                </a:solidFill>
              </a:rPr>
              <a:t>lo busca y lo usa (app web o móvil).</a:t>
            </a:r>
            <a:endParaRPr lang="en-US" sz="14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Registro: </a:t>
            </a:r>
            <a:r>
              <a:rPr lang="en-US" sz="1400" dirty="0">
                <a:solidFill>
                  <a:schemeClr val="tx1"/>
                </a:solidFill>
              </a:rPr>
              <a:t>catálogo donde se publican los contratos.</a:t>
            </a:r>
            <a:endParaRPr lang="en-US" sz="14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Capas: </a:t>
            </a:r>
            <a:r>
              <a:rPr lang="en-US" sz="1400" dirty="0">
                <a:solidFill>
                  <a:schemeClr val="tx1"/>
                </a:solidFill>
              </a:rPr>
              <a:t>consumidores, procesos, servicios de negocio, datos e integración (ESB, gateway, broker).</a:t>
            </a:r>
            <a:endParaRPr lang="en-US" sz="1400" dirty="0"/>
          </a:p>
        </p:txBody>
      </p:sp>
      <p:sp>
        <p:nvSpPr>
          <p:cNvPr id="5" name="Separador"/>
          <p:cNvSpPr/>
          <p:nvPr/>
        </p:nvSpPr>
        <p:spPr>
          <a:xfrm>
            <a:off x="4709160" y="1097280"/>
            <a:ext cx="0" cy="347472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6" name="Text 4"/>
          <p:cNvSpPr txBox="1"/>
          <p:nvPr/>
        </p:nvSpPr>
        <p:spPr>
          <a:xfrm>
            <a:off x="4937760" y="10515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tx2"/>
                </a:solidFill>
              </a:rPr>
              <a:t>Cómo funciona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4937760" y="1554480"/>
            <a:ext cx="3657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/>
            </a:pPr>
            <a:r>
              <a:rPr lang="en-US" sz="1400" dirty="0">
                <a:solidFill>
                  <a:schemeClr val="tx1"/>
                </a:solidFill>
              </a:rPr>
              <a:t>El proveedor publica su contrato.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/>
            </a:pPr>
            <a:r>
              <a:rPr lang="en-US" sz="1400" dirty="0">
                <a:solidFill>
                  <a:schemeClr val="tx1"/>
                </a:solidFill>
              </a:rPr>
              <a:t>El consumidor busca el servicio.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/>
            </a:pPr>
            <a:r>
              <a:rPr lang="en-US" sz="1400" dirty="0">
                <a:solidFill>
                  <a:schemeClr val="tx1"/>
                </a:solidFill>
              </a:rPr>
              <a:t>Envía un mensaje (SOAP/XML o REST/JSON) por HTTP o colas.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/>
            </a:pPr>
            <a:r>
              <a:rPr lang="en-US" sz="1400" dirty="0">
                <a:solidFill>
                  <a:schemeClr val="tx1"/>
                </a:solidFill>
              </a:rPr>
              <a:t>El proveedor responde; su código interno no se ve.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937760" y="38404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tx2"/>
                </a:solidFill>
              </a:rPr>
              <a:t>Además: </a:t>
            </a:r>
            <a:r>
              <a:rPr lang="en-US" sz="1400" dirty="0">
                <a:solidFill>
                  <a:schemeClr val="tx1"/>
                </a:solidFill>
              </a:rPr>
              <a:t>los servicios no guardan estado y funcionan en distintas plataformas.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tx2"/>
                </a:solidFill>
              </a:rPr>
              <a:t>3. SOA: Diagrama</a:t>
            </a:r>
            <a:endParaRPr lang="en-US" sz="3400" dirty="0"/>
          </a:p>
        </p:txBody>
      </p:sp>
      <p:sp>
        <p:nvSpPr>
          <p:cNvPr id="3" name="Registro de servicios"/>
          <p:cNvSpPr/>
          <p:nvPr/>
        </p:nvSpPr>
        <p:spPr>
          <a:xfrm>
            <a:off x="1737360" y="1371600"/>
            <a:ext cx="2560320" cy="640080"/>
          </a:xfrm>
          <a:prstGeom prst="rect">
            <a:avLst/>
          </a:prstGeom>
          <a:solidFill>
            <a:schemeClr val="accent1"/>
          </a:solidFill>
          <a:ln w="15875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4" name="Text 2"/>
          <p:cNvSpPr txBox="1"/>
          <p:nvPr/>
        </p:nvSpPr>
        <p:spPr>
          <a:xfrm>
            <a:off x="1737360" y="137160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Registro de servicios</a:t>
            </a:r>
            <a:endParaRPr lang="en-US" sz="1200" dirty="0"/>
          </a:p>
        </p:txBody>
      </p:sp>
      <p:sp>
        <p:nvSpPr>
          <p:cNvPr id="5" name="Consumidor"/>
          <p:cNvSpPr/>
          <p:nvPr/>
        </p:nvSpPr>
        <p:spPr>
          <a:xfrm>
            <a:off x="548640" y="3108960"/>
            <a:ext cx="1828800" cy="731520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6" name="Text 4"/>
          <p:cNvSpPr txBox="1"/>
          <p:nvPr/>
        </p:nvSpPr>
        <p:spPr>
          <a:xfrm>
            <a:off x="548640" y="310896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tx1"/>
                </a:solidFill>
              </a:rPr>
              <a:t>Consumidor</a:t>
            </a:r>
            <a:endParaRPr lang="en-US" sz="1200" dirty="0"/>
          </a:p>
        </p:txBody>
      </p:sp>
      <p:sp>
        <p:nvSpPr>
          <p:cNvPr id="7" name="Proveedor"/>
          <p:cNvSpPr/>
          <p:nvPr/>
        </p:nvSpPr>
        <p:spPr>
          <a:xfrm>
            <a:off x="3657600" y="3108960"/>
            <a:ext cx="1828800" cy="731520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8" name="Text 6"/>
          <p:cNvSpPr txBox="1"/>
          <p:nvPr/>
        </p:nvSpPr>
        <p:spPr>
          <a:xfrm>
            <a:off x="3657600" y="310896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tx1"/>
                </a:solidFill>
              </a:rPr>
              <a:t>Proveedor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 flipV="1">
            <a:off x="1463040" y="2011680"/>
            <a:ext cx="640080" cy="109728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 lang="es-419"/>
          </a:p>
        </p:txBody>
      </p:sp>
      <p:sp>
        <p:nvSpPr>
          <p:cNvPr id="10" name="Shape 8"/>
          <p:cNvSpPr/>
          <p:nvPr/>
        </p:nvSpPr>
        <p:spPr>
          <a:xfrm>
            <a:off x="3931920" y="2011680"/>
            <a:ext cx="640080" cy="109728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headEnd type="triangle"/>
            <a:tailEnd type="none"/>
          </a:ln>
        </p:spPr>
        <p:txBody>
          <a:bodyPr/>
          <a:lstStyle/>
          <a:p>
            <a:endParaRPr lang="es-419"/>
          </a:p>
        </p:txBody>
      </p:sp>
      <p:sp>
        <p:nvSpPr>
          <p:cNvPr id="11" name="Shape 9"/>
          <p:cNvSpPr/>
          <p:nvPr/>
        </p:nvSpPr>
        <p:spPr>
          <a:xfrm>
            <a:off x="2377440" y="3310128"/>
            <a:ext cx="1280160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 lang="es-419"/>
          </a:p>
        </p:txBody>
      </p:sp>
      <p:sp>
        <p:nvSpPr>
          <p:cNvPr id="12" name="Shape 10"/>
          <p:cNvSpPr/>
          <p:nvPr/>
        </p:nvSpPr>
        <p:spPr>
          <a:xfrm>
            <a:off x="2377440" y="3657600"/>
            <a:ext cx="1280160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headEnd type="triangle"/>
            <a:tailEnd type="none"/>
          </a:ln>
        </p:spPr>
        <p:txBody>
          <a:bodyPr/>
          <a:lstStyle/>
          <a:p>
            <a:endParaRPr lang="es-419"/>
          </a:p>
        </p:txBody>
      </p:sp>
      <p:sp>
        <p:nvSpPr>
          <p:cNvPr id="13" name="Text 11"/>
          <p:cNvSpPr txBox="1"/>
          <p:nvPr/>
        </p:nvSpPr>
        <p:spPr>
          <a:xfrm>
            <a:off x="548640" y="2423160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200" dirty="0">
                <a:solidFill>
                  <a:schemeClr val="tx1"/>
                </a:solidFill>
              </a:rPr>
              <a:t>2 busca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526280" y="242316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1 publica contrato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2377440" y="301752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tx1"/>
                </a:solidFill>
              </a:rPr>
              <a:t>3 invoca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2377440" y="3730752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tx1"/>
                </a:solidFill>
              </a:rPr>
              <a:t>4 responde</a:t>
            </a:r>
            <a:endParaRPr lang="en-US" sz="1200" dirty="0"/>
          </a:p>
        </p:txBody>
      </p:sp>
      <p:sp>
        <p:nvSpPr>
          <p:cNvPr id="17" name="Separador"/>
          <p:cNvSpPr/>
          <p:nvPr/>
        </p:nvSpPr>
        <p:spPr>
          <a:xfrm>
            <a:off x="6126480" y="1097280"/>
            <a:ext cx="0" cy="347472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18" name="Text 16"/>
          <p:cNvSpPr txBox="1"/>
          <p:nvPr/>
        </p:nvSpPr>
        <p:spPr>
          <a:xfrm>
            <a:off x="6355080" y="1371600"/>
            <a:ext cx="22860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1 </a:t>
            </a:r>
            <a:r>
              <a:rPr lang="en-US" sz="1400" dirty="0">
                <a:solidFill>
                  <a:schemeClr val="tx1"/>
                </a:solidFill>
              </a:rPr>
              <a:t>El proveedor publica su contrato en el registro.</a:t>
            </a:r>
            <a:endParaRPr lang="en-US" sz="14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2 </a:t>
            </a:r>
            <a:r>
              <a:rPr lang="en-US" sz="1400" dirty="0">
                <a:solidFill>
                  <a:schemeClr val="tx1"/>
                </a:solidFill>
              </a:rPr>
              <a:t>El consumidor busca el servicio.</a:t>
            </a:r>
            <a:endParaRPr lang="en-US" sz="14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3 </a:t>
            </a:r>
            <a:r>
              <a:rPr lang="en-US" sz="1400" dirty="0">
                <a:solidFill>
                  <a:schemeClr val="tx1"/>
                </a:solidFill>
              </a:rPr>
              <a:t>Lo invoca con un mensaje.</a:t>
            </a:r>
            <a:endParaRPr lang="en-US" sz="14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4 </a:t>
            </a:r>
            <a:r>
              <a:rPr lang="en-US" sz="1400" dirty="0">
                <a:solidFill>
                  <a:schemeClr val="tx1"/>
                </a:solidFill>
              </a:rPr>
              <a:t>El proveedor responde.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0DC3A5-6E25-0CE9-42A0-C50E0565D0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762A2209-5066-A9B5-3E35-5ED7D290F26D}"/>
              </a:ext>
            </a:extLst>
          </p:cNvPr>
          <p:cNvSpPr>
            <a:spLocks noGrp="1"/>
          </p:cNvSpPr>
          <p:nvPr>
            <p:ph type="title" idx="100" hasCustomPrompt="1"/>
          </p:nvPr>
        </p:nvSpPr>
        <p:spPr>
          <a:xfrm>
            <a:off x="731520" y="1463040"/>
            <a:ext cx="7680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chemeClr val="bg1"/>
                </a:solidFill>
              </a:rPr>
              <a:t>Patrones Observer y Mediator</a:t>
            </a:r>
            <a:endParaRPr lang="en-US" sz="4000" dirty="0"/>
          </a:p>
        </p:txBody>
      </p:sp>
    </p:spTree>
    <p:extLst>
      <p:ext uri="{BB962C8B-B14F-4D97-AF65-F5344CB8AC3E}">
        <p14:creationId xmlns:p14="http://schemas.microsoft.com/office/powerpoint/2010/main" val="15187989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tx2"/>
                </a:solidFill>
              </a:rPr>
              <a:t>1. </a:t>
            </a:r>
            <a:r>
              <a:rPr lang="en-US" sz="3400" b="1" dirty="0" err="1">
                <a:solidFill>
                  <a:schemeClr val="tx2"/>
                </a:solidFill>
              </a:rPr>
              <a:t>Patrones</a:t>
            </a:r>
            <a:r>
              <a:rPr lang="en-US" sz="3400" b="1" dirty="0">
                <a:solidFill>
                  <a:schemeClr val="tx2"/>
                </a:solidFill>
              </a:rPr>
              <a:t>: Definición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tx2"/>
                </a:solidFill>
              </a:rPr>
              <a:t>Observer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4846320" y="105156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tx2"/>
                </a:solidFill>
              </a:rPr>
              <a:t>Mediator</a:t>
            </a:r>
            <a:endParaRPr lang="en-US" sz="2000" dirty="0"/>
          </a:p>
        </p:txBody>
      </p:sp>
      <p:sp>
        <p:nvSpPr>
          <p:cNvPr id="5" name="Separador"/>
          <p:cNvSpPr/>
          <p:nvPr/>
        </p:nvSpPr>
        <p:spPr>
          <a:xfrm>
            <a:off x="4526280" y="1097280"/>
            <a:ext cx="0" cy="347472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6" name="Text 4"/>
          <p:cNvSpPr txBox="1"/>
          <p:nvPr/>
        </p:nvSpPr>
        <p:spPr>
          <a:xfrm>
            <a:off x="548640" y="1508760"/>
            <a:ext cx="37490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Qué es: </a:t>
            </a:r>
            <a:r>
              <a:rPr lang="en-US" sz="1400" dirty="0">
                <a:solidFill>
                  <a:schemeClr val="tx1"/>
                </a:solidFill>
              </a:rPr>
              <a:t>relación uno a muchos; si el Subject cambia, avisa a todos sus Observers.</a:t>
            </a:r>
            <a:endParaRPr lang="en-US" sz="14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Metáfora: </a:t>
            </a:r>
            <a:r>
              <a:rPr lang="en-US" sz="1400" dirty="0">
                <a:solidFill>
                  <a:schemeClr val="tx1"/>
                </a:solidFill>
              </a:rPr>
              <a:t>un canal de YouTube y sus suscriptores.</a:t>
            </a:r>
            <a:endParaRPr lang="en-US" sz="14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Sirve para: </a:t>
            </a:r>
            <a:r>
              <a:rPr lang="en-US" sz="1400" dirty="0">
                <a:solidFill>
                  <a:schemeClr val="tx1"/>
                </a:solidFill>
              </a:rPr>
              <a:t>reaccionar a cambios sin que el emisor conozca a quién avisa.</a:t>
            </a:r>
            <a:endParaRPr lang="en-US" sz="14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En SOA: </a:t>
            </a:r>
            <a:r>
              <a:rPr lang="en-US" sz="1400" dirty="0">
                <a:solidFill>
                  <a:schemeClr val="tx1"/>
                </a:solidFill>
              </a:rPr>
              <a:t>publish/subscribe con un broker (RabbitMQ, Kafka).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846320" y="1508760"/>
            <a:ext cx="37490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Qué es: </a:t>
            </a:r>
            <a:r>
              <a:rPr lang="en-US" sz="1400" dirty="0">
                <a:solidFill>
                  <a:schemeClr val="tx1"/>
                </a:solidFill>
              </a:rPr>
              <a:t>un intermediario que centraliza la comunicación entre componentes.</a:t>
            </a:r>
            <a:endParaRPr lang="en-US" sz="14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Metáfora: </a:t>
            </a:r>
            <a:r>
              <a:rPr lang="en-US" sz="1400" dirty="0">
                <a:solidFill>
                  <a:schemeClr val="tx1"/>
                </a:solidFill>
              </a:rPr>
              <a:t>la torre de control de un aeropuerto.</a:t>
            </a:r>
            <a:endParaRPr lang="en-US" sz="14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Sirve para: </a:t>
            </a:r>
            <a:r>
              <a:rPr lang="en-US" sz="1400" dirty="0">
                <a:solidFill>
                  <a:schemeClr val="tx1"/>
                </a:solidFill>
              </a:rPr>
              <a:t>evitar una maraña de dependencias y coordinar en un solo lugar.</a:t>
            </a:r>
            <a:endParaRPr lang="en-US" sz="14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En SOA: </a:t>
            </a:r>
            <a:r>
              <a:rPr lang="en-US" sz="1400" dirty="0">
                <a:solidFill>
                  <a:schemeClr val="tx1"/>
                </a:solidFill>
              </a:rPr>
              <a:t>orquestador, ESB o API Gateway.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tx2"/>
                </a:solidFill>
              </a:rPr>
              <a:t>2. </a:t>
            </a:r>
            <a:r>
              <a:rPr lang="en-US" sz="3400" b="1" dirty="0" err="1">
                <a:solidFill>
                  <a:schemeClr val="tx2"/>
                </a:solidFill>
              </a:rPr>
              <a:t>Patrones</a:t>
            </a:r>
            <a:r>
              <a:rPr lang="en-US" sz="3400" b="1" dirty="0">
                <a:solidFill>
                  <a:schemeClr val="tx2"/>
                </a:solidFill>
              </a:rPr>
              <a:t>: Características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tx2"/>
                </a:solidFill>
              </a:rPr>
              <a:t>Observer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4846320" y="105156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tx2"/>
                </a:solidFill>
              </a:rPr>
              <a:t>Mediator</a:t>
            </a:r>
            <a:endParaRPr lang="en-US" sz="2000" dirty="0"/>
          </a:p>
        </p:txBody>
      </p:sp>
      <p:sp>
        <p:nvSpPr>
          <p:cNvPr id="5" name="Separador"/>
          <p:cNvSpPr/>
          <p:nvPr/>
        </p:nvSpPr>
        <p:spPr>
          <a:xfrm>
            <a:off x="4526280" y="1097280"/>
            <a:ext cx="0" cy="347472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6" name="Text 4"/>
          <p:cNvSpPr txBox="1"/>
          <p:nvPr/>
        </p:nvSpPr>
        <p:spPr>
          <a:xfrm>
            <a:off x="548640" y="1508760"/>
            <a:ext cx="37490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500"/>
              </a:spcAft>
              <a:buNone/>
            </a:pPr>
            <a:r>
              <a:rPr lang="en-US" sz="1300" b="1" dirty="0">
                <a:solidFill>
                  <a:schemeClr val="tx2"/>
                </a:solidFill>
              </a:rPr>
              <a:t>Componentes: </a:t>
            </a:r>
            <a:r>
              <a:rPr lang="en-US" sz="1300" dirty="0">
                <a:solidFill>
                  <a:schemeClr val="tx1"/>
                </a:solidFill>
              </a:rPr>
              <a:t>Subject, Observer, subscribe(), unsubscribe(), notify() y update().</a:t>
            </a:r>
            <a:endParaRPr lang="en-US" sz="13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300" b="1" dirty="0">
                <a:solidFill>
                  <a:schemeClr val="tx2"/>
                </a:solidFill>
              </a:rPr>
              <a:t>Por dentro: </a:t>
            </a:r>
            <a:r>
              <a:rPr lang="en-US" sz="1300" dirty="0">
                <a:solidFill>
                  <a:schemeClr val="tx1"/>
                </a:solidFill>
              </a:rPr>
              <a:t>el Subject guarda una lista de observadores y la recorre al notificar: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/>
            </a:pPr>
            <a:r>
              <a:rPr lang="en-US" sz="1300" dirty="0">
                <a:solidFill>
                  <a:schemeClr val="tx1"/>
                </a:solidFill>
              </a:rPr>
              <a:t>se registran con subscribe()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/>
            </a:pPr>
            <a:r>
              <a:rPr lang="en-US" sz="1300" dirty="0">
                <a:solidFill>
                  <a:schemeClr val="tx1"/>
                </a:solidFill>
              </a:rPr>
              <a:t>cambia el estado y llama notify()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/>
            </a:pPr>
            <a:r>
              <a:rPr lang="en-US" sz="1300" dirty="0">
                <a:solidFill>
                  <a:schemeClr val="tx1"/>
                </a:solidFill>
              </a:rPr>
              <a:t>cada uno recibe update()</a:t>
            </a:r>
            <a:endParaRPr lang="en-US" sz="1300" dirty="0"/>
          </a:p>
          <a:p>
            <a:pPr marL="0" indent="0">
              <a:spcAft>
                <a:spcPts val="500"/>
              </a:spcAft>
              <a:buNone/>
            </a:pPr>
            <a:endParaRPr lang="en-US" sz="13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300" b="1" dirty="0">
                <a:solidFill>
                  <a:schemeClr val="tx2"/>
                </a:solidFill>
              </a:rPr>
              <a:t>En SOA: </a:t>
            </a:r>
            <a:r>
              <a:rPr lang="en-US" sz="1300" dirty="0">
                <a:solidFill>
                  <a:schemeClr val="tx1"/>
                </a:solidFill>
              </a:rPr>
              <a:t>el broker hace de lista y entrega el evento a cada suscriptor.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846320" y="1508760"/>
            <a:ext cx="37490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500"/>
              </a:spcAft>
              <a:buNone/>
            </a:pPr>
            <a:r>
              <a:rPr lang="en-US" sz="1300" b="1" dirty="0">
                <a:solidFill>
                  <a:schemeClr val="tx2"/>
                </a:solidFill>
              </a:rPr>
              <a:t>Componentes: </a:t>
            </a:r>
            <a:r>
              <a:rPr lang="en-US" sz="1300" dirty="0">
                <a:solidFill>
                  <a:schemeClr val="tx1"/>
                </a:solidFill>
              </a:rPr>
              <a:t>interfaz Mediator, mediador concreto y Colleagues.</a:t>
            </a:r>
            <a:endParaRPr lang="en-US" sz="13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300" b="1" dirty="0">
                <a:solidFill>
                  <a:schemeClr val="tx2"/>
                </a:solidFill>
              </a:rPr>
              <a:t>Por dentro: </a:t>
            </a:r>
            <a:r>
              <a:rPr lang="en-US" sz="1300" dirty="0">
                <a:solidFill>
                  <a:schemeClr val="tx1"/>
                </a:solidFill>
              </a:rPr>
              <a:t>los Colleagues solo conocen al mediador: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/>
            </a:pPr>
            <a:r>
              <a:rPr lang="en-US" sz="1300" dirty="0">
                <a:solidFill>
                  <a:schemeClr val="tx1"/>
                </a:solidFill>
              </a:rPr>
              <a:t>un Colleague le avisa lo que necesita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/>
            </a:pPr>
            <a:r>
              <a:rPr lang="en-US" sz="1300" dirty="0">
                <a:solidFill>
                  <a:schemeClr val="tx1"/>
                </a:solidFill>
              </a:rPr>
              <a:t>el mediador decide a quién, en qué orden y con qué reglas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/>
            </a:pPr>
            <a:r>
              <a:rPr lang="en-US" sz="1300" dirty="0">
                <a:solidFill>
                  <a:schemeClr val="tx1"/>
                </a:solidFill>
              </a:rPr>
              <a:t>los demás responden al mediador</a:t>
            </a:r>
            <a:endParaRPr lang="en-US" sz="1300" dirty="0"/>
          </a:p>
          <a:p>
            <a:pPr marL="0" indent="0">
              <a:spcAft>
                <a:spcPts val="500"/>
              </a:spcAft>
              <a:buNone/>
            </a:pPr>
            <a:endParaRPr lang="en-US" sz="13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300" b="1" dirty="0">
                <a:solidFill>
                  <a:schemeClr val="tx2"/>
                </a:solidFill>
              </a:rPr>
              <a:t>En SOA: </a:t>
            </a:r>
            <a:r>
              <a:rPr lang="en-US" sz="1300" dirty="0">
                <a:solidFill>
                  <a:schemeClr val="tx1"/>
                </a:solidFill>
              </a:rPr>
              <a:t>el ESB o gateway enruta, transforma y coordina.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tx2"/>
                </a:solidFill>
              </a:rPr>
              <a:t>3. </a:t>
            </a:r>
            <a:r>
              <a:rPr lang="en-US" sz="3400" b="1" dirty="0" err="1">
                <a:solidFill>
                  <a:schemeClr val="tx2"/>
                </a:solidFill>
              </a:rPr>
              <a:t>Patrones</a:t>
            </a:r>
            <a:r>
              <a:rPr lang="en-US" sz="3400" b="1" dirty="0">
                <a:solidFill>
                  <a:schemeClr val="tx2"/>
                </a:solidFill>
              </a:rPr>
              <a:t>: Diagramas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tx2"/>
                </a:solidFill>
              </a:rPr>
              <a:t>Observer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4846320" y="105156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tx2"/>
                </a:solidFill>
              </a:rPr>
              <a:t>Mediator</a:t>
            </a:r>
            <a:endParaRPr lang="en-US" sz="2000" dirty="0"/>
          </a:p>
        </p:txBody>
      </p:sp>
      <p:sp>
        <p:nvSpPr>
          <p:cNvPr id="5" name="Separador"/>
          <p:cNvSpPr/>
          <p:nvPr/>
        </p:nvSpPr>
        <p:spPr>
          <a:xfrm>
            <a:off x="4526280" y="1097280"/>
            <a:ext cx="0" cy="3474720"/>
          </a:xfrm>
          <a:prstGeom prst="line">
            <a:avLst/>
          </a:prstGeom>
          <a:noFill/>
          <a:ln w="12700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6" name="Subject notify()"/>
          <p:cNvSpPr/>
          <p:nvPr/>
        </p:nvSpPr>
        <p:spPr>
          <a:xfrm>
            <a:off x="548640" y="1920240"/>
            <a:ext cx="1371600" cy="1280160"/>
          </a:xfrm>
          <a:prstGeom prst="rect">
            <a:avLst/>
          </a:prstGeom>
          <a:solidFill>
            <a:schemeClr val="accent1"/>
          </a:solidFill>
          <a:ln w="15875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7" name="Text 5"/>
          <p:cNvSpPr txBox="1"/>
          <p:nvPr/>
        </p:nvSpPr>
        <p:spPr>
          <a:xfrm>
            <a:off x="548640" y="1920240"/>
            <a:ext cx="1371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Subject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notify()</a:t>
            </a:r>
            <a:endParaRPr lang="en-US" sz="1200" dirty="0"/>
          </a:p>
        </p:txBody>
      </p:sp>
      <p:sp>
        <p:nvSpPr>
          <p:cNvPr id="8" name="Observer A"/>
          <p:cNvSpPr/>
          <p:nvPr/>
        </p:nvSpPr>
        <p:spPr>
          <a:xfrm>
            <a:off x="2926080" y="1463040"/>
            <a:ext cx="1371600" cy="548640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9" name="Text 7"/>
          <p:cNvSpPr txBox="1"/>
          <p:nvPr/>
        </p:nvSpPr>
        <p:spPr>
          <a:xfrm>
            <a:off x="2926080" y="146304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tx1"/>
                </a:solidFill>
              </a:rPr>
              <a:t>Observer A</a:t>
            </a:r>
            <a:endParaRPr lang="en-US" sz="1200" dirty="0"/>
          </a:p>
        </p:txBody>
      </p:sp>
      <p:sp>
        <p:nvSpPr>
          <p:cNvPr id="10" name="Observer B"/>
          <p:cNvSpPr/>
          <p:nvPr/>
        </p:nvSpPr>
        <p:spPr>
          <a:xfrm>
            <a:off x="2926080" y="2286000"/>
            <a:ext cx="1371600" cy="548640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11" name="Text 9"/>
          <p:cNvSpPr txBox="1"/>
          <p:nvPr/>
        </p:nvSpPr>
        <p:spPr>
          <a:xfrm>
            <a:off x="2926080" y="228600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tx1"/>
                </a:solidFill>
              </a:rPr>
              <a:t>Observer B</a:t>
            </a:r>
            <a:endParaRPr lang="en-US" sz="1200" dirty="0"/>
          </a:p>
        </p:txBody>
      </p:sp>
      <p:sp>
        <p:nvSpPr>
          <p:cNvPr id="12" name="Observer C"/>
          <p:cNvSpPr/>
          <p:nvPr/>
        </p:nvSpPr>
        <p:spPr>
          <a:xfrm>
            <a:off x="2926080" y="3108960"/>
            <a:ext cx="1371600" cy="548640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13" name="Text 11"/>
          <p:cNvSpPr txBox="1"/>
          <p:nvPr/>
        </p:nvSpPr>
        <p:spPr>
          <a:xfrm>
            <a:off x="2926080" y="310896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tx1"/>
                </a:solidFill>
              </a:rPr>
              <a:t>Observer C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 flipV="1">
            <a:off x="1920240" y="1737360"/>
            <a:ext cx="1005840" cy="82296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 lang="es-419"/>
          </a:p>
        </p:txBody>
      </p:sp>
      <p:sp>
        <p:nvSpPr>
          <p:cNvPr id="15" name="Shape 13"/>
          <p:cNvSpPr/>
          <p:nvPr/>
        </p:nvSpPr>
        <p:spPr>
          <a:xfrm>
            <a:off x="1920240" y="2560320"/>
            <a:ext cx="1005840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 lang="es-419"/>
          </a:p>
        </p:txBody>
      </p:sp>
      <p:sp>
        <p:nvSpPr>
          <p:cNvPr id="16" name="Shape 14"/>
          <p:cNvSpPr/>
          <p:nvPr/>
        </p:nvSpPr>
        <p:spPr>
          <a:xfrm>
            <a:off x="1920240" y="2560320"/>
            <a:ext cx="1005840" cy="82296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tailEnd type="triangle"/>
          </a:ln>
        </p:spPr>
        <p:txBody>
          <a:bodyPr/>
          <a:lstStyle/>
          <a:p>
            <a:endParaRPr lang="es-419"/>
          </a:p>
        </p:txBody>
      </p:sp>
      <p:sp>
        <p:nvSpPr>
          <p:cNvPr id="17" name="Mediator"/>
          <p:cNvSpPr/>
          <p:nvPr/>
        </p:nvSpPr>
        <p:spPr>
          <a:xfrm>
            <a:off x="5943600" y="1463040"/>
            <a:ext cx="1554480" cy="640080"/>
          </a:xfrm>
          <a:prstGeom prst="rect">
            <a:avLst/>
          </a:prstGeom>
          <a:solidFill>
            <a:schemeClr val="accent1"/>
          </a:solidFill>
          <a:ln w="15875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18" name="Text 16"/>
          <p:cNvSpPr txBox="1"/>
          <p:nvPr/>
        </p:nvSpPr>
        <p:spPr>
          <a:xfrm>
            <a:off x="5943600" y="146304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Mediator</a:t>
            </a:r>
            <a:endParaRPr lang="en-US" sz="1200" dirty="0"/>
          </a:p>
        </p:txBody>
      </p:sp>
      <p:sp>
        <p:nvSpPr>
          <p:cNvPr id="19" name="Colleague A"/>
          <p:cNvSpPr/>
          <p:nvPr/>
        </p:nvSpPr>
        <p:spPr>
          <a:xfrm>
            <a:off x="4846320" y="2926080"/>
            <a:ext cx="1097280" cy="640080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20" name="Text 18"/>
          <p:cNvSpPr txBox="1"/>
          <p:nvPr/>
        </p:nvSpPr>
        <p:spPr>
          <a:xfrm>
            <a:off x="4846320" y="292608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tx1"/>
                </a:solidFill>
              </a:rPr>
              <a:t>Colleague A</a:t>
            </a:r>
            <a:endParaRPr lang="en-US" sz="1200" dirty="0"/>
          </a:p>
        </p:txBody>
      </p:sp>
      <p:sp>
        <p:nvSpPr>
          <p:cNvPr id="21" name="Colleague B"/>
          <p:cNvSpPr/>
          <p:nvPr/>
        </p:nvSpPr>
        <p:spPr>
          <a:xfrm>
            <a:off x="6172200" y="2926080"/>
            <a:ext cx="1097280" cy="640080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22" name="Text 20"/>
          <p:cNvSpPr txBox="1"/>
          <p:nvPr/>
        </p:nvSpPr>
        <p:spPr>
          <a:xfrm>
            <a:off x="6172200" y="292608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tx1"/>
                </a:solidFill>
              </a:rPr>
              <a:t>Colleague B</a:t>
            </a:r>
            <a:endParaRPr lang="en-US" sz="1200" dirty="0"/>
          </a:p>
        </p:txBody>
      </p:sp>
      <p:sp>
        <p:nvSpPr>
          <p:cNvPr id="23" name="Colleague C"/>
          <p:cNvSpPr/>
          <p:nvPr/>
        </p:nvSpPr>
        <p:spPr>
          <a:xfrm>
            <a:off x="7498080" y="2926080"/>
            <a:ext cx="1097280" cy="640080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24" name="Text 22"/>
          <p:cNvSpPr txBox="1"/>
          <p:nvPr/>
        </p:nvSpPr>
        <p:spPr>
          <a:xfrm>
            <a:off x="7498080" y="292608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tx1"/>
                </a:solidFill>
              </a:rPr>
              <a:t>Colleague C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 flipV="1">
            <a:off x="5394960" y="2103120"/>
            <a:ext cx="822960" cy="82296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headEnd type="triangle"/>
            <a:tailEnd type="triangle"/>
          </a:ln>
        </p:spPr>
        <p:txBody>
          <a:bodyPr/>
          <a:lstStyle/>
          <a:p>
            <a:endParaRPr lang="es-419"/>
          </a:p>
        </p:txBody>
      </p:sp>
      <p:sp>
        <p:nvSpPr>
          <p:cNvPr id="26" name="Shape 24"/>
          <p:cNvSpPr/>
          <p:nvPr/>
        </p:nvSpPr>
        <p:spPr>
          <a:xfrm>
            <a:off x="6720840" y="2103120"/>
            <a:ext cx="0" cy="82296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headEnd type="triangle"/>
            <a:tailEnd type="triangle"/>
          </a:ln>
        </p:spPr>
        <p:txBody>
          <a:bodyPr/>
          <a:lstStyle/>
          <a:p>
            <a:endParaRPr lang="es-419"/>
          </a:p>
        </p:txBody>
      </p:sp>
      <p:sp>
        <p:nvSpPr>
          <p:cNvPr id="27" name="Shape 25"/>
          <p:cNvSpPr/>
          <p:nvPr/>
        </p:nvSpPr>
        <p:spPr>
          <a:xfrm>
            <a:off x="7223760" y="2103120"/>
            <a:ext cx="822960" cy="82296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headEnd type="triangle"/>
            <a:tailEnd type="triangle"/>
          </a:ln>
        </p:spPr>
        <p:txBody>
          <a:bodyPr/>
          <a:lstStyle/>
          <a:p>
            <a:endParaRPr lang="es-419"/>
          </a:p>
        </p:txBody>
      </p:sp>
      <p:sp>
        <p:nvSpPr>
          <p:cNvPr id="28" name="Text 26"/>
          <p:cNvSpPr txBox="1"/>
          <p:nvPr/>
        </p:nvSpPr>
        <p:spPr>
          <a:xfrm>
            <a:off x="548640" y="384048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El Subject avisa a todos sus Observers con notify(). En SOA, el broker entrega el evento.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4846320" y="384048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Todos hablan con el Mediator, que coordina; los Colleagues no se conocen entre sí.</a:t>
            </a:r>
            <a:endParaRPr lang="en-US" sz="1400" dirty="0"/>
          </a:p>
        </p:txBody>
      </p:sp>
      <p:sp>
        <p:nvSpPr>
          <p:cNvPr id="3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61C7DD-AE16-3396-A768-2587145462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91EBC240-CDC5-6022-2777-9FC32B90C690}"/>
              </a:ext>
            </a:extLst>
          </p:cNvPr>
          <p:cNvSpPr>
            <a:spLocks noGrp="1"/>
          </p:cNvSpPr>
          <p:nvPr>
            <p:ph type="title" idx="100" hasCustomPrompt="1"/>
          </p:nvPr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dirty="0"/>
              <a:t>6. </a:t>
            </a:r>
            <a:r>
              <a:rPr lang="en-US" sz="3400" dirty="0" err="1"/>
              <a:t>Demostración</a:t>
            </a:r>
            <a:r>
              <a:rPr lang="en-US" sz="3400" dirty="0"/>
              <a:t> Observer</a:t>
            </a:r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B9A839D4-8AA5-259D-CBA6-6C4F86AE7ADB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9</a:t>
            </a:fld>
            <a:endParaRPr lang="en-US"/>
          </a:p>
        </p:txBody>
      </p:sp>
      <p:sp>
        <p:nvSpPr>
          <p:cNvPr id="4" name="Rounded Rectangle 2">
            <a:extLst>
              <a:ext uri="{FF2B5EF4-FFF2-40B4-BE49-F238E27FC236}">
                <a16:creationId xmlns:a16="http://schemas.microsoft.com/office/drawing/2014/main" id="{9A0D3864-16E3-1F3C-FAA5-52B37E4B911E}"/>
              </a:ext>
            </a:extLst>
          </p:cNvPr>
          <p:cNvSpPr/>
          <p:nvPr/>
        </p:nvSpPr>
        <p:spPr>
          <a:xfrm>
            <a:off x="548640" y="914400"/>
            <a:ext cx="6374674" cy="4069080"/>
          </a:xfrm>
          <a:prstGeom prst="roundRect">
            <a:avLst>
              <a:gd name="adj" fmla="val 4067"/>
            </a:avLst>
          </a:prstGeom>
          <a:solidFill>
            <a:srgbClr val="1A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9660477F-36C8-BC06-0385-E8E72D529B3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7087" t="10007" r="7068" b="9250"/>
          <a:stretch>
            <a:fillRect/>
          </a:stretch>
        </p:blipFill>
        <p:spPr>
          <a:xfrm>
            <a:off x="685800" y="1059848"/>
            <a:ext cx="6080760" cy="37717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25641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0C7E05-BE78-B842-E836-510FEEAA7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AECEB0B-F9DC-14B5-6015-7D9A3ABD2120}"/>
              </a:ext>
            </a:extLst>
          </p:cNvPr>
          <p:cNvSpPr>
            <a:spLocks noGrp="1"/>
          </p:cNvSpPr>
          <p:nvPr>
            <p:ph type="title" idx="100" hasCustomPrompt="1"/>
          </p:nvPr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dirty="0"/>
              <a:t>7. </a:t>
            </a:r>
            <a:r>
              <a:rPr lang="en-US" dirty="0" err="1"/>
              <a:t>Conclusión</a:t>
            </a:r>
            <a:r>
              <a:rPr lang="en-US" dirty="0"/>
              <a:t>: </a:t>
            </a:r>
            <a:r>
              <a:rPr lang="en-US" dirty="0" err="1"/>
              <a:t>criterios</a:t>
            </a:r>
            <a:r>
              <a:rPr lang="en-US" dirty="0"/>
              <a:t> de </a:t>
            </a:r>
            <a:r>
              <a:rPr lang="en-US" dirty="0" err="1"/>
              <a:t>decisión</a:t>
            </a:r>
            <a:endParaRPr lang="en-US" sz="3400" dirty="0"/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0370077A-DFE5-09B5-E395-1B38556EC4C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10</a:t>
            </a:fld>
            <a:endParaRPr lang="en-US"/>
          </a:p>
        </p:txBody>
      </p:sp>
      <p:graphicFrame>
        <p:nvGraphicFramePr>
          <p:cNvPr id="24" name="Tabla 23">
            <a:extLst>
              <a:ext uri="{FF2B5EF4-FFF2-40B4-BE49-F238E27FC236}">
                <a16:creationId xmlns:a16="http://schemas.microsoft.com/office/drawing/2014/main" id="{47799EC9-0DE0-BC6F-2937-92681DD880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01330749"/>
              </p:ext>
            </p:extLst>
          </p:nvPr>
        </p:nvGraphicFramePr>
        <p:xfrm>
          <a:off x="548640" y="1134110"/>
          <a:ext cx="8046721" cy="296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95251">
                  <a:extLst>
                    <a:ext uri="{9D8B030D-6E8A-4147-A177-3AD203B41FA5}">
                      <a16:colId xmlns:a16="http://schemas.microsoft.com/office/drawing/2014/main" val="2693359899"/>
                    </a:ext>
                  </a:extLst>
                </a:gridCol>
                <a:gridCol w="2751230">
                  <a:extLst>
                    <a:ext uri="{9D8B030D-6E8A-4147-A177-3AD203B41FA5}">
                      <a16:colId xmlns:a16="http://schemas.microsoft.com/office/drawing/2014/main" val="112609293"/>
                    </a:ext>
                  </a:extLst>
                </a:gridCol>
                <a:gridCol w="1883548">
                  <a:extLst>
                    <a:ext uri="{9D8B030D-6E8A-4147-A177-3AD203B41FA5}">
                      <a16:colId xmlns:a16="http://schemas.microsoft.com/office/drawing/2014/main" val="2578955092"/>
                    </a:ext>
                  </a:extLst>
                </a:gridCol>
                <a:gridCol w="2216692">
                  <a:extLst>
                    <a:ext uri="{9D8B030D-6E8A-4147-A177-3AD203B41FA5}">
                      <a16:colId xmlns:a16="http://schemas.microsoft.com/office/drawing/2014/main" val="109932102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s-CO" dirty="0"/>
                        <a:t>Criterio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CO" dirty="0"/>
                        <a:t>SOA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CO" dirty="0" err="1"/>
                        <a:t>Observer</a:t>
                      </a:r>
                      <a:endParaRPr lang="es-CO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CO" dirty="0"/>
                        <a:t>Mediator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523991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CO" sz="1600" dirty="0"/>
                        <a:t>Nivel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CO" sz="1600" dirty="0"/>
                        <a:t>Arquitectura del Sistema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CO" sz="1600" dirty="0"/>
                        <a:t>Diseño del código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CO" sz="1600" dirty="0"/>
                        <a:t>Diseño del código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15342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CO" sz="1600" dirty="0"/>
                        <a:t>Conviene cuando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CO" sz="1600" dirty="0"/>
                        <a:t>Varios sistemas o equipos, integración, escalado por servicio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CO" sz="16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Un cambio debe disparar varias reacciones</a:t>
                      </a:r>
                      <a:endParaRPr lang="es-CO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CO" sz="16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Muchos componentes dependen unos de otros</a:t>
                      </a:r>
                      <a:endParaRPr lang="es-CO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59573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CO" sz="1600" dirty="0"/>
                        <a:t>Evitar cuando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CO" sz="16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App pequeña o un solo equipo</a:t>
                      </a:r>
                      <a:endParaRPr lang="es-CO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CO" sz="16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Se exige orden estricto de ejecución</a:t>
                      </a:r>
                      <a:endParaRPr lang="es-CO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CO" sz="16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Solo hay dos componentes</a:t>
                      </a:r>
                      <a:endParaRPr lang="es-CO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81041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CO" sz="16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Riesgo principal</a:t>
                      </a:r>
                      <a:endParaRPr lang="es-CO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CO" sz="16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Complejidad y latencia</a:t>
                      </a:r>
                      <a:endParaRPr lang="es-CO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CO" sz="16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Cascadas difíciles de depurar</a:t>
                      </a:r>
                      <a:endParaRPr lang="es-CO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CO" sz="16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Mediador sobrecargado</a:t>
                      </a:r>
                      <a:endParaRPr lang="es-CO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6474639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519315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D0FF86-0624-57C6-5343-BA0D3A3984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29F754E8-F711-BC98-F5FC-E895E92F6134}"/>
              </a:ext>
            </a:extLst>
          </p:cNvPr>
          <p:cNvSpPr>
            <a:spLocks noGrp="1"/>
          </p:cNvSpPr>
          <p:nvPr>
            <p:ph type="title" idx="100" hasCustomPrompt="1"/>
          </p:nvPr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dirty="0"/>
              <a:t>7.1 </a:t>
            </a:r>
            <a:r>
              <a:rPr lang="en-US" dirty="0" err="1"/>
              <a:t>Conclusión</a:t>
            </a:r>
            <a:endParaRPr lang="en-US" sz="3400" dirty="0"/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1D467414-34F1-38CB-3B36-74E762D5ABCE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11</a:t>
            </a:fld>
            <a:endParaRPr lang="en-US"/>
          </a:p>
        </p:txBody>
      </p:sp>
      <p:graphicFrame>
        <p:nvGraphicFramePr>
          <p:cNvPr id="24" name="Tabla 23">
            <a:extLst>
              <a:ext uri="{FF2B5EF4-FFF2-40B4-BE49-F238E27FC236}">
                <a16:creationId xmlns:a16="http://schemas.microsoft.com/office/drawing/2014/main" id="{AD78D5E1-78F2-3259-69A2-4B93809D3F3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49578686"/>
              </p:ext>
            </p:extLst>
          </p:nvPr>
        </p:nvGraphicFramePr>
        <p:xfrm>
          <a:off x="548640" y="1134110"/>
          <a:ext cx="782574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13220">
                  <a:extLst>
                    <a:ext uri="{9D8B030D-6E8A-4147-A177-3AD203B41FA5}">
                      <a16:colId xmlns:a16="http://schemas.microsoft.com/office/drawing/2014/main" val="2693359899"/>
                    </a:ext>
                  </a:extLst>
                </a:gridCol>
                <a:gridCol w="1112520">
                  <a:extLst>
                    <a:ext uri="{9D8B030D-6E8A-4147-A177-3AD203B41FA5}">
                      <a16:colId xmlns:a16="http://schemas.microsoft.com/office/drawing/2014/main" val="11260929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s-CO" dirty="0"/>
                        <a:t>Si necesitas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CO" dirty="0"/>
                        <a:t>Usa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523991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CO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Integrar sistemas o equipos independientes que escalan por separado</a:t>
                      </a:r>
                      <a:endParaRPr lang="es-CO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CO" sz="1600" dirty="0"/>
                        <a:t>Soa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15342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CO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Que varios objetos reaccionen a un cambio de estado</a:t>
                      </a:r>
                      <a:endParaRPr lang="es-CO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CO" sz="1600" dirty="0" err="1"/>
                        <a:t>Observer</a:t>
                      </a:r>
                      <a:endParaRPr lang="es-CO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59573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CO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Coordinar muchos componentes que hoy se llaman entre sí</a:t>
                      </a:r>
                      <a:endParaRPr lang="es-CO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CO" sz="16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Mediator</a:t>
                      </a:r>
                      <a:endParaRPr lang="es-CO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8104132"/>
                  </a:ext>
                </a:extLst>
              </a:tr>
            </a:tbl>
          </a:graphicData>
        </a:graphic>
      </p:graphicFrame>
      <p:sp>
        <p:nvSpPr>
          <p:cNvPr id="4" name="Text 4">
            <a:extLst>
              <a:ext uri="{FF2B5EF4-FFF2-40B4-BE49-F238E27FC236}">
                <a16:creationId xmlns:a16="http://schemas.microsoft.com/office/drawing/2014/main" id="{5F80D3CE-653D-9CD9-D860-8D67725B51D6}"/>
              </a:ext>
            </a:extLst>
          </p:cNvPr>
          <p:cNvSpPr txBox="1"/>
          <p:nvPr/>
        </p:nvSpPr>
        <p:spPr>
          <a:xfrm>
            <a:off x="601980" y="2837181"/>
            <a:ext cx="8176260" cy="332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spcAft>
                <a:spcPts val="500"/>
              </a:spcAft>
            </a:pPr>
            <a:r>
              <a:rPr lang="es-CO" sz="1600" b="1" dirty="0">
                <a:solidFill>
                  <a:schemeClr val="tx2"/>
                </a:solidFill>
              </a:rPr>
              <a:t>No compiten:</a:t>
            </a:r>
            <a:r>
              <a:rPr lang="es-CO" sz="1600" dirty="0"/>
              <a:t> se combinan. SOA organiza el sistema; </a:t>
            </a:r>
            <a:r>
              <a:rPr lang="es-CO" sz="1600" dirty="0" err="1"/>
              <a:t>Observer</a:t>
            </a:r>
            <a:r>
              <a:rPr lang="es-CO" sz="1600" dirty="0"/>
              <a:t> y Mediator organizan su código.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195922143"/>
      </p:ext>
    </p:extLst>
  </p:cSld>
  <p:clrMapOvr>
    <a:masterClrMapping/>
  </p:clrMapOvr>
</p:sld>
</file>

<file path=ppt/theme/theme1.xml><?xml version="1.0" encoding="utf-8"?>
<a:theme xmlns:a="http://schemas.openxmlformats.org/drawingml/2006/main" name="Azul">
  <a:themeElements>
    <a:clrScheme name="Azul">
      <a:dk1>
        <a:srgbClr val="222222"/>
      </a:dk1>
      <a:lt1>
        <a:srgbClr val="FFFFFF"/>
      </a:lt1>
      <a:dk2>
        <a:srgbClr val="1F4E9C"/>
      </a:dk2>
      <a:lt2>
        <a:srgbClr val="E8F0FB"/>
      </a:lt2>
      <a:accent1>
        <a:srgbClr val="1F4E9C"/>
      </a:accent1>
      <a:accent2>
        <a:srgbClr val="4A90D9"/>
      </a:accent2>
      <a:accent3>
        <a:srgbClr val="9CC3EE"/>
      </a:accent3>
      <a:accent4>
        <a:srgbClr val="E76F51"/>
      </a:accent4>
      <a:accent5>
        <a:srgbClr val="6C8EAD"/>
      </a:accent5>
      <a:accent6>
        <a:srgbClr val="5B9E6B"/>
      </a:accent6>
      <a:hlink>
        <a:srgbClr val="1F4E9C"/>
      </a:hlink>
      <a:folHlink>
        <a:srgbClr val="6C8EAD"/>
      </a:folHlink>
    </a:clrScheme>
    <a:fontScheme name="Azul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Dark Gradient</Template>
  <TotalTime>139</TotalTime>
  <Words>764</Words>
  <Application>Microsoft Office PowerPoint</Application>
  <PresentationFormat>Presentación en pantalla (16:9)</PresentationFormat>
  <Paragraphs>135</Paragraphs>
  <Slides>11</Slides>
  <Notes>11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11</vt:i4>
      </vt:variant>
    </vt:vector>
  </HeadingPairs>
  <TitlesOfParts>
    <vt:vector size="15" baseType="lpstr">
      <vt:lpstr>Arial</vt:lpstr>
      <vt:lpstr>Calibri</vt:lpstr>
      <vt:lpstr>Mona Sans VF</vt:lpstr>
      <vt:lpstr>Azul</vt:lpstr>
      <vt:lpstr>Arquitectura Orientada a Servicios (SOA)</vt:lpstr>
      <vt:lpstr>1. SOA: Definición</vt:lpstr>
      <vt:lpstr>2. SOA: Características</vt:lpstr>
      <vt:lpstr>3. SOA: Diagrama</vt:lpstr>
      <vt:lpstr>Patrones Observer y Mediator</vt:lpstr>
      <vt:lpstr>1. Patrones: Definición</vt:lpstr>
      <vt:lpstr>2. Patrones: Características</vt:lpstr>
      <vt:lpstr>3. Patrones: Diagramas</vt:lpstr>
      <vt:lpstr>6. Demostración Observer</vt:lpstr>
      <vt:lpstr>7. Conclusión: criterios de decisión</vt:lpstr>
      <vt:lpstr>7.1 Conclusión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SOA: patrones Observer y Mediator</dc:title>
  <dc:subject>PptxGenJS Presentation</dc:subject>
  <dc:creator>PptxGenJS</dc:creator>
  <cp:lastModifiedBy>24_92101060324</cp:lastModifiedBy>
  <cp:revision>6</cp:revision>
  <dcterms:created xsi:type="dcterms:W3CDTF">2026-10-14T14:14:31Z</dcterms:created>
  <dcterms:modified xsi:type="dcterms:W3CDTF">2026-10-15T15:54:53Z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fc111285-cafa-4fc9-8a9a-bd902089b24f_Enabled">
    <vt:lpwstr>true</vt:lpwstr>
  </property>
  <property fmtid="{D5CDD505-2E9C-101B-9397-08002B2CF9AE}" pid="3" name="MSIP_Label_fc111285-cafa-4fc9-8a9a-bd902089b24f_SetDate">
    <vt:lpwstr>2026-10-15T13:57:14Z</vt:lpwstr>
  </property>
  <property fmtid="{D5CDD505-2E9C-101B-9397-08002B2CF9AE}" pid="4" name="MSIP_Label_fc111285-cafa-4fc9-8a9a-bd902089b24f_Method">
    <vt:lpwstr>Privileged</vt:lpwstr>
  </property>
  <property fmtid="{D5CDD505-2E9C-101B-9397-08002B2CF9AE}" pid="5" name="MSIP_Label_fc111285-cafa-4fc9-8a9a-bd902089b24f_Name">
    <vt:lpwstr>Public</vt:lpwstr>
  </property>
  <property fmtid="{D5CDD505-2E9C-101B-9397-08002B2CF9AE}" pid="6" name="MSIP_Label_fc111285-cafa-4fc9-8a9a-bd902089b24f_SiteId">
    <vt:lpwstr>cbc2c381-2f2e-4d93-91d1-506c9316ace7</vt:lpwstr>
  </property>
  <property fmtid="{D5CDD505-2E9C-101B-9397-08002B2CF9AE}" pid="7" name="MSIP_Label_fc111285-cafa-4fc9-8a9a-bd902089b24f_ActionId">
    <vt:lpwstr>467b71e2-0262-4a97-8278-39a3d845f4a1</vt:lpwstr>
  </property>
  <property fmtid="{D5CDD505-2E9C-101B-9397-08002B2CF9AE}" pid="8" name="MSIP_Label_fc111285-cafa-4fc9-8a9a-bd902089b24f_ContentBits">
    <vt:lpwstr>0</vt:lpwstr>
  </property>
  <property fmtid="{D5CDD505-2E9C-101B-9397-08002B2CF9AE}" pid="9" name="MSIP_Label_fc111285-cafa-4fc9-8a9a-bd902089b24f_Tag">
    <vt:lpwstr>10, 0, 1, 1</vt:lpwstr>
  </property>
</Properties>
</file>