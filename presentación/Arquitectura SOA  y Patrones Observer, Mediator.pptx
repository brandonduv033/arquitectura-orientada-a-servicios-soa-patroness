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9" r:id="rId6"/>
    <p:sldId id="260" r:id="rId7"/>
    <p:sldId id="264" r:id="rId8"/>
    <p:sldId id="265" r:id="rId9"/>
    <p:sldId id="274" r:id="rId10"/>
    <p:sldId id="278" r:id="rId11"/>
    <p:sldId id="275" r:id="rId12"/>
    <p:sldId id="276" r:id="rId13"/>
    <p:sldId id="277" r:id="rId14"/>
    <p:sldId id="261" r:id="rId15"/>
    <p:sldId id="262" r:id="rId16"/>
    <p:sldId id="266" r:id="rId17"/>
    <p:sldId id="263" r:id="rId18"/>
    <p:sldId id="269" r:id="rId19"/>
    <p:sldId id="273" r:id="rId20"/>
    <p:sldId id="272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E3B52-FEC4-42BC-B06A-8CABB6F8B49F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2515F-3EE2-4EA1-A46A-FD31DBD2A5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238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3486-1119-D441-CFFA-0D4BF48B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CB646-D7BA-23B8-962E-7F6C14B0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D1F0-1B18-6E38-C383-58D2DD360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B9C84-F9B7-B183-D328-6FA2F158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4E60B-7F9A-9675-77A3-DA1D44A35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1E47B4-048B-D575-500F-E04EED3A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C8C73-ED8F-E36F-1621-8EF758F2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19228-CBA9-6954-F26D-8B5BD23E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57172-F50B-B8B1-A5DA-ADA9BA30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067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ACFD7-6AD2-A602-A46A-9435F882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55D79-9FA4-9B5F-D253-E0554D087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3B26D-D98B-3F8C-000D-63DD181D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36A74-6AC1-E294-E991-88CDC161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348FD-981D-525A-408D-9C1404A9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30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09089-D697-D3BB-26D3-AFA2336D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9D6A36-205A-FB5D-B548-B7EDE1A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D21036-BD16-1980-F12B-A5651C05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8ED95A-AA2A-3F3D-9EB6-867F2992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77395-094F-A6ED-6DF9-6990518E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246E2-6E35-200B-536F-48CEA334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6C3D7-AA58-5B9D-D448-5E570E7BD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A6332F-2A09-7EFA-1A50-ED290739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B8E707-1FAD-25B4-577B-82A20DAC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051302-23AE-7AE4-76B8-F4748DD2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5BCF8-4A75-AEEA-FBE2-1D27CF3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55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8D75A-AC16-7E6D-2835-3D3031DE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3AF6BC-8470-DB8A-74FC-96EACF04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BFA8E6-4AFC-E70A-D731-97E2E9CE6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C7A58-D5B7-A757-F8BB-1888975F6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65CACA-DB87-0334-8D3A-9BE82DD78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95F097-2B41-3575-B245-84C34C67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BAB29F-D579-82C0-FAA5-B4FCA248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D4B9C-02BC-FC81-B29B-39AE4198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37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CCAD3-7DF5-94B1-7CEF-686D535A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827FD4-BFE5-A255-9040-7E4D962F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9CD20F-F8E8-E721-BFDE-59B5F47C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4BAE63-37D6-D1E1-1078-02CD5481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4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43F091-DD49-1555-4CBE-9631012F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02E41E-F808-B0CF-C6AC-BF671933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E1DA9-B9A0-718C-45A1-E06F6E33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80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256B-A11D-AB6B-9F6F-AEA69AB4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140BB-26F5-6153-182A-59925F4E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49A52-5004-F96E-1E6B-C1E0C8321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908898-25C7-1546-7755-260C38E3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D588-EF59-76F1-5DA7-762F36C0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24E04F-7265-5157-F417-1B5C63F5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85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8173-07BF-A28C-F317-6D2AE79E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512064-7370-D1E1-5869-A4DBC9B9B8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554678-0F5F-37E2-EA0C-32095AB6E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0D2B0C-FC2D-D793-6BAE-82262847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06E5D-BADC-8CF2-E8E3-E4A6FEB8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CB6E8C-AA80-1244-7D73-4DBD232F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59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801C-E3BC-4FBE-B0E9-207DE5A6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4D3378-7605-DD38-3B5A-891910F97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4F3B3-5D17-CFA3-8F69-F8F1331D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63431-DDEF-D2BE-F0B9-C08E6EA0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FC611-7935-435D-302C-ADD14AE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72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F743C1-5A8F-685A-6BFF-01CA6974F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8E38B-EE06-89AF-C48F-3EB6C365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94757-D047-CD0D-ADAB-3729E501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A2DB3-2E37-8A31-8092-E6FC0A66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99AEC-59E7-F01F-4C63-15AD4D47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1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5360" y="1950720"/>
            <a:ext cx="10241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333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5333" dirty="0"/>
          </a:p>
        </p:txBody>
      </p:sp>
    </p:spTree>
    <p:extLst>
      <p:ext uri="{BB962C8B-B14F-4D97-AF65-F5344CB8AC3E}">
        <p14:creationId xmlns:p14="http://schemas.microsoft.com/office/powerpoint/2010/main" val="3325857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365760"/>
            <a:ext cx="10728960" cy="85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533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5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EE551A-754E-8EBF-6A69-2FD06746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6F641-D44E-36C0-614B-4DC3307F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7DDFE-FE1E-B9A8-24C0-00D699C04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09D7C-0847-1FAA-8DEF-F91B45E1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C2033-36CA-E140-26E8-1F54C7116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9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s-419" b="1" dirty="0">
                <a:solidFill>
                  <a:srgbClr val="FFFFFF"/>
                </a:solidFill>
                <a:latin typeface="Calibri"/>
              </a:rPr>
              <a:t>Arquitectura Orientada a Servicios (SOA)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FDCA49-15E5-9528-7942-58D1A631B8E2}"/>
              </a:ext>
            </a:extLst>
          </p:cNvPr>
          <p:cNvSpPr txBox="1"/>
          <p:nvPr/>
        </p:nvSpPr>
        <p:spPr>
          <a:xfrm>
            <a:off x="777813" y="418103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600"/>
              </a:spcAft>
            </a:pPr>
            <a:r>
              <a:rPr lang="es-419" sz="1600" b="1" dirty="0">
                <a:solidFill>
                  <a:srgbClr val="FFFFFF"/>
                </a:solidFill>
                <a:latin typeface="Calibri"/>
              </a:rPr>
              <a:t> </a:t>
            </a:r>
            <a:r>
              <a:rPr lang="es-419" sz="2000" b="1" dirty="0">
                <a:solidFill>
                  <a:srgbClr val="FFFFFF"/>
                </a:solidFill>
                <a:latin typeface="Calibri"/>
              </a:rPr>
              <a:t>Integrantes del Equipo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BEC5E6"/>
                </a:solidFill>
                <a:latin typeface="Calibri"/>
              </a:rPr>
              <a:t>David Villanueva Potosí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BEC5E6"/>
                </a:solidFill>
                <a:latin typeface="Calibri"/>
              </a:rPr>
              <a:t>Brandon Duván Guevara Rodríguez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BEC5E6"/>
                </a:solidFill>
                <a:latin typeface="Calibri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1. SOA: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584960"/>
            <a:ext cx="5242560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2000" dirty="0" err="1">
                <a:solidFill>
                  <a:srgbClr val="BEC5E6"/>
                </a:solidFill>
                <a:latin typeface="Calibri"/>
              </a:rPr>
              <a:t>estilo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 de arquitectura que divide el software en servicios independientes. Cada uno hace una función de negocio y publica un contrato.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un centro comercial; cada local hace una cosa y, si uno cierra, los demás siguen abiertos.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2000" dirty="0" err="1">
                <a:solidFill>
                  <a:srgbClr val="BEC5E6"/>
                </a:solidFill>
                <a:latin typeface="Calibri"/>
              </a:rPr>
              <a:t>integrar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 sistemas viejos y nuevos, reutilizar lógica y cambiar una parte sin romper todo.</a:t>
            </a:r>
          </a:p>
        </p:txBody>
      </p:sp>
      <p:sp>
        <p:nvSpPr>
          <p:cNvPr id="4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5" name="Text 3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Principios</a:t>
            </a:r>
            <a:endParaRPr lang="en-US" sz="2667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072640"/>
            <a:ext cx="4876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Contrato estándar: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describe qué ofrece.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Bajo acoplamiento: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depende del contrato, no del código.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Reutilización: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varias apps usan el mismo servicio.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Autonomía: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cada servicio controla su lógica y datos.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Abstracción: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consumidor no ve el interior.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Composición: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servicios simples forman procesos.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2. SOA: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70561" y="2425309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Cómo se organiza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70561" y="3048000"/>
            <a:ext cx="524256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Proveedor: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implementa y publica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Consumidor: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 busca y lo usa (app web o móvil).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Registro: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catálogo donde se publican los </a:t>
            </a:r>
            <a:r>
              <a:rPr lang="en-US" sz="1867" dirty="0" err="1">
                <a:solidFill>
                  <a:srgbClr val="BEC5E6"/>
                </a:solidFill>
                <a:latin typeface="Calibri"/>
              </a:rPr>
              <a:t>contratos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.</a:t>
            </a:r>
          </a:p>
        </p:txBody>
      </p:sp>
      <p:sp>
        <p:nvSpPr>
          <p:cNvPr id="5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6583680" y="23164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Cómo funciona</a:t>
            </a:r>
            <a:endParaRPr lang="en-US" sz="2667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844800"/>
            <a:ext cx="4876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publica su contrato.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consumidor busca el servicio.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Envía un </a:t>
            </a:r>
            <a:r>
              <a:rPr lang="en-US" sz="1867" dirty="0" err="1">
                <a:solidFill>
                  <a:srgbClr val="BEC5E6"/>
                </a:solidFill>
                <a:latin typeface="Calibri"/>
              </a:rPr>
              <a:t>mensaje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 </a:t>
            </a:r>
            <a:r>
              <a:rPr lang="en-US" sz="1867" dirty="0" err="1">
                <a:solidFill>
                  <a:srgbClr val="BEC5E6"/>
                </a:solidFill>
                <a:latin typeface="Calibri"/>
              </a:rPr>
              <a:t>por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 HTTP.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responde; su código interno no se 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3. SOA: Diagrama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4</a:t>
            </a:fld>
            <a:endParaRPr lang="en-US"/>
          </a:p>
        </p:txBody>
      </p:sp>
      <p:sp>
        <p:nvSpPr>
          <p:cNvPr id="3" name="Registro de servicios"/>
          <p:cNvSpPr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4" name="Text 2"/>
          <p:cNvSpPr txBox="1"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Registro de servicios</a:t>
            </a:r>
            <a:endParaRPr lang="en-US" sz="1600" dirty="0"/>
          </a:p>
        </p:txBody>
      </p:sp>
      <p:sp>
        <p:nvSpPr>
          <p:cNvPr id="5" name="Consumidor"/>
          <p:cNvSpPr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Consumidor</a:t>
            </a:r>
            <a:endParaRPr lang="en-US" sz="1600" dirty="0"/>
          </a:p>
        </p:txBody>
      </p:sp>
      <p:sp>
        <p:nvSpPr>
          <p:cNvPr id="7" name="Proveedor"/>
          <p:cNvSpPr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8" name="Text 6"/>
          <p:cNvSpPr txBox="1"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Proveedor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1950720" y="2682240"/>
            <a:ext cx="853440" cy="146304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0" name="Shape 8"/>
          <p:cNvSpPr/>
          <p:nvPr/>
        </p:nvSpPr>
        <p:spPr>
          <a:xfrm>
            <a:off x="5242560" y="2682240"/>
            <a:ext cx="853440" cy="146304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Shape 9"/>
          <p:cNvSpPr/>
          <p:nvPr/>
        </p:nvSpPr>
        <p:spPr>
          <a:xfrm>
            <a:off x="3169920" y="4413504"/>
            <a:ext cx="170688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2" name="Shape 10"/>
          <p:cNvSpPr/>
          <p:nvPr/>
        </p:nvSpPr>
        <p:spPr>
          <a:xfrm>
            <a:off x="3169920" y="4876800"/>
            <a:ext cx="170688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731520" y="3230880"/>
            <a:ext cx="1402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600" dirty="0">
                <a:solidFill>
                  <a:srgbClr val="F4B942"/>
                </a:solidFill>
                <a:latin typeface="Calibri"/>
              </a:rPr>
              <a:t>2 busca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035040" y="3230880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4B942"/>
                </a:solidFill>
                <a:latin typeface="Calibri"/>
              </a:rPr>
              <a:t>1 publica contrato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3169920" y="4023360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F4B942"/>
                </a:solidFill>
                <a:latin typeface="Calibri"/>
              </a:rPr>
              <a:t>3 invoca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3169920" y="4974336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F4B942"/>
                </a:solidFill>
                <a:latin typeface="Calibri"/>
              </a:rPr>
              <a:t>4 responde</a:t>
            </a:r>
          </a:p>
        </p:txBody>
      </p:sp>
      <p:sp>
        <p:nvSpPr>
          <p:cNvPr id="17" name="Separador"/>
          <p:cNvSpPr/>
          <p:nvPr/>
        </p:nvSpPr>
        <p:spPr>
          <a:xfrm>
            <a:off x="81686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8473440" y="1828800"/>
            <a:ext cx="30480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1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publica su contrato en el registro.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2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consumidor busca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3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 invoca con un mensaje.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4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responde.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SOA: 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Reutilización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Un mismo servicio lo usan varias aplicaciones, sin volver a escribir el código.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Bajo acoplamiento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servicios dependen del contrato, no del código de los demás.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Escalabilidad y flexibilidad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servicio crece por separado y se puede cambiar sin tocar el resto.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Integración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Conecta sistemas viejos y nuevos, incluso hechos en lenguajes distintos.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Si un servicio cambia o falla, el resto del sistema sigue funcionando.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SOA: Desventajas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Mayor complejidad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que diseñar, desplegar y mantener muchos servicios en lugar de una sola aplicación.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Latencia de red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llamada entre servicios viaja por la red, y eso es más lento que una llamada interna.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Gobierno de contratos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cambios en una API se deben versionar para no romper a quienes la consumen.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Seguridad y monitoreo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más puntos de entrada que proteger y es más difícil seguir una petición de principio a fin.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En proyectos pequeños, SOA puede ser exagerado.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E80C4B23-6F1F-4034-F041-884DDE151CA4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767BBE-4BC1-A828-1C2D-063335E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5. Tecnologías relacionadas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14D4279-19EA-87D0-2A3B-5D62843C2BC6}"/>
              </a:ext>
            </a:extLst>
          </p:cNvPr>
          <p:cNvSpPr/>
          <p:nvPr/>
        </p:nvSpPr>
        <p:spPr>
          <a:xfrm>
            <a:off x="635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C1138B7-D7B7-F048-6118-43614A444D87}"/>
              </a:ext>
            </a:extLst>
          </p:cNvPr>
          <p:cNvSpPr/>
          <p:nvPr/>
        </p:nvSpPr>
        <p:spPr>
          <a:xfrm>
            <a:off x="939800" y="1803400"/>
            <a:ext cx="889000" cy="8890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⚛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E681C8-BD47-F8C4-00F5-EECF5F928B9E}"/>
              </a:ext>
            </a:extLst>
          </p:cNvPr>
          <p:cNvSpPr txBox="1"/>
          <p:nvPr/>
        </p:nvSpPr>
        <p:spPr>
          <a:xfrm>
            <a:off x="2032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388281-913B-1AFA-95E2-4122613D3C0C}"/>
              </a:ext>
            </a:extLst>
          </p:cNvPr>
          <p:cNvSpPr txBox="1"/>
          <p:nvPr/>
        </p:nvSpPr>
        <p:spPr>
          <a:xfrm>
            <a:off x="2032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Interfaz (cliente)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300DFC-18A3-348F-81AD-4DBDA6F0BB65}"/>
              </a:ext>
            </a:extLst>
          </p:cNvPr>
          <p:cNvSpPr txBox="1"/>
          <p:nvPr/>
        </p:nvSpPr>
        <p:spPr>
          <a:xfrm>
            <a:off x="939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Observer: el estado y los hooks (useState, useEffect) vuelven a dibujar los componentes que dependen de él.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Mediator: Context o Redux centralizan la comunicación entre componentes.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AA080EF-82F4-A956-9F63-D72C37E0BD53}"/>
              </a:ext>
            </a:extLst>
          </p:cNvPr>
          <p:cNvSpPr/>
          <p:nvPr/>
        </p:nvSpPr>
        <p:spPr>
          <a:xfrm>
            <a:off x="43815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9F4CFA-1246-4957-C40A-7BCCA1D683DE}"/>
              </a:ext>
            </a:extLst>
          </p:cNvPr>
          <p:cNvSpPr/>
          <p:nvPr/>
        </p:nvSpPr>
        <p:spPr>
          <a:xfrm>
            <a:off x="4686300" y="1803400"/>
            <a:ext cx="889000" cy="889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Calibri" panose="020F0502020204030204" pitchFamily="34" charset="0"/>
              </a:rPr>
              <a:t>DB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21E515-0583-B822-0421-DAC125CA2CD6}"/>
              </a:ext>
            </a:extLst>
          </p:cNvPr>
          <p:cNvSpPr txBox="1"/>
          <p:nvPr/>
        </p:nvSpPr>
        <p:spPr>
          <a:xfrm>
            <a:off x="57785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MySQL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EBF4C-8852-45A7-82D2-CCD92E5D1B22}"/>
              </a:ext>
            </a:extLst>
          </p:cNvPr>
          <p:cNvSpPr txBox="1"/>
          <p:nvPr/>
        </p:nvSpPr>
        <p:spPr>
          <a:xfrm>
            <a:off x="57785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Datos (persistencia)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96EF8F-91BC-E130-C244-4A95F1C85BCC}"/>
              </a:ext>
            </a:extLst>
          </p:cNvPr>
          <p:cNvSpPr txBox="1"/>
          <p:nvPr/>
        </p:nvSpPr>
        <p:spPr>
          <a:xfrm>
            <a:off x="46863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En SOA, un servicio es dueño de sus datos y los expone por una API.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 interfaz nunca consulta la base directamente: siempre pasa por el servicio.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43A1F00-8C45-EE55-3E31-8F9CB0BE8B1E}"/>
              </a:ext>
            </a:extLst>
          </p:cNvPr>
          <p:cNvSpPr/>
          <p:nvPr/>
        </p:nvSpPr>
        <p:spPr>
          <a:xfrm>
            <a:off x="8128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77E368A-5615-D831-6BCB-CF251B0C7B07}"/>
              </a:ext>
            </a:extLst>
          </p:cNvPr>
          <p:cNvSpPr/>
          <p:nvPr/>
        </p:nvSpPr>
        <p:spPr>
          <a:xfrm>
            <a:off x="8432800" y="1803400"/>
            <a:ext cx="889000" cy="889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☁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7BC6AF-ED6D-1A8A-51C4-34A16BAB10CE}"/>
              </a:ext>
            </a:extLst>
          </p:cNvPr>
          <p:cNvSpPr txBox="1"/>
          <p:nvPr/>
        </p:nvSpPr>
        <p:spPr>
          <a:xfrm>
            <a:off x="9525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Nube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627263-B3B5-0FD4-34C7-0EA78737736A}"/>
              </a:ext>
            </a:extLst>
          </p:cNvPr>
          <p:cNvSpPr txBox="1"/>
          <p:nvPr/>
        </p:nvSpPr>
        <p:spPr>
          <a:xfrm>
            <a:off x="9525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Despliegue y servicios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46604D-FD0F-0843-DF1E-BB91C66AC276}"/>
              </a:ext>
            </a:extLst>
          </p:cNvPr>
          <p:cNvSpPr txBox="1"/>
          <p:nvPr/>
        </p:nvSpPr>
        <p:spPr>
          <a:xfrm>
            <a:off x="8432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Los servicios se publican como APIs en AWS, Azure o Google Cloud y escalan por separado.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Las colas y el pub/sub aplican la idea de Observer a gran escala.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0A5DACC3-ADC3-44C7-A0A5-B2465CD50076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09FBE-B5C9-419B-9A38-E8A4478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5. Cómo encajan en una misma solución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6F514A-4289-AF3A-B314-742C7F7361BC}"/>
              </a:ext>
            </a:extLst>
          </p:cNvPr>
          <p:cNvSpPr/>
          <p:nvPr/>
        </p:nvSpPr>
        <p:spPr>
          <a:xfrm>
            <a:off x="635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  <a:p>
            <a:pPr algn="ctr"/>
            <a:r>
              <a:rPr lang="es-CO" sz="1600">
                <a:solidFill>
                  <a:srgbClr val="FFFFFF"/>
                </a:solidFill>
                <a:latin typeface="Calibri" panose="020F0502020204030204" pitchFamily="34" charset="0"/>
              </a:rPr>
              <a:t>Cliente / interfaz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78C7B64-8366-7852-8AD3-EED8193A5DB2}"/>
              </a:ext>
            </a:extLst>
          </p:cNvPr>
          <p:cNvCxnSpPr/>
          <p:nvPr/>
        </p:nvCxnSpPr>
        <p:spPr>
          <a:xfrm>
            <a:off x="38608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AB96D22-C8C8-4FE3-F583-95C73A7EC5D9}"/>
              </a:ext>
            </a:extLst>
          </p:cNvPr>
          <p:cNvSpPr/>
          <p:nvPr/>
        </p:nvSpPr>
        <p:spPr>
          <a:xfrm>
            <a:off x="45085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Servicio SOA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API REST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171037A-7C8F-3489-9A02-F339B129E5BD}"/>
              </a:ext>
            </a:extLst>
          </p:cNvPr>
          <p:cNvCxnSpPr/>
          <p:nvPr/>
        </p:nvCxnSpPr>
        <p:spPr>
          <a:xfrm>
            <a:off x="77343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2B9E29-ABCF-15BA-2244-B5D65CBD1480}"/>
              </a:ext>
            </a:extLst>
          </p:cNvPr>
          <p:cNvSpPr/>
          <p:nvPr/>
        </p:nvSpPr>
        <p:spPr>
          <a:xfrm>
            <a:off x="8382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MySQL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Base de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E5ED2E-A6AD-1C19-73A3-03C9C1829F3E}"/>
              </a:ext>
            </a:extLst>
          </p:cNvPr>
          <p:cNvSpPr txBox="1"/>
          <p:nvPr/>
        </p:nvSpPr>
        <p:spPr>
          <a:xfrm>
            <a:off x="635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Observer: los componentes se suscriben al estado y se actualizan solos.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B5CF0-33C1-5D5C-5EBC-7F41CD370A65}"/>
              </a:ext>
            </a:extLst>
          </p:cNvPr>
          <p:cNvSpPr txBox="1"/>
          <p:nvPr/>
        </p:nvSpPr>
        <p:spPr>
          <a:xfrm>
            <a:off x="45085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Expone operaciones por contrato y hace de intermediario entre la interfaz y los datos.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D40A74-5E04-E55C-98A2-3C7BFCDF4045}"/>
              </a:ext>
            </a:extLst>
          </p:cNvPr>
          <p:cNvSpPr txBox="1"/>
          <p:nvPr/>
        </p:nvSpPr>
        <p:spPr>
          <a:xfrm>
            <a:off x="8382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Guarda la información; solo el servicio dueño de los datos accede a ella.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B0FFB1E-ABC2-DBC6-638E-D7F6672F2A99}"/>
              </a:ext>
            </a:extLst>
          </p:cNvPr>
          <p:cNvSpPr/>
          <p:nvPr/>
        </p:nvSpPr>
        <p:spPr>
          <a:xfrm>
            <a:off x="635000" y="5016500"/>
            <a:ext cx="10922000" cy="1206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FFFFF"/>
                </a:solidFill>
                <a:latin typeface="Calibri" panose="020F0502020204030204" pitchFamily="34" charset="0"/>
              </a:rPr>
              <a:t>Nube: aloja los servicios, los escala por separado y ofrece colas de mensajes (pub/sub) para notificar eventos entre ellos.</a:t>
            </a:r>
            <a:endParaRPr lang="es-CO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8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SOA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11038183" cy="419100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5EDA06-79F8-310E-8954-BFAD8F5E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94" t="14697" r="6094" b="16050"/>
          <a:stretch/>
        </p:blipFill>
        <p:spPr>
          <a:xfrm>
            <a:off x="635001" y="1460500"/>
            <a:ext cx="10706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5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DC3A5-6E25-0CE9-42A0-C50E0565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2A2209-5066-A9B5-3E35-5ED7D290F26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/>
              </a:rPr>
              <a:t>Patrones Observer y Mediator</a:t>
            </a:r>
          </a:p>
        </p:txBody>
      </p:sp>
    </p:spTree>
    <p:extLst>
      <p:ext uri="{BB962C8B-B14F-4D97-AF65-F5344CB8AC3E}">
        <p14:creationId xmlns:p14="http://schemas.microsoft.com/office/powerpoint/2010/main" val="151879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1. </a:t>
            </a:r>
            <a:r>
              <a:rPr lang="en-US" sz="3600" b="1" dirty="0" err="1">
                <a:solidFill>
                  <a:srgbClr val="FFFFFF"/>
                </a:solidFill>
                <a:latin typeface="Calibri"/>
              </a:rPr>
              <a:t>Patrones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11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relación uno a muchos; si el Subject cambia, avisa a todos sus Observers.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un canal de YouTube y sus suscriptores.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reaccionar a cambios sin que el emisor conozca a quién </a:t>
            </a:r>
            <a:r>
              <a:rPr lang="en-US" sz="1867" dirty="0" err="1">
                <a:solidFill>
                  <a:srgbClr val="BEC5E6"/>
                </a:solidFill>
                <a:latin typeface="Calibri"/>
              </a:rPr>
              <a:t>avisa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un intermediario que centraliza la comunicación entre componentes.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la torre de control de un aeropuerto.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evitar una maraña de dependencias y coordinar en un solo </a:t>
            </a:r>
            <a:r>
              <a:rPr lang="en-US" sz="1867" dirty="0" err="1">
                <a:solidFill>
                  <a:srgbClr val="BEC5E6"/>
                </a:solidFill>
                <a:latin typeface="Calibri"/>
              </a:rPr>
              <a:t>lugar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2. </a:t>
            </a:r>
            <a:r>
              <a:rPr lang="en-US" sz="3600" b="1" dirty="0" err="1">
                <a:solidFill>
                  <a:srgbClr val="FFFFFF"/>
                </a:solidFill>
                <a:latin typeface="Calibri"/>
              </a:rPr>
              <a:t>Patrones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Componentes: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Subject, Observer, subscribe(), unsubscribe(), notify() y update().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Por dentro: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Subject guarda una lista de observadores y la recorre al notificar: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se registran con subscribe()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cambia el estado y llama notify()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cada uno recibe update()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Componentes: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interfaz Mediator, mediador concreto y Colleagues.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Por dentro: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los Colleagues solo conocen al mediador: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un Colleague le avisa lo que necesita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el mediador decide a quién, en qué orden y con qué reglas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los demás responden al </a:t>
            </a:r>
            <a:r>
              <a:rPr lang="en-US" sz="1733" dirty="0" err="1">
                <a:solidFill>
                  <a:srgbClr val="BEC5E6"/>
                </a:solidFill>
                <a:latin typeface="Calibri"/>
              </a:rPr>
              <a:t>mediador</a:t>
            </a:r>
            <a:endParaRPr lang="en-US" sz="1733" dirty="0">
              <a:solidFill>
                <a:srgbClr val="BEC5E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3. </a:t>
            </a:r>
            <a:r>
              <a:rPr lang="en-US" sz="3600" b="1" dirty="0" err="1">
                <a:solidFill>
                  <a:srgbClr val="FFFFFF"/>
                </a:solidFill>
                <a:latin typeface="Calibri"/>
              </a:rPr>
              <a:t>Patrones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: Diagramas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Subject notify()"/>
          <p:cNvSpPr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Subject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notify()</a:t>
            </a:r>
            <a:endParaRPr lang="en-US" sz="1600" dirty="0"/>
          </a:p>
        </p:txBody>
      </p:sp>
      <p:sp>
        <p:nvSpPr>
          <p:cNvPr id="8" name="Observer A"/>
          <p:cNvSpPr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9" name="Text 7"/>
          <p:cNvSpPr txBox="1"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A</a:t>
            </a:r>
            <a:endParaRPr lang="en-US" sz="1600" dirty="0"/>
          </a:p>
        </p:txBody>
      </p:sp>
      <p:sp>
        <p:nvSpPr>
          <p:cNvPr id="10" name="Observer B"/>
          <p:cNvSpPr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Text 9"/>
          <p:cNvSpPr txBox="1"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B</a:t>
            </a:r>
            <a:endParaRPr lang="en-US" sz="1600" dirty="0"/>
          </a:p>
        </p:txBody>
      </p:sp>
      <p:sp>
        <p:nvSpPr>
          <p:cNvPr id="12" name="Observer C"/>
          <p:cNvSpPr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V="1">
            <a:off x="2560320" y="2316480"/>
            <a:ext cx="134112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5" name="Shape 13"/>
          <p:cNvSpPr/>
          <p:nvPr/>
        </p:nvSpPr>
        <p:spPr>
          <a:xfrm>
            <a:off x="2560320" y="3413760"/>
            <a:ext cx="134112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6" name="Shape 14"/>
          <p:cNvSpPr/>
          <p:nvPr/>
        </p:nvSpPr>
        <p:spPr>
          <a:xfrm>
            <a:off x="2560320" y="3413760"/>
            <a:ext cx="134112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7" name="Mediator"/>
          <p:cNvSpPr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Mediator</a:t>
            </a:r>
            <a:endParaRPr lang="en-US" sz="1600" dirty="0"/>
          </a:p>
        </p:txBody>
      </p:sp>
      <p:sp>
        <p:nvSpPr>
          <p:cNvPr id="19" name="Colleague A"/>
          <p:cNvSpPr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0" name="Text 18"/>
          <p:cNvSpPr txBox="1"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A</a:t>
            </a:r>
            <a:endParaRPr lang="en-US" sz="1600" dirty="0"/>
          </a:p>
        </p:txBody>
      </p:sp>
      <p:sp>
        <p:nvSpPr>
          <p:cNvPr id="21" name="Colleague B"/>
          <p:cNvSpPr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2" name="Text 20"/>
          <p:cNvSpPr txBox="1"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B</a:t>
            </a:r>
            <a:endParaRPr lang="en-US" sz="1600" dirty="0"/>
          </a:p>
        </p:txBody>
      </p:sp>
      <p:sp>
        <p:nvSpPr>
          <p:cNvPr id="23" name="Colleague C"/>
          <p:cNvSpPr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4" name="Text 22"/>
          <p:cNvSpPr txBox="1"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7193280" y="2804160"/>
            <a:ext cx="109728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6" name="Shape 24"/>
          <p:cNvSpPr/>
          <p:nvPr/>
        </p:nvSpPr>
        <p:spPr>
          <a:xfrm>
            <a:off x="8961120" y="2804160"/>
            <a:ext cx="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7" name="Shape 25"/>
          <p:cNvSpPr/>
          <p:nvPr/>
        </p:nvSpPr>
        <p:spPr>
          <a:xfrm>
            <a:off x="9631680" y="2804160"/>
            <a:ext cx="109728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8" name="Text 26"/>
          <p:cNvSpPr txBox="1"/>
          <p:nvPr/>
        </p:nvSpPr>
        <p:spPr>
          <a:xfrm>
            <a:off x="73152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BEC5E6"/>
                </a:solidFill>
                <a:latin typeface="Calibri"/>
              </a:rPr>
              <a:t>El Subject avisa a todos sus Observers con notify(). En SOA, el broker entrega el evento.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646176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BEC5E6"/>
                </a:solidFill>
                <a:latin typeface="Calibri"/>
              </a:rPr>
              <a:t>Todos hablan con el Mediator, que coordina; los Colleagues no se conocen entre sí.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FE7D64DB-C5FD-D992-F020-91F87E5C8482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3750F-AC17-AF7B-C66B-9B37779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</a:t>
            </a:r>
            <a:r>
              <a:rPr lang="es-CO" sz="36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Observer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: Ventajas y Desventajas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EDD861F-87A0-68C5-E3EB-742B2E52E244}"/>
              </a:ext>
            </a:extLst>
          </p:cNvPr>
          <p:cNvSpPr/>
          <p:nvPr/>
        </p:nvSpPr>
        <p:spPr>
          <a:xfrm>
            <a:off x="762000" y="3111500"/>
            <a:ext cx="1651000" cy="1651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solidFill>
                  <a:srgbClr val="0F122D"/>
                </a:solidFill>
                <a:latin typeface="Calibri" panose="020F0502020204030204" pitchFamily="34" charset="0"/>
              </a:rPr>
              <a:t>Sujeto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notifica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C01D2D4-D3BE-42B8-B953-AE1DD8CCFB69}"/>
              </a:ext>
            </a:extLst>
          </p:cNvPr>
          <p:cNvCxnSpPr/>
          <p:nvPr/>
        </p:nvCxnSpPr>
        <p:spPr>
          <a:xfrm flipV="1">
            <a:off x="2438400" y="2127250"/>
            <a:ext cx="1701800" cy="18097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4853A48-A215-D8B8-E7C0-9228774DD494}"/>
              </a:ext>
            </a:extLst>
          </p:cNvPr>
          <p:cNvSpPr/>
          <p:nvPr/>
        </p:nvSpPr>
        <p:spPr>
          <a:xfrm>
            <a:off x="4191000" y="17780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D9E3C50-0309-2C0E-1C81-9544E702937F}"/>
              </a:ext>
            </a:extLst>
          </p:cNvPr>
          <p:cNvCxnSpPr/>
          <p:nvPr/>
        </p:nvCxnSpPr>
        <p:spPr>
          <a:xfrm>
            <a:off x="2438400" y="3937000"/>
            <a:ext cx="1701800" cy="63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4780C4-F831-34CE-F3B0-9C034A3EBA03}"/>
              </a:ext>
            </a:extLst>
          </p:cNvPr>
          <p:cNvSpPr/>
          <p:nvPr/>
        </p:nvSpPr>
        <p:spPr>
          <a:xfrm>
            <a:off x="4191000" y="35941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B3426D6-F236-00D4-D35D-43B760688F9C}"/>
              </a:ext>
            </a:extLst>
          </p:cNvPr>
          <p:cNvCxnSpPr/>
          <p:nvPr/>
        </p:nvCxnSpPr>
        <p:spPr>
          <a:xfrm>
            <a:off x="2438400" y="3937000"/>
            <a:ext cx="1701800" cy="18224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96B2B95-BB0D-FB09-B1FA-C3D25DD06C48}"/>
              </a:ext>
            </a:extLst>
          </p:cNvPr>
          <p:cNvSpPr/>
          <p:nvPr/>
        </p:nvSpPr>
        <p:spPr>
          <a:xfrm>
            <a:off x="4191000" y="54102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C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9A5083-F9DB-98FF-C9DA-2A60CDC8B45B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A1560-1CE9-C4F5-81DF-74AAE2610360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224748-5BDF-EE20-EAFE-51A5697998CD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Emisor y receptores desacoplados: se agregan suscriptores sin tocar al sujeto.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Actualiza varias vistas a la vez y en tiempo real.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C7D73DA-3F39-E11B-6AE5-687EB1CE5CF7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139612-C27A-1D3B-A912-644D2160E1FD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7D2E8A-C202-D3C0-742F-9226CAB1C31E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Cascadas de actualizaciones difíciles de depurar.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Fugas de memoria si no se cancela la suscripción.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24E5171-9A47-00D2-BC96-A5901261BD9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E2CCA1-EE14-3AA7-0338-0E7A1EBC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Mediator: Ventajas y Desventajas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D35FC00-2D69-BA40-5AF6-3EB49BF70765}"/>
              </a:ext>
            </a:extLst>
          </p:cNvPr>
          <p:cNvCxnSpPr/>
          <p:nvPr/>
        </p:nvCxnSpPr>
        <p:spPr>
          <a:xfrm>
            <a:off x="14605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6F9A43D-A78E-46F8-4D99-233FB6D7B4C7}"/>
              </a:ext>
            </a:extLst>
          </p:cNvPr>
          <p:cNvSpPr/>
          <p:nvPr/>
        </p:nvSpPr>
        <p:spPr>
          <a:xfrm>
            <a:off x="635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22BE67-A102-5766-0653-7885AB6FC0B1}"/>
              </a:ext>
            </a:extLst>
          </p:cNvPr>
          <p:cNvCxnSpPr/>
          <p:nvPr/>
        </p:nvCxnSpPr>
        <p:spPr>
          <a:xfrm flipH="1">
            <a:off x="33020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57798C-B2F3-C974-6B8D-E86890C979F1}"/>
              </a:ext>
            </a:extLst>
          </p:cNvPr>
          <p:cNvSpPr/>
          <p:nvPr/>
        </p:nvSpPr>
        <p:spPr>
          <a:xfrm>
            <a:off x="4318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5A47055-3FB2-98F5-3A20-AF2F8E43F394}"/>
              </a:ext>
            </a:extLst>
          </p:cNvPr>
          <p:cNvCxnSpPr/>
          <p:nvPr/>
        </p:nvCxnSpPr>
        <p:spPr>
          <a:xfrm flipV="1">
            <a:off x="14605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7A118F-4E72-24A0-5009-6E64F780C260}"/>
              </a:ext>
            </a:extLst>
          </p:cNvPr>
          <p:cNvSpPr/>
          <p:nvPr/>
        </p:nvSpPr>
        <p:spPr>
          <a:xfrm>
            <a:off x="635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C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1A67FA3-0C71-0048-B14C-188C6D930DF0}"/>
              </a:ext>
            </a:extLst>
          </p:cNvPr>
          <p:cNvCxnSpPr/>
          <p:nvPr/>
        </p:nvCxnSpPr>
        <p:spPr>
          <a:xfrm flipH="1" flipV="1">
            <a:off x="33020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3E2112E-BBE0-FDAD-4BE6-8A6824E0DA6D}"/>
              </a:ext>
            </a:extLst>
          </p:cNvPr>
          <p:cNvSpPr/>
          <p:nvPr/>
        </p:nvSpPr>
        <p:spPr>
          <a:xfrm>
            <a:off x="4318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D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A5A1FE7-9DC0-7A73-0EBC-ED9FC6FD4189}"/>
              </a:ext>
            </a:extLst>
          </p:cNvPr>
          <p:cNvSpPr/>
          <p:nvPr/>
        </p:nvSpPr>
        <p:spPr>
          <a:xfrm>
            <a:off x="2476500" y="3111500"/>
            <a:ext cx="1651000" cy="1651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rgbClr val="0F122D"/>
                </a:solidFill>
                <a:latin typeface="Calibri" panose="020F0502020204030204" pitchFamily="34" charset="0"/>
              </a:rPr>
              <a:t>Mediador</a:t>
            </a:r>
          </a:p>
          <a:p>
            <a:pPr algn="ctr"/>
            <a:r>
              <a:rPr lang="es-CO" sz="1600" dirty="0">
                <a:solidFill>
                  <a:srgbClr val="0F122D"/>
                </a:solidFill>
                <a:latin typeface="Calibri" panose="020F0502020204030204" pitchFamily="34" charset="0"/>
              </a:rPr>
              <a:t>coordina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BE20CED-622E-DDA1-8F8F-89319FFA3CEA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770670-3A97-5DF3-1CFE-D198891BD127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F76C9D-FA8A-9CF3-6342-CBF05CA36FDC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Los módulos solo conocen al mediador, no entre sí: menos dependencias.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código queda más ordenado y fácil de mantener.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A9D1DF3-6723-F41D-2470-F72DC7420D9A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12B45F-6587-AE11-FDB3-2D0E275D192E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CD9A07-A7A9-9740-C01A-D27118F435DC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mediador puede crecer hasta volverse un 'objeto Dios'.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Si falla, se cae toda la comunicación entre componentes.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6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4" grpId="0" animBg="1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DC6E74A2-15A2-7A09-D535-1AEE4D0C23F0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B15EA-5FC4-E87E-3FC9-72F1208C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Ideas para llevarse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379093D-A92A-233B-EC9F-563C0D8AFE41}"/>
              </a:ext>
            </a:extLst>
          </p:cNvPr>
          <p:cNvSpPr/>
          <p:nvPr/>
        </p:nvSpPr>
        <p:spPr>
          <a:xfrm>
            <a:off x="635000" y="1587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B7E2722-1169-4AC8-3AA5-D00F918595F4}"/>
              </a:ext>
            </a:extLst>
          </p:cNvPr>
          <p:cNvSpPr/>
          <p:nvPr/>
        </p:nvSpPr>
        <p:spPr>
          <a:xfrm>
            <a:off x="939800" y="1879600"/>
            <a:ext cx="812800" cy="8128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1E8651-9D4A-FA26-4675-C8536845F09D}"/>
              </a:ext>
            </a:extLst>
          </p:cNvPr>
          <p:cNvSpPr txBox="1"/>
          <p:nvPr/>
        </p:nvSpPr>
        <p:spPr>
          <a:xfrm>
            <a:off x="2159000" y="1765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6473F5"/>
                </a:solidFill>
                <a:latin typeface="Calibri" panose="020F0502020204030204" pitchFamily="34" charset="0"/>
              </a:rPr>
              <a:t>SOA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DF59AA-2BC4-061E-8741-DD1C2E9CC32D}"/>
              </a:ext>
            </a:extLst>
          </p:cNvPr>
          <p:cNvSpPr txBox="1"/>
          <p:nvPr/>
        </p:nvSpPr>
        <p:spPr>
          <a:xfrm>
            <a:off x="2159000" y="2247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Gana escalabilidad y reutilización, a cambio de más complejidad. Ideal para sistemas grandes y distribuidos.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15C65E-C7DB-07FB-DC85-7206FC5174FF}"/>
              </a:ext>
            </a:extLst>
          </p:cNvPr>
          <p:cNvSpPr/>
          <p:nvPr/>
        </p:nvSpPr>
        <p:spPr>
          <a:xfrm>
            <a:off x="635000" y="31750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B178F55-7EE2-998B-6AA5-B7153C64079C}"/>
              </a:ext>
            </a:extLst>
          </p:cNvPr>
          <p:cNvSpPr/>
          <p:nvPr/>
        </p:nvSpPr>
        <p:spPr>
          <a:xfrm>
            <a:off x="939800" y="3467100"/>
            <a:ext cx="812800" cy="8128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65BA00-118E-2DE5-6408-59E49BC1C938}"/>
              </a:ext>
            </a:extLst>
          </p:cNvPr>
          <p:cNvSpPr txBox="1"/>
          <p:nvPr/>
        </p:nvSpPr>
        <p:spPr>
          <a:xfrm>
            <a:off x="2159000" y="33528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2EC4B6"/>
                </a:solidFill>
                <a:latin typeface="Calibri" panose="020F0502020204030204" pitchFamily="34" charset="0"/>
              </a:rPr>
              <a:t>Observer y Mediator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49EC52-B406-7EDF-50CE-F9CC184176F0}"/>
              </a:ext>
            </a:extLst>
          </p:cNvPr>
          <p:cNvSpPr txBox="1"/>
          <p:nvPr/>
        </p:nvSpPr>
        <p:spPr>
          <a:xfrm>
            <a:off x="2159000" y="38354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Resuelven problemas distintos: Observer reparte los cambios a muchos; Mediator centraliza la comunicación entre muchos.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5C0A7CF-0BDF-3E04-9ACF-2279A5738D00}"/>
              </a:ext>
            </a:extLst>
          </p:cNvPr>
          <p:cNvSpPr/>
          <p:nvPr/>
        </p:nvSpPr>
        <p:spPr>
          <a:xfrm>
            <a:off x="635000" y="4762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9260B3C-6A65-7775-5C1E-ADD3394EE6C7}"/>
              </a:ext>
            </a:extLst>
          </p:cNvPr>
          <p:cNvSpPr/>
          <p:nvPr/>
        </p:nvSpPr>
        <p:spPr>
          <a:xfrm>
            <a:off x="939800" y="5054600"/>
            <a:ext cx="812800" cy="8128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2EFF35-D13A-3D84-51FA-8EE7B28102D9}"/>
              </a:ext>
            </a:extLst>
          </p:cNvPr>
          <p:cNvSpPr txBox="1"/>
          <p:nvPr/>
        </p:nvSpPr>
        <p:spPr>
          <a:xfrm>
            <a:off x="2159000" y="4940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2400" b="1">
                <a:solidFill>
                  <a:srgbClr val="F4B942"/>
                </a:solidFill>
                <a:latin typeface="Calibri" panose="020F0502020204030204" pitchFamily="34" charset="0"/>
              </a:rPr>
              <a:t>React, MySQL y la nube</a:t>
            </a:r>
            <a:endParaRPr lang="es-CO" sz="2400" b="1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464E2-2191-FC33-E98A-EFFB2C42E8F8}"/>
              </a:ext>
            </a:extLst>
          </p:cNvPr>
          <p:cNvSpPr txBox="1"/>
          <p:nvPr/>
        </p:nvSpPr>
        <p:spPr>
          <a:xfrm>
            <a:off x="2159000" y="5422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Se combinan bien: interfaz reactiva, servicios por contrato y datos persistentes, todo desplegado y escalable en la nube.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Comparativa rápida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11983"/>
              </p:ext>
            </p:extLst>
          </p:nvPr>
        </p:nvGraphicFramePr>
        <p:xfrm>
          <a:off x="635000" y="15875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0599006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72400422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Criterio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Arquitectura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Comunicación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Servicios por red (HTTP, mensajes)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Uno a muchos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Muchos a muchos, a través de un centro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Acoplamiento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contratos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suscripción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 entre componentes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Riesgo principal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Complejidad y latencia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Cascadas y fugas de memoria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Mediador sobrecargado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0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5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</a:t>
            </a:r>
            <a:r>
              <a:rPr lang="es-CO" sz="36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Observer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9" y="1206500"/>
            <a:ext cx="920153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7" t="10007" r="7068" b="9250"/>
          <a:stretch>
            <a:fillRect/>
          </a:stretch>
        </p:blipFill>
        <p:spPr>
          <a:xfrm>
            <a:off x="739273" y="1332609"/>
            <a:ext cx="8748321" cy="52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Mediator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985708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2" r="2717"/>
          <a:stretch/>
        </p:blipFill>
        <p:spPr>
          <a:xfrm>
            <a:off x="846592" y="1310641"/>
            <a:ext cx="9201531" cy="51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5" y="317500"/>
            <a:ext cx="2967177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7. Conclusión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/>
        </p:nvGraphicFramePr>
        <p:xfrm>
          <a:off x="635003" y="1587500"/>
          <a:ext cx="10758976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7419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2061557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Si necesitas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Usa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Integrar sistemas o equipos independientes que escalan por separado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100" b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Que varios objetos reaccionen a un cambio de estado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100" b="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  <a:endParaRPr lang="es-CO" sz="2100" b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Coordinar muchos componentes que hoy se llaman entre sí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100" b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  <a:endParaRPr lang="es-CO" sz="2100" b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F5454D4-CD26-3A8C-F9B5-CA359EC50FC5}"/>
              </a:ext>
            </a:extLst>
          </p:cNvPr>
          <p:cNvSpPr/>
          <p:nvPr/>
        </p:nvSpPr>
        <p:spPr>
          <a:xfrm>
            <a:off x="635003" y="5232400"/>
            <a:ext cx="10758976" cy="10414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No compiten: se combinan. SOA organiza el sistema; </a:t>
            </a:r>
            <a:r>
              <a:rPr lang="es-MX" sz="2133" dirty="0" err="1">
                <a:solidFill>
                  <a:srgbClr val="FFC000"/>
                </a:solidFill>
                <a:latin typeface="Calibri" panose="020F0502020204030204" pitchFamily="34" charset="0"/>
              </a:rPr>
              <a:t>Observer</a:t>
            </a:r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 y Mediator organizan su código.</a:t>
            </a:r>
            <a:endParaRPr lang="es-CO" sz="2133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36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73</TotalTime>
  <Words>1246</Words>
  <Application>Microsoft Office PowerPoint</Application>
  <PresentationFormat>Panorámica</PresentationFormat>
  <Paragraphs>213</Paragraphs>
  <Slides>20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Segoe UI Symbol</vt:lpstr>
      <vt:lpstr>Tema de Office</vt:lpstr>
      <vt:lpstr>Arquitectura Orientada a Servicios (SOA)</vt:lpstr>
      <vt:lpstr>1. SOA: Definición</vt:lpstr>
      <vt:lpstr>2. SOA: Características</vt:lpstr>
      <vt:lpstr>3. SOA: Diagrama</vt:lpstr>
      <vt:lpstr>4. SOA: Ventajas</vt:lpstr>
      <vt:lpstr>4. SOA: Desventajas</vt:lpstr>
      <vt:lpstr>5. Tecnologías relacionadas</vt:lpstr>
      <vt:lpstr>5. Cómo encajan en una misma solución</vt:lpstr>
      <vt:lpstr>6. Demostración SOA</vt:lpstr>
      <vt:lpstr>Patrones Observer y Mediator</vt:lpstr>
      <vt:lpstr>1. Patrones: Definición</vt:lpstr>
      <vt:lpstr>2. Patrones: Características</vt:lpstr>
      <vt:lpstr>3. Patrones: Diagramas</vt:lpstr>
      <vt:lpstr>4. Observer: Ventajas y Desventajas</vt:lpstr>
      <vt:lpstr>4. Mediator: Ventajas y Desventajas</vt:lpstr>
      <vt:lpstr>4. Ideas para llevarse</vt:lpstr>
      <vt:lpstr>4. Comparativa rápida</vt:lpstr>
      <vt:lpstr>6. Demostración Observer</vt:lpstr>
      <vt:lpstr>6. Demostración Mediator</vt:lpstr>
      <vt:lpstr>7. 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VASQUEZ</dc:creator>
  <cp:lastModifiedBy>DAVID  VILLANUEVA POTOSI</cp:lastModifiedBy>
  <cp:revision>8</cp:revision>
  <dcterms:created xsi:type="dcterms:W3CDTF">2026-10-15T20:46:09Z</dcterms:created>
  <dcterms:modified xsi:type="dcterms:W3CDTF">2026-10-16T04:58:20Z</dcterms:modified>
</cp:coreProperties>
</file>