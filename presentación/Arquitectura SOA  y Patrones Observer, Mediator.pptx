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79" r:id="rId6"/>
    <p:sldId id="260" r:id="rId7"/>
    <p:sldId id="264" r:id="rId8"/>
    <p:sldId id="265" r:id="rId9"/>
    <p:sldId id="274" r:id="rId10"/>
    <p:sldId id="278" r:id="rId11"/>
    <p:sldId id="275" r:id="rId12"/>
    <p:sldId id="276" r:id="rId13"/>
    <p:sldId id="277" r:id="rId14"/>
    <p:sldId id="261" r:id="rId15"/>
    <p:sldId id="262" r:id="rId16"/>
    <p:sldId id="266" r:id="rId17"/>
    <p:sldId id="263" r:id="rId18"/>
    <p:sldId id="269" r:id="rId19"/>
    <p:sldId id="273" r:id="rId20"/>
    <p:sldId id="272" r:id="rId21"/>
  </p:sldIdLst>
  <p:sldSz cx="12192000" cy="6858000"/>
  <p:notesSz cx="6858000" cy="9144000"/>
  <p:defaultTextStyle>
    <a:defPPr>
      <a:defRPr lang="es-C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F122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94660"/>
  </p:normalViewPr>
  <p:slideViewPr>
    <p:cSldViewPr snapToGrid="0">
      <p:cViewPr varScale="1">
        <p:scale>
          <a:sx n="60" d="100"/>
          <a:sy n="60" d="100"/>
        </p:scale>
        <p:origin x="918" y="10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AE3B52-FEC4-42BC-B06A-8CABB6F8B49F}" type="datetimeFigureOut">
              <a:rPr lang="es-CO" smtClean="0"/>
              <a:t>15/10/26</a:t>
            </a:fld>
            <a:endParaRPr lang="es-CO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CO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542515F-3EE2-4EA1-A46A-FD31DBD2A5F6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3623866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913486-1119-D441-CFFA-0D4BF48BCF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65CB646-D7BA-23B8-962E-7F6C14B010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18D1F0-1B18-6E38-C383-58D2DD3608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0B9C84-F9B7-B183-D328-6FA2F1584FF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793539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D04E60B-7F9A-9675-77A3-DA1D44A359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B11E47B4-048B-D575-500F-E04EED3A83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2BC8C73-ED8F-E36F-1621-8EF758F2DE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352A7-4D7D-4A5E-A016-C2965DC63AEC}" type="datetimeFigureOut">
              <a:rPr lang="es-CO" smtClean="0"/>
              <a:t>15/10/26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7E19228-CBA9-6954-F26D-8B5BD23ECF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AA57172-F50B-B8B1-A5DA-ADA9BA309A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C55409-EAD8-4FD9-9741-7849243000B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41006783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3ACFD7-6AD2-A602-A46A-9435F882C4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CE55D79-9FA4-9B5F-D253-E0554D0871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A53B26D-D98B-3F8C-000D-63DD181D70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352A7-4D7D-4A5E-A016-C2965DC63AEC}" type="datetimeFigureOut">
              <a:rPr lang="es-CO" smtClean="0"/>
              <a:t>15/10/26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7736A74-6AC1-E294-E991-88CDC16193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26348FD-981D-525A-408D-9C1404A9E8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C55409-EAD8-4FD9-9741-7849243000B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1733015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E509089-D697-D3BB-26D3-AFA2336D18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459D6A36-205A-FB5D-B548-B7EDE1A2E4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DD21036-BD16-1980-F12B-A5651C0525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352A7-4D7D-4A5E-A016-C2965DC63AEC}" type="datetimeFigureOut">
              <a:rPr lang="es-CO" smtClean="0"/>
              <a:t>15/10/26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08ED95A-AA2A-3F3D-9EB6-867F299242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6F77395-094F-A6ED-6DF9-6990518E73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C55409-EAD8-4FD9-9741-7849243000B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2510896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7A246E2-6E35-200B-536F-48CEA33478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666C3D7-AA58-5B9D-D448-5E570E7BD9B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88A6332F-2A09-7EFA-1A50-ED290739F0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DFB8E707-1FAD-25B4-577B-82A20DAC31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352A7-4D7D-4A5E-A016-C2965DC63AEC}" type="datetimeFigureOut">
              <a:rPr lang="es-CO" smtClean="0"/>
              <a:t>15/10/26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B8051302-23AE-7AE4-76B8-F4748DD20C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8335BCF8-4A75-AEEA-FBE2-1D27CF336F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C55409-EAD8-4FD9-9741-7849243000B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4955902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148D75A-AC16-7E6D-2835-3D3031DE3D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153AF6BC-8470-DB8A-74FC-96EACF0467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29BFA8E6-4AFC-E70A-D731-97E2E9CE6BB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C23C7A58-D5B7-A757-F8BB-1888975F650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5765CACA-DB87-0334-8D3A-9BE82DD78A1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7695F097-2B41-3575-B245-84C34C6703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352A7-4D7D-4A5E-A016-C2965DC63AEC}" type="datetimeFigureOut">
              <a:rPr lang="es-CO" smtClean="0"/>
              <a:t>15/10/26</a:t>
            </a:fld>
            <a:endParaRPr lang="es-CO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F8BAB29F-D579-82C0-FAA5-B4FCA2484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324D4B9C-02BC-FC81-B29B-39AE419854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C55409-EAD8-4FD9-9741-7849243000B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5737771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51CCAD3-7DF5-94B1-7CEF-686D535A84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F3827FD4-BFE5-A255-9040-7E4D962F6D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352A7-4D7D-4A5E-A016-C2965DC63AEC}" type="datetimeFigureOut">
              <a:rPr lang="es-CO" smtClean="0"/>
              <a:t>15/10/26</a:t>
            </a:fld>
            <a:endParaRPr lang="es-CO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909CD20F-F8E8-E721-BFDE-59B5F47CC6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A04BAE63-37D6-D1E1-1078-02CD548153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C55409-EAD8-4FD9-9741-7849243000B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9634305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7A43F091-DD49-1555-4CBE-9631012F9B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352A7-4D7D-4A5E-A016-C2965DC63AEC}" type="datetimeFigureOut">
              <a:rPr lang="es-CO" smtClean="0"/>
              <a:t>15/10/26</a:t>
            </a:fld>
            <a:endParaRPr lang="es-CO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7202E41E-F808-B0CF-C6AC-BF67193324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EDE1DA9-B9A0-718C-45A1-E06F6E33E5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C55409-EAD8-4FD9-9741-7849243000B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5128058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5A4256B-A11D-AB6B-9F6F-AEA69AB4B3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97140BB-26F5-6153-182A-59925F4EB8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A3149A52-5004-F96E-1E6B-C1E0C83215A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9908898-25C7-1546-7755-260C38E347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352A7-4D7D-4A5E-A016-C2965DC63AEC}" type="datetimeFigureOut">
              <a:rPr lang="es-CO" smtClean="0"/>
              <a:t>15/10/26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FD52D588-EF59-76F1-5DA7-762F36C089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0F24E04F-7265-5157-F417-1B5C63F54D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C55409-EAD8-4FD9-9741-7849243000B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4918566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C9A8173-07BF-A28C-F317-6D2AE79E13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9D512064-7370-D1E1-5869-A4DBC9B9B8DB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F0554678-0F5F-37E2-EA0C-32095AB6E45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8C0D2B0C-FC2D-D793-6BAE-8226284765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352A7-4D7D-4A5E-A016-C2965DC63AEC}" type="datetimeFigureOut">
              <a:rPr lang="es-CO" smtClean="0"/>
              <a:t>15/10/26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46906E5D-BADC-8CF2-E8E3-E4A6FEB8D2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41CB6E8C-AA80-1244-7D73-4DBD232FF0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C55409-EAD8-4FD9-9741-7849243000B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7805922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156801C-E3BC-4FBE-B0E9-207DE5A6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264D3378-7605-DD38-3B5A-891910F97C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854F3B3-5D17-CFA3-8F69-F8F1331DF9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352A7-4D7D-4A5E-A016-C2965DC63AEC}" type="datetimeFigureOut">
              <a:rPr lang="es-CO" smtClean="0"/>
              <a:t>15/10/26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3463431-DDEF-D2BE-F0B9-C08E6EA0C4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CCFC611-7935-435D-302C-ADD14AE375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C55409-EAD8-4FD9-9741-7849243000B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2687207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44F743C1-5A8F-685A-6BFF-01CA6974F7E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8278E38B-EE06-89AF-C48F-3EB6C3651F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2F94757-D047-CD0D-ADAB-3729E501C9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352A7-4D7D-4A5E-A016-C2965DC63AEC}" type="datetimeFigureOut">
              <a:rPr lang="es-CO" smtClean="0"/>
              <a:t>15/10/26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ADA2DB3-2E37-8A31-8092-E6FC0A66F0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2D99AEC-59E7-F01F-4C63-15AD4D47BC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C55409-EAD8-4FD9-9741-7849243000B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035113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PORTADA">
    <p:bg>
      <p:bgPr>
        <a:solidFill>
          <a:srgbClr val="1F4E9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75360" y="1950720"/>
            <a:ext cx="10241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5333" b="1" dirty="0">
                <a:solidFill>
                  <a:schemeClr val="bg1"/>
                </a:solidFill>
              </a:defRPr>
            </a:lvl1pPr>
          </a:lstStyle>
          <a:p>
            <a:pPr marL="0" indent="0">
              <a:buNone/>
            </a:pPr>
            <a:endParaRPr lang="en-US" sz="5333" dirty="0"/>
          </a:p>
        </p:txBody>
      </p:sp>
    </p:spTree>
    <p:extLst>
      <p:ext uri="{BB962C8B-B14F-4D97-AF65-F5344CB8AC3E}">
        <p14:creationId xmlns:p14="http://schemas.microsoft.com/office/powerpoint/2010/main" val="332585704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ONTENID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731520" y="365760"/>
            <a:ext cx="10728960" cy="8534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533" b="1" dirty="0">
                <a:solidFill>
                  <a:schemeClr val="tx2"/>
                </a:solidFill>
              </a:defRPr>
            </a:lvl1pPr>
          </a:lstStyle>
          <a:p>
            <a:pPr marL="0" indent="0" algn="l">
              <a:buNone/>
            </a:pPr>
            <a:endParaRPr lang="en-US" sz="4533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720" y="6339840"/>
            <a:ext cx="609600" cy="36576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333">
                <a:solidFill>
                  <a:schemeClr val="tx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75438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91EE551A-754E-8EBF-6A69-2FD067464F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7B36F641-D44E-36C0-614B-4DC3307FDA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597DDFE-FE1E-B9A8-24C0-00D699C0486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28352A7-4D7D-4A5E-A016-C2965DC63AEC}" type="datetimeFigureOut">
              <a:rPr lang="es-CO" smtClean="0"/>
              <a:t>15/10/26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ED09D7C-0847-1FAA-8DEF-F91B45E137A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92C2033-36CA-E140-26E8-1F54C7116C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BC55409-EAD8-4FD9-9741-7849243000B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0929216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99" name="Elipse 2">
            <a:extLst>
              <a:ext uri="{FF2B5EF4-FFF2-40B4-BE49-F238E27FC236}">
                <a16:creationId xmlns:a16="http://schemas.microsoft.com/office/drawing/2014/main" id="{73E27086-79B5-6F79-3728-22245EE1FBD1}"/>
              </a:ext>
            </a:extLst>
          </p:cNvPr>
          <p:cNvSpPr/>
          <p:nvPr/>
        </p:nvSpPr>
        <p:spPr>
          <a:xfrm>
            <a:off x="10160000" y="-1016000"/>
            <a:ext cx="3302000" cy="3302000"/>
          </a:xfrm>
          <a:prstGeom prst="ellipse">
            <a:avLst/>
          </a:prstGeom>
          <a:solidFill>
            <a:srgbClr val="6473F5">
              <a:alpha val="20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2" name="Text 0"/>
          <p:cNvSpPr>
            <a:spLocks noGrp="1"/>
          </p:cNvSpPr>
          <p:nvPr>
            <p:ph type="title" idx="100"/>
          </p:nvPr>
        </p:nvSpPr>
        <p:spPr>
          <a:prstGeom prst="rect">
            <a:avLst/>
          </a:prstGeom>
          <a:noFill/>
          <a:ln/>
        </p:spPr>
        <p:txBody>
          <a:bodyPr vert="horz" wrap="square" lIns="0" tIns="0" rIns="0" bIns="0" rtlCol="0" anchor="ctr">
            <a:normAutofit/>
          </a:bodyPr>
          <a:lstStyle/>
          <a:p>
            <a:pPr algn="ctr"/>
            <a:r>
              <a:rPr lang="es-419" b="1" dirty="0">
                <a:solidFill>
                  <a:srgbClr val="FFFFFF"/>
                </a:solidFill>
                <a:latin typeface="Calibri"/>
              </a:rPr>
              <a:t>Arquitectura Orientada a Servicios (SOA)</a:t>
            </a:r>
            <a:endParaRPr lang="en-US" dirty="0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BDFDCA49-15E5-9528-7942-58D1A631B8E2}"/>
              </a:ext>
            </a:extLst>
          </p:cNvPr>
          <p:cNvSpPr txBox="1"/>
          <p:nvPr/>
        </p:nvSpPr>
        <p:spPr>
          <a:xfrm>
            <a:off x="777813" y="4181031"/>
            <a:ext cx="6096000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400"/>
              </a:spcBef>
              <a:spcAft>
                <a:spcPts val="1600"/>
              </a:spcAft>
            </a:pPr>
            <a:r>
              <a:rPr lang="es-419" sz="1600" b="1" dirty="0">
                <a:solidFill>
                  <a:srgbClr val="FFFFFF"/>
                </a:solidFill>
                <a:latin typeface="Calibri"/>
              </a:rPr>
              <a:t> </a:t>
            </a:r>
            <a:r>
              <a:rPr lang="es-419" sz="2000" b="1" dirty="0">
                <a:solidFill>
                  <a:srgbClr val="FFFFFF"/>
                </a:solidFill>
                <a:latin typeface="Calibri"/>
              </a:rPr>
              <a:t>Integrantes del Equipo</a:t>
            </a:r>
          </a:p>
          <a:p>
            <a:pPr marL="457189" indent="-457189"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es-419" sz="2000" dirty="0">
                <a:solidFill>
                  <a:srgbClr val="BEC5E6"/>
                </a:solidFill>
                <a:latin typeface="Calibri"/>
              </a:rPr>
              <a:t>David Villanueva Potosí</a:t>
            </a:r>
          </a:p>
          <a:p>
            <a:pPr marL="457189" indent="-457189"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es-419" sz="2000" dirty="0">
                <a:solidFill>
                  <a:srgbClr val="BEC5E6"/>
                </a:solidFill>
                <a:latin typeface="Calibri"/>
              </a:rPr>
              <a:t>Brandon Duván Guevara Rodríguez</a:t>
            </a:r>
          </a:p>
          <a:p>
            <a:pPr marL="457189" indent="-457189"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es-419" sz="2000" dirty="0">
                <a:solidFill>
                  <a:srgbClr val="BEC5E6"/>
                </a:solidFill>
                <a:latin typeface="Calibri"/>
              </a:rPr>
              <a:t>Erick Santiago Vasquez Reyes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99" name="Elipse 2">
            <a:extLst>
              <a:ext uri="{FF2B5EF4-FFF2-40B4-BE49-F238E27FC236}">
                <a16:creationId xmlns:a16="http://schemas.microsoft.com/office/drawing/2014/main" id="{73E27086-79B5-6F79-3728-22245EE1FBD1}"/>
              </a:ext>
            </a:extLst>
          </p:cNvPr>
          <p:cNvSpPr/>
          <p:nvPr/>
        </p:nvSpPr>
        <p:spPr>
          <a:xfrm>
            <a:off x="10160000" y="-1016000"/>
            <a:ext cx="3302000" cy="3302000"/>
          </a:xfrm>
          <a:prstGeom prst="ellipse">
            <a:avLst/>
          </a:prstGeom>
          <a:solidFill>
            <a:srgbClr val="6473F5">
              <a:alpha val="20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2" name="Text 0"/>
          <p:cNvSpPr>
            <a:spLocks noGrp="1"/>
          </p:cNvSpPr>
          <p:nvPr>
            <p:ph type="title" idx="100"/>
          </p:nvPr>
        </p:nvSpPr>
        <p:spPr>
          <a:xfrm>
            <a:off x="630936" y="320040"/>
            <a:ext cx="10158984" cy="88696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>
            <a:normAutofit/>
          </a:bodyPr>
          <a:lstStyle/>
          <a:p>
            <a:r>
              <a:rPr lang="en-US" sz="3600" b="1" dirty="0">
                <a:solidFill>
                  <a:srgbClr val="FFFFFF"/>
                </a:solidFill>
                <a:latin typeface="Calibri"/>
              </a:rPr>
              <a:t>1. SOA: Definición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720" y="6339840"/>
            <a:ext cx="609600" cy="36576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333">
                <a:solidFill>
                  <a:schemeClr val="tx1"/>
                </a:solidFill>
              </a:defRPr>
            </a:lvl1pPr>
          </a:lstStyle>
          <a:p>
            <a:pPr algn="l"/>
            <a:fld id="{F7021451-1387-4CA6-816F-3879F97B5CBC}" type="slidenum">
              <a:rPr lang="en-US" b="0">
                <a:solidFill>
                  <a:srgbClr val="BEC5E6"/>
                </a:solidFill>
              </a:rPr>
              <a:t>2</a:t>
            </a:fld>
            <a:endParaRPr lang="en-US"/>
          </a:p>
        </p:txBody>
      </p:sp>
      <p:sp>
        <p:nvSpPr>
          <p:cNvPr id="3" name="Text 1"/>
          <p:cNvSpPr txBox="1"/>
          <p:nvPr/>
        </p:nvSpPr>
        <p:spPr>
          <a:xfrm>
            <a:off x="731520" y="1584960"/>
            <a:ext cx="5242560" cy="451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spcAft>
                <a:spcPts val="1333"/>
              </a:spcAft>
            </a:pPr>
            <a:r>
              <a:rPr lang="en-US" sz="2000" b="1" dirty="0">
                <a:solidFill>
                  <a:srgbClr val="FFFFFF"/>
                </a:solidFill>
                <a:latin typeface="Calibri"/>
              </a:rPr>
              <a:t>Qué es: </a:t>
            </a:r>
            <a:r>
              <a:rPr lang="en-US" sz="2000" dirty="0" err="1">
                <a:solidFill>
                  <a:srgbClr val="BEC5E6"/>
                </a:solidFill>
                <a:latin typeface="Calibri"/>
              </a:rPr>
              <a:t>estilo</a:t>
            </a:r>
            <a:r>
              <a:rPr lang="en-US" sz="2000" dirty="0">
                <a:solidFill>
                  <a:srgbClr val="BEC5E6"/>
                </a:solidFill>
                <a:latin typeface="Calibri"/>
              </a:rPr>
              <a:t> de arquitectura que divide el software en servicios independientes. Cada uno hace una función de negocio y publica un contrato.</a:t>
            </a:r>
          </a:p>
          <a:p>
            <a:pPr>
              <a:spcAft>
                <a:spcPts val="1333"/>
              </a:spcAft>
            </a:pPr>
            <a:r>
              <a:rPr lang="en-US" sz="2000" b="1" dirty="0">
                <a:solidFill>
                  <a:srgbClr val="FFFFFF"/>
                </a:solidFill>
                <a:latin typeface="Calibri"/>
              </a:rPr>
              <a:t>Metáfora: </a:t>
            </a:r>
            <a:r>
              <a:rPr lang="en-US" sz="2000" dirty="0">
                <a:solidFill>
                  <a:srgbClr val="BEC5E6"/>
                </a:solidFill>
                <a:latin typeface="Calibri"/>
              </a:rPr>
              <a:t>un centro comercial; cada local hace una cosa y, si uno cierra, los demás siguen abiertos.</a:t>
            </a:r>
          </a:p>
          <a:p>
            <a:pPr>
              <a:spcAft>
                <a:spcPts val="1333"/>
              </a:spcAft>
            </a:pPr>
            <a:r>
              <a:rPr lang="en-US" sz="2000" b="1" dirty="0">
                <a:solidFill>
                  <a:srgbClr val="FFFFFF"/>
                </a:solidFill>
                <a:latin typeface="Calibri"/>
              </a:rPr>
              <a:t>Sirve para: </a:t>
            </a:r>
            <a:r>
              <a:rPr lang="en-US" sz="2000" dirty="0" err="1">
                <a:solidFill>
                  <a:srgbClr val="BEC5E6"/>
                </a:solidFill>
                <a:latin typeface="Calibri"/>
              </a:rPr>
              <a:t>integrar</a:t>
            </a:r>
            <a:r>
              <a:rPr lang="en-US" sz="2000" dirty="0">
                <a:solidFill>
                  <a:srgbClr val="BEC5E6"/>
                </a:solidFill>
                <a:latin typeface="Calibri"/>
              </a:rPr>
              <a:t> sistemas viejos y nuevos, reutilizar lógica y cambiar una parte sin romper todo.</a:t>
            </a:r>
          </a:p>
        </p:txBody>
      </p:sp>
      <p:sp>
        <p:nvSpPr>
          <p:cNvPr id="4" name="Separador"/>
          <p:cNvSpPr/>
          <p:nvPr/>
        </p:nvSpPr>
        <p:spPr>
          <a:xfrm>
            <a:off x="6278880" y="1463040"/>
            <a:ext cx="0" cy="4632960"/>
          </a:xfrm>
          <a:prstGeom prst="line">
            <a:avLst/>
          </a:prstGeom>
          <a:noFill/>
          <a:ln w="12700">
            <a:solidFill>
              <a:srgbClr val="2B3270"/>
            </a:solidFill>
            <a:prstDash val="solid"/>
          </a:ln>
        </p:spPr>
        <p:txBody>
          <a:bodyPr/>
          <a:lstStyle/>
          <a:p>
            <a:endParaRPr lang="es-419" sz="2400"/>
          </a:p>
        </p:txBody>
      </p:sp>
      <p:sp>
        <p:nvSpPr>
          <p:cNvPr id="5" name="Text 3"/>
          <p:cNvSpPr txBox="1"/>
          <p:nvPr/>
        </p:nvSpPr>
        <p:spPr>
          <a:xfrm>
            <a:off x="6583680" y="1402080"/>
            <a:ext cx="487680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667" b="1" dirty="0">
                <a:solidFill>
                  <a:srgbClr val="F4B942"/>
                </a:solidFill>
                <a:latin typeface="Calibri"/>
              </a:rPr>
              <a:t>Principios</a:t>
            </a:r>
            <a:endParaRPr lang="en-US" sz="2667" dirty="0"/>
          </a:p>
        </p:txBody>
      </p:sp>
      <p:sp>
        <p:nvSpPr>
          <p:cNvPr id="6" name="Text 4"/>
          <p:cNvSpPr txBox="1"/>
          <p:nvPr/>
        </p:nvSpPr>
        <p:spPr>
          <a:xfrm>
            <a:off x="6583680" y="2072640"/>
            <a:ext cx="48768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spcAft>
                <a:spcPts val="800"/>
              </a:spcAft>
            </a:pPr>
            <a:r>
              <a:rPr lang="en-US" sz="1733" b="1" dirty="0">
                <a:solidFill>
                  <a:srgbClr val="FFFFFF"/>
                </a:solidFill>
                <a:latin typeface="Calibri"/>
              </a:rPr>
              <a:t>Contrato estándar: </a:t>
            </a:r>
            <a:r>
              <a:rPr lang="en-US" sz="1733" dirty="0">
                <a:solidFill>
                  <a:srgbClr val="BEC5E6"/>
                </a:solidFill>
                <a:latin typeface="Calibri"/>
              </a:rPr>
              <a:t>describe qué ofrece.</a:t>
            </a:r>
          </a:p>
          <a:p>
            <a:pPr>
              <a:spcAft>
                <a:spcPts val="800"/>
              </a:spcAft>
            </a:pPr>
            <a:r>
              <a:rPr lang="en-US" sz="1733" b="1" dirty="0">
                <a:solidFill>
                  <a:srgbClr val="FFFFFF"/>
                </a:solidFill>
                <a:latin typeface="Calibri"/>
              </a:rPr>
              <a:t>Bajo acoplamiento: </a:t>
            </a:r>
            <a:r>
              <a:rPr lang="en-US" sz="1733" dirty="0">
                <a:solidFill>
                  <a:srgbClr val="BEC5E6"/>
                </a:solidFill>
                <a:latin typeface="Calibri"/>
              </a:rPr>
              <a:t>depende del contrato, no del código.</a:t>
            </a:r>
          </a:p>
          <a:p>
            <a:pPr>
              <a:spcAft>
                <a:spcPts val="800"/>
              </a:spcAft>
            </a:pPr>
            <a:r>
              <a:rPr lang="en-US" sz="1733" b="1" dirty="0">
                <a:solidFill>
                  <a:srgbClr val="FFFFFF"/>
                </a:solidFill>
                <a:latin typeface="Calibri"/>
              </a:rPr>
              <a:t>Reutilización: </a:t>
            </a:r>
            <a:r>
              <a:rPr lang="en-US" sz="1733" dirty="0">
                <a:solidFill>
                  <a:srgbClr val="BEC5E6"/>
                </a:solidFill>
                <a:latin typeface="Calibri"/>
              </a:rPr>
              <a:t>varias apps usan el mismo servicio.</a:t>
            </a:r>
          </a:p>
          <a:p>
            <a:pPr>
              <a:spcAft>
                <a:spcPts val="800"/>
              </a:spcAft>
            </a:pPr>
            <a:r>
              <a:rPr lang="en-US" sz="1733" b="1" dirty="0">
                <a:solidFill>
                  <a:srgbClr val="FFFFFF"/>
                </a:solidFill>
                <a:latin typeface="Calibri"/>
              </a:rPr>
              <a:t>Autonomía: </a:t>
            </a:r>
            <a:r>
              <a:rPr lang="en-US" sz="1733" dirty="0">
                <a:solidFill>
                  <a:srgbClr val="BEC5E6"/>
                </a:solidFill>
                <a:latin typeface="Calibri"/>
              </a:rPr>
              <a:t>cada servicio controla su lógica y datos.</a:t>
            </a:r>
          </a:p>
          <a:p>
            <a:pPr>
              <a:spcAft>
                <a:spcPts val="800"/>
              </a:spcAft>
            </a:pPr>
            <a:r>
              <a:rPr lang="en-US" sz="1733" b="1" dirty="0">
                <a:solidFill>
                  <a:srgbClr val="FFFFFF"/>
                </a:solidFill>
                <a:latin typeface="Calibri"/>
              </a:rPr>
              <a:t>Abstracción: </a:t>
            </a:r>
            <a:r>
              <a:rPr lang="en-US" sz="1733" dirty="0">
                <a:solidFill>
                  <a:srgbClr val="BEC5E6"/>
                </a:solidFill>
                <a:latin typeface="Calibri"/>
              </a:rPr>
              <a:t>el consumidor no ve el interior.</a:t>
            </a:r>
          </a:p>
          <a:p>
            <a:pPr>
              <a:spcAft>
                <a:spcPts val="800"/>
              </a:spcAft>
            </a:pPr>
            <a:r>
              <a:rPr lang="en-US" sz="1733" b="1" dirty="0">
                <a:solidFill>
                  <a:srgbClr val="FFFFFF"/>
                </a:solidFill>
                <a:latin typeface="Calibri"/>
              </a:rPr>
              <a:t>Composición: </a:t>
            </a:r>
            <a:r>
              <a:rPr lang="en-US" sz="1733" dirty="0">
                <a:solidFill>
                  <a:srgbClr val="BEC5E6"/>
                </a:solidFill>
                <a:latin typeface="Calibri"/>
              </a:rPr>
              <a:t>servicios simples forman procesos.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99" name="Elipse 2">
            <a:extLst>
              <a:ext uri="{FF2B5EF4-FFF2-40B4-BE49-F238E27FC236}">
                <a16:creationId xmlns:a16="http://schemas.microsoft.com/office/drawing/2014/main" id="{73E27086-79B5-6F79-3728-22245EE1FBD1}"/>
              </a:ext>
            </a:extLst>
          </p:cNvPr>
          <p:cNvSpPr/>
          <p:nvPr/>
        </p:nvSpPr>
        <p:spPr>
          <a:xfrm>
            <a:off x="10160000" y="-1016000"/>
            <a:ext cx="3302000" cy="3302000"/>
          </a:xfrm>
          <a:prstGeom prst="ellipse">
            <a:avLst/>
          </a:prstGeom>
          <a:solidFill>
            <a:srgbClr val="6473F5">
              <a:alpha val="20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2" name="Text 0"/>
          <p:cNvSpPr>
            <a:spLocks noGrp="1"/>
          </p:cNvSpPr>
          <p:nvPr>
            <p:ph type="title" idx="100"/>
          </p:nvPr>
        </p:nvSpPr>
        <p:spPr>
          <a:xfrm>
            <a:off x="630936" y="320040"/>
            <a:ext cx="10158984" cy="88696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>
            <a:normAutofit/>
          </a:bodyPr>
          <a:lstStyle/>
          <a:p>
            <a:r>
              <a:rPr lang="en-US" sz="3600" b="1" dirty="0">
                <a:solidFill>
                  <a:srgbClr val="FFFFFF"/>
                </a:solidFill>
                <a:latin typeface="Calibri"/>
              </a:rPr>
              <a:t>2. SOA: Características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720" y="6339840"/>
            <a:ext cx="609600" cy="36576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333">
                <a:solidFill>
                  <a:schemeClr val="tx1"/>
                </a:solidFill>
              </a:defRPr>
            </a:lvl1pPr>
          </a:lstStyle>
          <a:p>
            <a:pPr algn="l"/>
            <a:fld id="{F7021451-1387-4CA6-816F-3879F97B5CBC}" type="slidenum">
              <a:rPr lang="en-US" b="0">
                <a:solidFill>
                  <a:srgbClr val="BEC5E6"/>
                </a:solidFill>
              </a:rPr>
              <a:t>3</a:t>
            </a:fld>
            <a:endParaRPr lang="en-US"/>
          </a:p>
        </p:txBody>
      </p:sp>
      <p:sp>
        <p:nvSpPr>
          <p:cNvPr id="3" name="Text 1"/>
          <p:cNvSpPr txBox="1"/>
          <p:nvPr/>
        </p:nvSpPr>
        <p:spPr>
          <a:xfrm>
            <a:off x="731520" y="1402080"/>
            <a:ext cx="5242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667" b="1" dirty="0">
                <a:solidFill>
                  <a:srgbClr val="F4B942"/>
                </a:solidFill>
                <a:latin typeface="Calibri"/>
              </a:rPr>
              <a:t>Cómo se organiza</a:t>
            </a:r>
            <a:endParaRPr lang="en-US" sz="2667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011680"/>
            <a:ext cx="5242560" cy="4145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spcAft>
                <a:spcPts val="1067"/>
              </a:spcAft>
            </a:pPr>
            <a:r>
              <a:rPr lang="en-US" sz="1867" b="1" dirty="0">
                <a:solidFill>
                  <a:srgbClr val="FFFFFF"/>
                </a:solidFill>
                <a:latin typeface="Calibri"/>
              </a:rPr>
              <a:t>Proveedor: </a:t>
            </a:r>
            <a:r>
              <a:rPr lang="en-US" sz="1867" dirty="0">
                <a:solidFill>
                  <a:srgbClr val="BEC5E6"/>
                </a:solidFill>
                <a:latin typeface="Calibri"/>
              </a:rPr>
              <a:t>implementa y publica el servicio.</a:t>
            </a:r>
          </a:p>
          <a:p>
            <a:pPr>
              <a:spcAft>
                <a:spcPts val="1067"/>
              </a:spcAft>
            </a:pPr>
            <a:r>
              <a:rPr lang="en-US" sz="1867" b="1" dirty="0">
                <a:solidFill>
                  <a:srgbClr val="FFFFFF"/>
                </a:solidFill>
                <a:latin typeface="Calibri"/>
              </a:rPr>
              <a:t>Consumidor: </a:t>
            </a:r>
            <a:r>
              <a:rPr lang="en-US" sz="1867" dirty="0">
                <a:solidFill>
                  <a:srgbClr val="BEC5E6"/>
                </a:solidFill>
                <a:latin typeface="Calibri"/>
              </a:rPr>
              <a:t>lo busca y lo usa (app web o móvil).</a:t>
            </a:r>
          </a:p>
          <a:p>
            <a:pPr>
              <a:spcAft>
                <a:spcPts val="1067"/>
              </a:spcAft>
            </a:pPr>
            <a:r>
              <a:rPr lang="en-US" sz="1867" b="1" dirty="0">
                <a:solidFill>
                  <a:srgbClr val="FFFFFF"/>
                </a:solidFill>
                <a:latin typeface="Calibri"/>
              </a:rPr>
              <a:t>Registro: </a:t>
            </a:r>
            <a:r>
              <a:rPr lang="en-US" sz="1867" dirty="0">
                <a:solidFill>
                  <a:srgbClr val="BEC5E6"/>
                </a:solidFill>
                <a:latin typeface="Calibri"/>
              </a:rPr>
              <a:t>catálogo donde se publican los contratos.</a:t>
            </a:r>
          </a:p>
          <a:p>
            <a:pPr>
              <a:spcAft>
                <a:spcPts val="1067"/>
              </a:spcAft>
            </a:pPr>
            <a:r>
              <a:rPr lang="en-US" sz="1867" b="1" dirty="0">
                <a:solidFill>
                  <a:srgbClr val="FFFFFF"/>
                </a:solidFill>
                <a:latin typeface="Calibri"/>
              </a:rPr>
              <a:t>Capas: </a:t>
            </a:r>
            <a:r>
              <a:rPr lang="en-US" sz="1867" dirty="0">
                <a:solidFill>
                  <a:srgbClr val="BEC5E6"/>
                </a:solidFill>
                <a:latin typeface="Calibri"/>
              </a:rPr>
              <a:t>consumidores, procesos, servicios de negocio, datos e integración (ESB, gateway, broker).</a:t>
            </a:r>
          </a:p>
        </p:txBody>
      </p:sp>
      <p:sp>
        <p:nvSpPr>
          <p:cNvPr id="5" name="Separador"/>
          <p:cNvSpPr/>
          <p:nvPr/>
        </p:nvSpPr>
        <p:spPr>
          <a:xfrm>
            <a:off x="6278880" y="1463040"/>
            <a:ext cx="0" cy="4632960"/>
          </a:xfrm>
          <a:prstGeom prst="line">
            <a:avLst/>
          </a:prstGeom>
          <a:noFill/>
          <a:ln w="12700">
            <a:solidFill>
              <a:srgbClr val="2B3270"/>
            </a:solidFill>
            <a:prstDash val="solid"/>
          </a:ln>
        </p:spPr>
        <p:txBody>
          <a:bodyPr/>
          <a:lstStyle/>
          <a:p>
            <a:endParaRPr lang="es-419" sz="2400"/>
          </a:p>
        </p:txBody>
      </p:sp>
      <p:sp>
        <p:nvSpPr>
          <p:cNvPr id="6" name="Text 4"/>
          <p:cNvSpPr txBox="1"/>
          <p:nvPr/>
        </p:nvSpPr>
        <p:spPr>
          <a:xfrm>
            <a:off x="6583680" y="1402080"/>
            <a:ext cx="487680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667" b="1" dirty="0">
                <a:solidFill>
                  <a:srgbClr val="F4B942"/>
                </a:solidFill>
                <a:latin typeface="Calibri"/>
              </a:rPr>
              <a:t>Cómo funciona</a:t>
            </a:r>
            <a:endParaRPr lang="en-US" sz="2667" dirty="0"/>
          </a:p>
        </p:txBody>
      </p:sp>
      <p:sp>
        <p:nvSpPr>
          <p:cNvPr id="7" name="Text 5"/>
          <p:cNvSpPr txBox="1"/>
          <p:nvPr/>
        </p:nvSpPr>
        <p:spPr>
          <a:xfrm>
            <a:off x="6583680" y="2072640"/>
            <a:ext cx="48768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457189" indent="-457189">
              <a:spcAft>
                <a:spcPts val="1067"/>
              </a:spcAft>
              <a:buSzPct val="100000"/>
              <a:buFont typeface="+mj-lt"/>
              <a:buAutoNum type="arabicPeriod"/>
            </a:pPr>
            <a:r>
              <a:rPr lang="en-US" sz="1867" dirty="0">
                <a:solidFill>
                  <a:srgbClr val="BEC5E6"/>
                </a:solidFill>
                <a:latin typeface="Calibri"/>
              </a:rPr>
              <a:t>El proveedor publica su contrato.</a:t>
            </a:r>
          </a:p>
          <a:p>
            <a:pPr marL="457189" indent="-457189">
              <a:spcAft>
                <a:spcPts val="1067"/>
              </a:spcAft>
              <a:buSzPct val="100000"/>
              <a:buFont typeface="+mj-lt"/>
              <a:buAutoNum type="arabicPeriod"/>
            </a:pPr>
            <a:r>
              <a:rPr lang="en-US" sz="1867" dirty="0">
                <a:solidFill>
                  <a:srgbClr val="BEC5E6"/>
                </a:solidFill>
                <a:latin typeface="Calibri"/>
              </a:rPr>
              <a:t>El consumidor busca el servicio.</a:t>
            </a:r>
          </a:p>
          <a:p>
            <a:pPr marL="457189" indent="-457189">
              <a:spcAft>
                <a:spcPts val="1067"/>
              </a:spcAft>
              <a:buSzPct val="100000"/>
              <a:buFont typeface="+mj-lt"/>
              <a:buAutoNum type="arabicPeriod"/>
            </a:pPr>
            <a:r>
              <a:rPr lang="en-US" sz="1867" dirty="0">
                <a:solidFill>
                  <a:srgbClr val="BEC5E6"/>
                </a:solidFill>
                <a:latin typeface="Calibri"/>
              </a:rPr>
              <a:t>Envía un mensaje (SOAP/XML o REST/JSON) por HTTP o colas.</a:t>
            </a:r>
          </a:p>
          <a:p>
            <a:pPr marL="457189" indent="-457189">
              <a:spcAft>
                <a:spcPts val="1067"/>
              </a:spcAft>
              <a:buSzPct val="100000"/>
              <a:buFont typeface="+mj-lt"/>
              <a:buAutoNum type="arabicPeriod"/>
            </a:pPr>
            <a:r>
              <a:rPr lang="en-US" sz="1867" dirty="0">
                <a:solidFill>
                  <a:srgbClr val="BEC5E6"/>
                </a:solidFill>
                <a:latin typeface="Calibri"/>
              </a:rPr>
              <a:t>El proveedor responde; su código interno no se ve.</a:t>
            </a:r>
          </a:p>
        </p:txBody>
      </p:sp>
      <p:sp>
        <p:nvSpPr>
          <p:cNvPr id="8" name="Text 6"/>
          <p:cNvSpPr txBox="1"/>
          <p:nvPr/>
        </p:nvSpPr>
        <p:spPr>
          <a:xfrm>
            <a:off x="6583680" y="5120640"/>
            <a:ext cx="4876800" cy="975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867" b="1" dirty="0">
                <a:solidFill>
                  <a:srgbClr val="FFFFFF"/>
                </a:solidFill>
                <a:latin typeface="Calibri"/>
              </a:rPr>
              <a:t>Además: </a:t>
            </a:r>
            <a:r>
              <a:rPr lang="en-US" sz="1867" dirty="0">
                <a:solidFill>
                  <a:srgbClr val="BEC5E6"/>
                </a:solidFill>
                <a:latin typeface="Calibri"/>
              </a:rPr>
              <a:t>los servicios no guardan estado y funcionan en distintas plataformas.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99" name="Elipse 2">
            <a:extLst>
              <a:ext uri="{FF2B5EF4-FFF2-40B4-BE49-F238E27FC236}">
                <a16:creationId xmlns:a16="http://schemas.microsoft.com/office/drawing/2014/main" id="{73E27086-79B5-6F79-3728-22245EE1FBD1}"/>
              </a:ext>
            </a:extLst>
          </p:cNvPr>
          <p:cNvSpPr/>
          <p:nvPr/>
        </p:nvSpPr>
        <p:spPr>
          <a:xfrm>
            <a:off x="10160000" y="-1016000"/>
            <a:ext cx="3302000" cy="3302000"/>
          </a:xfrm>
          <a:prstGeom prst="ellipse">
            <a:avLst/>
          </a:prstGeom>
          <a:solidFill>
            <a:srgbClr val="6473F5">
              <a:alpha val="20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2" name="Text 0"/>
          <p:cNvSpPr>
            <a:spLocks noGrp="1"/>
          </p:cNvSpPr>
          <p:nvPr>
            <p:ph type="title" idx="100"/>
          </p:nvPr>
        </p:nvSpPr>
        <p:spPr>
          <a:xfrm>
            <a:off x="630936" y="320040"/>
            <a:ext cx="10158984" cy="88696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>
            <a:normAutofit/>
          </a:bodyPr>
          <a:lstStyle/>
          <a:p>
            <a:r>
              <a:rPr lang="en-US" sz="3600" b="1" dirty="0">
                <a:solidFill>
                  <a:srgbClr val="FFFFFF"/>
                </a:solidFill>
                <a:latin typeface="Calibri"/>
              </a:rPr>
              <a:t>3. SOA: Diagrama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720" y="6339840"/>
            <a:ext cx="609600" cy="36576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333">
                <a:solidFill>
                  <a:schemeClr val="tx1"/>
                </a:solidFill>
              </a:defRPr>
            </a:lvl1pPr>
          </a:lstStyle>
          <a:p>
            <a:pPr algn="l"/>
            <a:fld id="{F7021451-1387-4CA6-816F-3879F97B5CBC}" type="slidenum">
              <a:rPr lang="en-US" b="0">
                <a:solidFill>
                  <a:srgbClr val="BEC5E6"/>
                </a:solidFill>
              </a:rPr>
              <a:t>4</a:t>
            </a:fld>
            <a:endParaRPr lang="en-US"/>
          </a:p>
        </p:txBody>
      </p:sp>
      <p:sp>
        <p:nvSpPr>
          <p:cNvPr id="3" name="Registro de servicios"/>
          <p:cNvSpPr/>
          <p:nvPr/>
        </p:nvSpPr>
        <p:spPr>
          <a:xfrm>
            <a:off x="2316480" y="1828800"/>
            <a:ext cx="3413760" cy="853440"/>
          </a:xfrm>
          <a:prstGeom prst="rect">
            <a:avLst/>
          </a:prstGeom>
          <a:solidFill>
            <a:srgbClr val="6473F5"/>
          </a:solidFill>
          <a:ln w="15875">
            <a:noFill/>
            <a:prstDash val="solid"/>
          </a:ln>
        </p:spPr>
        <p:txBody>
          <a:bodyPr/>
          <a:lstStyle/>
          <a:p>
            <a:endParaRPr lang="es-419" sz="2400"/>
          </a:p>
        </p:txBody>
      </p:sp>
      <p:sp>
        <p:nvSpPr>
          <p:cNvPr id="4" name="Text 2"/>
          <p:cNvSpPr txBox="1"/>
          <p:nvPr/>
        </p:nvSpPr>
        <p:spPr>
          <a:xfrm>
            <a:off x="2316480" y="1828800"/>
            <a:ext cx="341376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 dirty="0">
                <a:solidFill>
                  <a:srgbClr val="FFFFFF"/>
                </a:solidFill>
                <a:latin typeface="Calibri"/>
              </a:rPr>
              <a:t>Registro de servicios</a:t>
            </a:r>
            <a:endParaRPr lang="en-US" sz="1600" dirty="0"/>
          </a:p>
        </p:txBody>
      </p:sp>
      <p:sp>
        <p:nvSpPr>
          <p:cNvPr id="5" name="Consumidor"/>
          <p:cNvSpPr/>
          <p:nvPr/>
        </p:nvSpPr>
        <p:spPr>
          <a:xfrm>
            <a:off x="731520" y="4145280"/>
            <a:ext cx="2438400" cy="975360"/>
          </a:xfrm>
          <a:prstGeom prst="rect">
            <a:avLst/>
          </a:prstGeom>
          <a:solidFill>
            <a:srgbClr val="6473F5"/>
          </a:solidFill>
          <a:ln w="15875">
            <a:noFill/>
            <a:prstDash val="solid"/>
          </a:ln>
        </p:spPr>
        <p:txBody>
          <a:bodyPr/>
          <a:lstStyle/>
          <a:p>
            <a:endParaRPr lang="es-419" sz="2400"/>
          </a:p>
        </p:txBody>
      </p:sp>
      <p:sp>
        <p:nvSpPr>
          <p:cNvPr id="6" name="Text 4"/>
          <p:cNvSpPr txBox="1"/>
          <p:nvPr/>
        </p:nvSpPr>
        <p:spPr>
          <a:xfrm>
            <a:off x="731520" y="4145280"/>
            <a:ext cx="2438400" cy="975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 dirty="0">
                <a:solidFill>
                  <a:srgbClr val="FFFFFF"/>
                </a:solidFill>
                <a:latin typeface="Calibri"/>
              </a:rPr>
              <a:t>Consumidor</a:t>
            </a:r>
            <a:endParaRPr lang="en-US" sz="1600" dirty="0"/>
          </a:p>
        </p:txBody>
      </p:sp>
      <p:sp>
        <p:nvSpPr>
          <p:cNvPr id="7" name="Proveedor"/>
          <p:cNvSpPr/>
          <p:nvPr/>
        </p:nvSpPr>
        <p:spPr>
          <a:xfrm>
            <a:off x="4876800" y="4145280"/>
            <a:ext cx="2438400" cy="975360"/>
          </a:xfrm>
          <a:prstGeom prst="rect">
            <a:avLst/>
          </a:prstGeom>
          <a:solidFill>
            <a:srgbClr val="6473F5"/>
          </a:solidFill>
          <a:ln w="15875">
            <a:noFill/>
            <a:prstDash val="solid"/>
          </a:ln>
        </p:spPr>
        <p:txBody>
          <a:bodyPr/>
          <a:lstStyle/>
          <a:p>
            <a:endParaRPr lang="es-419" sz="2400"/>
          </a:p>
        </p:txBody>
      </p:sp>
      <p:sp>
        <p:nvSpPr>
          <p:cNvPr id="8" name="Text 6"/>
          <p:cNvSpPr txBox="1"/>
          <p:nvPr/>
        </p:nvSpPr>
        <p:spPr>
          <a:xfrm>
            <a:off x="4876800" y="4145280"/>
            <a:ext cx="2438400" cy="975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 dirty="0">
                <a:solidFill>
                  <a:srgbClr val="FFFFFF"/>
                </a:solidFill>
                <a:latin typeface="Calibri"/>
              </a:rPr>
              <a:t>Proveedor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 flipV="1">
            <a:off x="1950720" y="2682240"/>
            <a:ext cx="853440" cy="1463040"/>
          </a:xfrm>
          <a:prstGeom prst="line">
            <a:avLst/>
          </a:prstGeom>
          <a:noFill/>
          <a:ln w="19050">
            <a:solidFill>
              <a:srgbClr val="BEC5E6"/>
            </a:solidFill>
            <a:prstDash val="solid"/>
            <a:tailEnd type="triangle"/>
          </a:ln>
        </p:spPr>
        <p:txBody>
          <a:bodyPr/>
          <a:lstStyle/>
          <a:p>
            <a:endParaRPr lang="es-419" sz="2400"/>
          </a:p>
        </p:txBody>
      </p:sp>
      <p:sp>
        <p:nvSpPr>
          <p:cNvPr id="10" name="Shape 8"/>
          <p:cNvSpPr/>
          <p:nvPr/>
        </p:nvSpPr>
        <p:spPr>
          <a:xfrm>
            <a:off x="5242560" y="2682240"/>
            <a:ext cx="853440" cy="1463040"/>
          </a:xfrm>
          <a:prstGeom prst="line">
            <a:avLst/>
          </a:prstGeom>
          <a:noFill/>
          <a:ln w="19050">
            <a:solidFill>
              <a:srgbClr val="BEC5E6"/>
            </a:solidFill>
            <a:prstDash val="solid"/>
            <a:headEnd type="triangle"/>
            <a:tailEnd type="none"/>
          </a:ln>
        </p:spPr>
        <p:txBody>
          <a:bodyPr/>
          <a:lstStyle/>
          <a:p>
            <a:endParaRPr lang="es-419" sz="2400"/>
          </a:p>
        </p:txBody>
      </p:sp>
      <p:sp>
        <p:nvSpPr>
          <p:cNvPr id="11" name="Shape 9"/>
          <p:cNvSpPr/>
          <p:nvPr/>
        </p:nvSpPr>
        <p:spPr>
          <a:xfrm>
            <a:off x="3169920" y="4413504"/>
            <a:ext cx="1706880" cy="0"/>
          </a:xfrm>
          <a:prstGeom prst="line">
            <a:avLst/>
          </a:prstGeom>
          <a:noFill/>
          <a:ln w="19050">
            <a:solidFill>
              <a:srgbClr val="BEC5E6"/>
            </a:solidFill>
            <a:prstDash val="solid"/>
            <a:tailEnd type="triangle"/>
          </a:ln>
        </p:spPr>
        <p:txBody>
          <a:bodyPr/>
          <a:lstStyle/>
          <a:p>
            <a:endParaRPr lang="es-419" sz="2400"/>
          </a:p>
        </p:txBody>
      </p:sp>
      <p:sp>
        <p:nvSpPr>
          <p:cNvPr id="12" name="Shape 10"/>
          <p:cNvSpPr/>
          <p:nvPr/>
        </p:nvSpPr>
        <p:spPr>
          <a:xfrm>
            <a:off x="3169920" y="4876800"/>
            <a:ext cx="1706880" cy="0"/>
          </a:xfrm>
          <a:prstGeom prst="line">
            <a:avLst/>
          </a:prstGeom>
          <a:noFill/>
          <a:ln w="19050">
            <a:solidFill>
              <a:srgbClr val="BEC5E6"/>
            </a:solidFill>
            <a:prstDash val="solid"/>
            <a:headEnd type="triangle"/>
            <a:tailEnd type="none"/>
          </a:ln>
        </p:spPr>
        <p:txBody>
          <a:bodyPr/>
          <a:lstStyle/>
          <a:p>
            <a:endParaRPr lang="es-419" sz="2400"/>
          </a:p>
        </p:txBody>
      </p:sp>
      <p:sp>
        <p:nvSpPr>
          <p:cNvPr id="13" name="Text 11"/>
          <p:cNvSpPr txBox="1"/>
          <p:nvPr/>
        </p:nvSpPr>
        <p:spPr>
          <a:xfrm>
            <a:off x="731520" y="3230880"/>
            <a:ext cx="14020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/>
            <a:r>
              <a:rPr lang="en-US" sz="1600" dirty="0">
                <a:solidFill>
                  <a:srgbClr val="F4B942"/>
                </a:solidFill>
                <a:latin typeface="Calibri"/>
              </a:rPr>
              <a:t>2 busca</a:t>
            </a:r>
          </a:p>
        </p:txBody>
      </p:sp>
      <p:sp>
        <p:nvSpPr>
          <p:cNvPr id="14" name="Text 12"/>
          <p:cNvSpPr txBox="1"/>
          <p:nvPr/>
        </p:nvSpPr>
        <p:spPr>
          <a:xfrm>
            <a:off x="6035040" y="3230880"/>
            <a:ext cx="195072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600" dirty="0">
                <a:solidFill>
                  <a:srgbClr val="F4B942"/>
                </a:solidFill>
                <a:latin typeface="Calibri"/>
              </a:rPr>
              <a:t>1 publica contrato</a:t>
            </a:r>
          </a:p>
        </p:txBody>
      </p:sp>
      <p:sp>
        <p:nvSpPr>
          <p:cNvPr id="15" name="Text 13"/>
          <p:cNvSpPr txBox="1"/>
          <p:nvPr/>
        </p:nvSpPr>
        <p:spPr>
          <a:xfrm>
            <a:off x="3169920" y="4023360"/>
            <a:ext cx="17068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1600" dirty="0">
                <a:solidFill>
                  <a:srgbClr val="F4B942"/>
                </a:solidFill>
                <a:latin typeface="Calibri"/>
              </a:rPr>
              <a:t>3 invoca</a:t>
            </a:r>
          </a:p>
        </p:txBody>
      </p:sp>
      <p:sp>
        <p:nvSpPr>
          <p:cNvPr id="16" name="Text 14"/>
          <p:cNvSpPr txBox="1"/>
          <p:nvPr/>
        </p:nvSpPr>
        <p:spPr>
          <a:xfrm>
            <a:off x="3169920" y="4974336"/>
            <a:ext cx="17068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1600" dirty="0">
                <a:solidFill>
                  <a:srgbClr val="F4B942"/>
                </a:solidFill>
                <a:latin typeface="Calibri"/>
              </a:rPr>
              <a:t>4 responde</a:t>
            </a:r>
          </a:p>
        </p:txBody>
      </p:sp>
      <p:sp>
        <p:nvSpPr>
          <p:cNvPr id="17" name="Separador"/>
          <p:cNvSpPr/>
          <p:nvPr/>
        </p:nvSpPr>
        <p:spPr>
          <a:xfrm>
            <a:off x="8168640" y="1463040"/>
            <a:ext cx="0" cy="4632960"/>
          </a:xfrm>
          <a:prstGeom prst="line">
            <a:avLst/>
          </a:prstGeom>
          <a:noFill/>
          <a:ln w="12700">
            <a:solidFill>
              <a:srgbClr val="2B3270"/>
            </a:solidFill>
            <a:prstDash val="solid"/>
          </a:ln>
        </p:spPr>
        <p:txBody>
          <a:bodyPr/>
          <a:lstStyle/>
          <a:p>
            <a:endParaRPr lang="es-419" sz="2400"/>
          </a:p>
        </p:txBody>
      </p:sp>
      <p:sp>
        <p:nvSpPr>
          <p:cNvPr id="18" name="Text 16"/>
          <p:cNvSpPr txBox="1"/>
          <p:nvPr/>
        </p:nvSpPr>
        <p:spPr>
          <a:xfrm>
            <a:off x="8473440" y="1828800"/>
            <a:ext cx="3048000" cy="390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spcAft>
                <a:spcPts val="1067"/>
              </a:spcAft>
            </a:pPr>
            <a:r>
              <a:rPr lang="en-US" sz="1867" b="1" dirty="0">
                <a:solidFill>
                  <a:srgbClr val="FFFFFF"/>
                </a:solidFill>
                <a:latin typeface="Calibri"/>
              </a:rPr>
              <a:t>1 </a:t>
            </a:r>
            <a:r>
              <a:rPr lang="en-US" sz="1867" dirty="0">
                <a:solidFill>
                  <a:srgbClr val="BEC5E6"/>
                </a:solidFill>
                <a:latin typeface="Calibri"/>
              </a:rPr>
              <a:t>El proveedor publica su contrato en el registro.</a:t>
            </a:r>
          </a:p>
          <a:p>
            <a:pPr>
              <a:spcAft>
                <a:spcPts val="1067"/>
              </a:spcAft>
            </a:pPr>
            <a:r>
              <a:rPr lang="en-US" sz="1867" b="1" dirty="0">
                <a:solidFill>
                  <a:srgbClr val="FFFFFF"/>
                </a:solidFill>
                <a:latin typeface="Calibri"/>
              </a:rPr>
              <a:t>2 </a:t>
            </a:r>
            <a:r>
              <a:rPr lang="en-US" sz="1867" dirty="0">
                <a:solidFill>
                  <a:srgbClr val="BEC5E6"/>
                </a:solidFill>
                <a:latin typeface="Calibri"/>
              </a:rPr>
              <a:t>El consumidor busca el servicio.</a:t>
            </a:r>
          </a:p>
          <a:p>
            <a:pPr>
              <a:spcAft>
                <a:spcPts val="1067"/>
              </a:spcAft>
            </a:pPr>
            <a:r>
              <a:rPr lang="en-US" sz="1867" b="1" dirty="0">
                <a:solidFill>
                  <a:srgbClr val="FFFFFF"/>
                </a:solidFill>
                <a:latin typeface="Calibri"/>
              </a:rPr>
              <a:t>3 </a:t>
            </a:r>
            <a:r>
              <a:rPr lang="en-US" sz="1867" dirty="0">
                <a:solidFill>
                  <a:srgbClr val="BEC5E6"/>
                </a:solidFill>
                <a:latin typeface="Calibri"/>
              </a:rPr>
              <a:t>Lo invoca con un mensaje.</a:t>
            </a:r>
          </a:p>
          <a:p>
            <a:pPr>
              <a:spcAft>
                <a:spcPts val="1067"/>
              </a:spcAft>
            </a:pPr>
            <a:r>
              <a:rPr lang="en-US" sz="1867" b="1" dirty="0">
                <a:solidFill>
                  <a:srgbClr val="FFFFFF"/>
                </a:solidFill>
                <a:latin typeface="Calibri"/>
              </a:rPr>
              <a:t>4 </a:t>
            </a:r>
            <a:r>
              <a:rPr lang="en-US" sz="1867" dirty="0">
                <a:solidFill>
                  <a:srgbClr val="BEC5E6"/>
                </a:solidFill>
                <a:latin typeface="Calibri"/>
              </a:rPr>
              <a:t>El proveedor responde.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lipse 2">
            <a:extLst>
              <a:ext uri="{FF2B5EF4-FFF2-40B4-BE49-F238E27FC236}">
                <a16:creationId xmlns:a16="http://schemas.microsoft.com/office/drawing/2014/main" id="{73E27086-79B5-6F79-3728-22245EE1FBD1}"/>
              </a:ext>
            </a:extLst>
          </p:cNvPr>
          <p:cNvSpPr/>
          <p:nvPr/>
        </p:nvSpPr>
        <p:spPr>
          <a:xfrm>
            <a:off x="10160000" y="-1016000"/>
            <a:ext cx="3302000" cy="3302000"/>
          </a:xfrm>
          <a:prstGeom prst="ellipse">
            <a:avLst/>
          </a:prstGeom>
          <a:solidFill>
            <a:srgbClr val="6473F5">
              <a:alpha val="20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4FC9324-6BCE-493A-12D3-5F293AC6DB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317500"/>
            <a:ext cx="10160000" cy="889000"/>
          </a:xfrm>
        </p:spPr>
        <p:txBody>
          <a:bodyPr anchor="ctr">
            <a:normAutofit/>
          </a:bodyPr>
          <a:lstStyle/>
          <a:p>
            <a:r>
              <a:rPr lang="es-CO" sz="3600" b="1" dirty="0">
                <a:solidFill>
                  <a:srgbClr val="FFFFFF"/>
                </a:solidFill>
                <a:latin typeface="Calibri" panose="020F0502020204030204" pitchFamily="34" charset="0"/>
              </a:rPr>
              <a:t>4. SOA: Ventajas</a:t>
            </a:r>
          </a:p>
        </p:txBody>
      </p:sp>
      <p:sp>
        <p:nvSpPr>
          <p:cNvPr id="4" name="Rectángulo: esquinas redondeadas 3">
            <a:extLst>
              <a:ext uri="{FF2B5EF4-FFF2-40B4-BE49-F238E27FC236}">
                <a16:creationId xmlns:a16="http://schemas.microsoft.com/office/drawing/2014/main" id="{BA1A7B28-27E2-7096-1FBC-6250A82044B0}"/>
              </a:ext>
            </a:extLst>
          </p:cNvPr>
          <p:cNvSpPr/>
          <p:nvPr/>
        </p:nvSpPr>
        <p:spPr>
          <a:xfrm>
            <a:off x="635000" y="1524000"/>
            <a:ext cx="5334000" cy="1778000"/>
          </a:xfrm>
          <a:prstGeom prst="roundRect">
            <a:avLst>
              <a:gd name="adj" fmla="val 8000"/>
            </a:avLst>
          </a:prstGeom>
          <a:solidFill>
            <a:srgbClr val="20265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5" name="Elipse 4">
            <a:extLst>
              <a:ext uri="{FF2B5EF4-FFF2-40B4-BE49-F238E27FC236}">
                <a16:creationId xmlns:a16="http://schemas.microsoft.com/office/drawing/2014/main" id="{39EA1E8B-6A49-E4C7-6CC9-52C34567DCC5}"/>
              </a:ext>
            </a:extLst>
          </p:cNvPr>
          <p:cNvSpPr/>
          <p:nvPr/>
        </p:nvSpPr>
        <p:spPr>
          <a:xfrm>
            <a:off x="889000" y="1778000"/>
            <a:ext cx="584200" cy="584200"/>
          </a:xfrm>
          <a:prstGeom prst="ellipse">
            <a:avLst/>
          </a:prstGeom>
          <a:solidFill>
            <a:srgbClr val="2EC4A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s-CO" sz="2300" b="1">
                <a:solidFill>
                  <a:srgbClr val="FFFFFF"/>
                </a:solidFill>
                <a:latin typeface="Segoe UI Symbol" panose="020B0502040204020203" pitchFamily="34" charset="0"/>
              </a:rPr>
              <a:t>✔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0BE01947-2410-16CC-ECE4-1034DB36CD79}"/>
              </a:ext>
            </a:extLst>
          </p:cNvPr>
          <p:cNvSpPr txBox="1"/>
          <p:nvPr/>
        </p:nvSpPr>
        <p:spPr>
          <a:xfrm>
            <a:off x="1676400" y="1727200"/>
            <a:ext cx="4064000" cy="406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800"/>
              </a:spcAft>
            </a:pPr>
            <a:r>
              <a:rPr lang="es-CO" sz="2100" b="1">
                <a:solidFill>
                  <a:srgbClr val="FFFFFF"/>
                </a:solidFill>
                <a:latin typeface="Calibri" panose="020F0502020204030204" pitchFamily="34" charset="0"/>
              </a:rPr>
              <a:t>Reutilización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1BE5C1B1-5949-AED3-C6C2-EE08962DC082}"/>
              </a:ext>
            </a:extLst>
          </p:cNvPr>
          <p:cNvSpPr txBox="1"/>
          <p:nvPr/>
        </p:nvSpPr>
        <p:spPr>
          <a:xfrm>
            <a:off x="1676400" y="2159000"/>
            <a:ext cx="4064000" cy="1041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800"/>
              </a:spcAft>
            </a:pPr>
            <a:r>
              <a:rPr lang="es-ES" sz="1500">
                <a:solidFill>
                  <a:srgbClr val="BEC5E6"/>
                </a:solidFill>
                <a:latin typeface="Calibri" panose="020F0502020204030204" pitchFamily="34" charset="0"/>
              </a:rPr>
              <a:t>Un mismo servicio lo usan varias aplicaciones, sin volver a escribir el código.</a:t>
            </a:r>
            <a:endParaRPr lang="es-CO" sz="1500">
              <a:solidFill>
                <a:srgbClr val="BEC5E6"/>
              </a:solidFill>
              <a:latin typeface="Calibri" panose="020F0502020204030204" pitchFamily="34" charset="0"/>
            </a:endParaRP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E8F06F80-2031-7981-419C-E5BEE8DDDD7D}"/>
              </a:ext>
            </a:extLst>
          </p:cNvPr>
          <p:cNvSpPr/>
          <p:nvPr/>
        </p:nvSpPr>
        <p:spPr>
          <a:xfrm>
            <a:off x="6223000" y="1524000"/>
            <a:ext cx="5334000" cy="1778000"/>
          </a:xfrm>
          <a:prstGeom prst="roundRect">
            <a:avLst>
              <a:gd name="adj" fmla="val 8000"/>
            </a:avLst>
          </a:prstGeom>
          <a:solidFill>
            <a:srgbClr val="20265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id="{3EB896B1-5D9A-81B9-31D2-BD22E740F8A9}"/>
              </a:ext>
            </a:extLst>
          </p:cNvPr>
          <p:cNvSpPr/>
          <p:nvPr/>
        </p:nvSpPr>
        <p:spPr>
          <a:xfrm>
            <a:off x="6477000" y="1778000"/>
            <a:ext cx="584200" cy="584200"/>
          </a:xfrm>
          <a:prstGeom prst="ellipse">
            <a:avLst/>
          </a:prstGeom>
          <a:solidFill>
            <a:srgbClr val="2EC4A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s-CO" sz="2300" b="1">
                <a:solidFill>
                  <a:srgbClr val="FFFFFF"/>
                </a:solidFill>
                <a:latin typeface="Segoe UI Symbol" panose="020B0502040204020203" pitchFamily="34" charset="0"/>
              </a:rPr>
              <a:t>✔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155297F9-9C29-435C-410D-ABEFC6403CB7}"/>
              </a:ext>
            </a:extLst>
          </p:cNvPr>
          <p:cNvSpPr txBox="1"/>
          <p:nvPr/>
        </p:nvSpPr>
        <p:spPr>
          <a:xfrm>
            <a:off x="7264400" y="1727200"/>
            <a:ext cx="4064000" cy="406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800"/>
              </a:spcAft>
            </a:pPr>
            <a:r>
              <a:rPr lang="es-CO" sz="2100" b="1">
                <a:solidFill>
                  <a:srgbClr val="FFFFFF"/>
                </a:solidFill>
                <a:latin typeface="Calibri" panose="020F0502020204030204" pitchFamily="34" charset="0"/>
              </a:rPr>
              <a:t>Bajo acoplamiento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D8A3ADE4-C4FA-B0ED-CFD7-6142EB5B435C}"/>
              </a:ext>
            </a:extLst>
          </p:cNvPr>
          <p:cNvSpPr txBox="1"/>
          <p:nvPr/>
        </p:nvSpPr>
        <p:spPr>
          <a:xfrm>
            <a:off x="7264400" y="2159000"/>
            <a:ext cx="4064000" cy="1041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800"/>
              </a:spcAft>
            </a:pPr>
            <a:r>
              <a:rPr lang="es-ES" sz="1500">
                <a:solidFill>
                  <a:srgbClr val="BEC5E6"/>
                </a:solidFill>
                <a:latin typeface="Calibri" panose="020F0502020204030204" pitchFamily="34" charset="0"/>
              </a:rPr>
              <a:t>Los servicios dependen del contrato, no del código de los demás.</a:t>
            </a:r>
            <a:endParaRPr lang="es-CO" sz="1500">
              <a:solidFill>
                <a:srgbClr val="BEC5E6"/>
              </a:solidFill>
              <a:latin typeface="Calibri" panose="020F0502020204030204" pitchFamily="34" charset="0"/>
            </a:endParaRPr>
          </a:p>
        </p:txBody>
      </p:sp>
      <p:sp>
        <p:nvSpPr>
          <p:cNvPr id="12" name="Rectángulo: esquinas redondeadas 11">
            <a:extLst>
              <a:ext uri="{FF2B5EF4-FFF2-40B4-BE49-F238E27FC236}">
                <a16:creationId xmlns:a16="http://schemas.microsoft.com/office/drawing/2014/main" id="{B156885B-435B-954B-5C0B-800A73A27E51}"/>
              </a:ext>
            </a:extLst>
          </p:cNvPr>
          <p:cNvSpPr/>
          <p:nvPr/>
        </p:nvSpPr>
        <p:spPr>
          <a:xfrm>
            <a:off x="635000" y="3492500"/>
            <a:ext cx="5334000" cy="1778000"/>
          </a:xfrm>
          <a:prstGeom prst="roundRect">
            <a:avLst>
              <a:gd name="adj" fmla="val 8000"/>
            </a:avLst>
          </a:prstGeom>
          <a:solidFill>
            <a:srgbClr val="20265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13" name="Elipse 12">
            <a:extLst>
              <a:ext uri="{FF2B5EF4-FFF2-40B4-BE49-F238E27FC236}">
                <a16:creationId xmlns:a16="http://schemas.microsoft.com/office/drawing/2014/main" id="{BF1672ED-A365-2CDD-2BC2-1E1A14A235D7}"/>
              </a:ext>
            </a:extLst>
          </p:cNvPr>
          <p:cNvSpPr/>
          <p:nvPr/>
        </p:nvSpPr>
        <p:spPr>
          <a:xfrm>
            <a:off x="889000" y="3746500"/>
            <a:ext cx="584200" cy="584200"/>
          </a:xfrm>
          <a:prstGeom prst="ellipse">
            <a:avLst/>
          </a:prstGeom>
          <a:solidFill>
            <a:srgbClr val="2EC4A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s-CO" sz="2300" b="1">
                <a:solidFill>
                  <a:srgbClr val="FFFFFF"/>
                </a:solidFill>
                <a:latin typeface="Segoe UI Symbol" panose="020B0502040204020203" pitchFamily="34" charset="0"/>
              </a:rPr>
              <a:t>✔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61942B85-3806-6E7E-563D-5A2CD5190C24}"/>
              </a:ext>
            </a:extLst>
          </p:cNvPr>
          <p:cNvSpPr txBox="1"/>
          <p:nvPr/>
        </p:nvSpPr>
        <p:spPr>
          <a:xfrm>
            <a:off x="1676400" y="3695700"/>
            <a:ext cx="4064000" cy="406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800"/>
              </a:spcAft>
            </a:pPr>
            <a:r>
              <a:rPr lang="es-CO" sz="2100" b="1">
                <a:solidFill>
                  <a:srgbClr val="FFFFFF"/>
                </a:solidFill>
                <a:latin typeface="Calibri" panose="020F0502020204030204" pitchFamily="34" charset="0"/>
              </a:rPr>
              <a:t>Escalabilidad y flexibilidad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C661E214-57C6-6793-3A51-E3769CBC0974}"/>
              </a:ext>
            </a:extLst>
          </p:cNvPr>
          <p:cNvSpPr txBox="1"/>
          <p:nvPr/>
        </p:nvSpPr>
        <p:spPr>
          <a:xfrm>
            <a:off x="1676400" y="4127500"/>
            <a:ext cx="4064000" cy="1041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800"/>
              </a:spcAft>
            </a:pPr>
            <a:r>
              <a:rPr lang="es-ES" sz="1500">
                <a:solidFill>
                  <a:srgbClr val="BEC5E6"/>
                </a:solidFill>
                <a:latin typeface="Calibri" panose="020F0502020204030204" pitchFamily="34" charset="0"/>
              </a:rPr>
              <a:t>Cada servicio crece por separado y se puede cambiar sin tocar el resto.</a:t>
            </a:r>
            <a:endParaRPr lang="es-CO" sz="1500">
              <a:solidFill>
                <a:srgbClr val="BEC5E6"/>
              </a:solidFill>
              <a:latin typeface="Calibri" panose="020F0502020204030204" pitchFamily="34" charset="0"/>
            </a:endParaRPr>
          </a:p>
        </p:txBody>
      </p:sp>
      <p:sp>
        <p:nvSpPr>
          <p:cNvPr id="16" name="Rectángulo: esquinas redondeadas 15">
            <a:extLst>
              <a:ext uri="{FF2B5EF4-FFF2-40B4-BE49-F238E27FC236}">
                <a16:creationId xmlns:a16="http://schemas.microsoft.com/office/drawing/2014/main" id="{BC47647E-07AB-D185-4A16-81A9D019AB1A}"/>
              </a:ext>
            </a:extLst>
          </p:cNvPr>
          <p:cNvSpPr/>
          <p:nvPr/>
        </p:nvSpPr>
        <p:spPr>
          <a:xfrm>
            <a:off x="6223000" y="3492500"/>
            <a:ext cx="5334000" cy="1778000"/>
          </a:xfrm>
          <a:prstGeom prst="roundRect">
            <a:avLst>
              <a:gd name="adj" fmla="val 8000"/>
            </a:avLst>
          </a:prstGeom>
          <a:solidFill>
            <a:srgbClr val="20265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17" name="Elipse 16">
            <a:extLst>
              <a:ext uri="{FF2B5EF4-FFF2-40B4-BE49-F238E27FC236}">
                <a16:creationId xmlns:a16="http://schemas.microsoft.com/office/drawing/2014/main" id="{311902E1-8E1D-E6A5-DB20-22E858D2FD55}"/>
              </a:ext>
            </a:extLst>
          </p:cNvPr>
          <p:cNvSpPr/>
          <p:nvPr/>
        </p:nvSpPr>
        <p:spPr>
          <a:xfrm>
            <a:off x="6477000" y="3746500"/>
            <a:ext cx="584200" cy="584200"/>
          </a:xfrm>
          <a:prstGeom prst="ellipse">
            <a:avLst/>
          </a:prstGeom>
          <a:solidFill>
            <a:srgbClr val="2EC4A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s-CO" sz="2300" b="1">
                <a:solidFill>
                  <a:srgbClr val="FFFFFF"/>
                </a:solidFill>
                <a:latin typeface="Segoe UI Symbol" panose="020B0502040204020203" pitchFamily="34" charset="0"/>
              </a:rPr>
              <a:t>✔</a:t>
            </a: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628081BF-5AC4-1715-0AF2-68FF9BC7596A}"/>
              </a:ext>
            </a:extLst>
          </p:cNvPr>
          <p:cNvSpPr txBox="1"/>
          <p:nvPr/>
        </p:nvSpPr>
        <p:spPr>
          <a:xfrm>
            <a:off x="7264400" y="3695700"/>
            <a:ext cx="4064000" cy="406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800"/>
              </a:spcAft>
            </a:pPr>
            <a:r>
              <a:rPr lang="es-CO" sz="2100" b="1">
                <a:solidFill>
                  <a:srgbClr val="FFFFFF"/>
                </a:solidFill>
                <a:latin typeface="Calibri" panose="020F0502020204030204" pitchFamily="34" charset="0"/>
              </a:rPr>
              <a:t>Integración</a:t>
            </a: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398D59C2-0A95-7CF0-042E-E1FCDC50F697}"/>
              </a:ext>
            </a:extLst>
          </p:cNvPr>
          <p:cNvSpPr txBox="1"/>
          <p:nvPr/>
        </p:nvSpPr>
        <p:spPr>
          <a:xfrm>
            <a:off x="7264400" y="4127500"/>
            <a:ext cx="4064000" cy="1041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800"/>
              </a:spcAft>
            </a:pPr>
            <a:r>
              <a:rPr lang="es-ES" sz="1500">
                <a:solidFill>
                  <a:srgbClr val="BEC5E6"/>
                </a:solidFill>
                <a:latin typeface="Calibri" panose="020F0502020204030204" pitchFamily="34" charset="0"/>
              </a:rPr>
              <a:t>Conecta sistemas viejos y nuevos, incluso hechos en lenguajes distintos.</a:t>
            </a:r>
            <a:endParaRPr lang="es-CO" sz="1500">
              <a:solidFill>
                <a:srgbClr val="BEC5E6"/>
              </a:solidFill>
              <a:latin typeface="Calibri" panose="020F0502020204030204" pitchFamily="34" charset="0"/>
            </a:endParaRPr>
          </a:p>
        </p:txBody>
      </p:sp>
      <p:sp>
        <p:nvSpPr>
          <p:cNvPr id="20" name="Rectángulo: esquinas redondeadas 19">
            <a:extLst>
              <a:ext uri="{FF2B5EF4-FFF2-40B4-BE49-F238E27FC236}">
                <a16:creationId xmlns:a16="http://schemas.microsoft.com/office/drawing/2014/main" id="{BEDDBE48-E002-0A02-70EF-AEF10BEC1A4C}"/>
              </a:ext>
            </a:extLst>
          </p:cNvPr>
          <p:cNvSpPr/>
          <p:nvPr/>
        </p:nvSpPr>
        <p:spPr>
          <a:xfrm>
            <a:off x="635000" y="5524500"/>
            <a:ext cx="10922000" cy="736600"/>
          </a:xfrm>
          <a:prstGeom prst="roundRect">
            <a:avLst>
              <a:gd name="adj" fmla="val 15000"/>
            </a:avLst>
          </a:prstGeom>
          <a:solidFill>
            <a:srgbClr val="20265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>
                <a:solidFill>
                  <a:srgbClr val="F4B942"/>
                </a:solidFill>
                <a:latin typeface="Calibri" panose="020F0502020204030204" pitchFamily="34" charset="0"/>
              </a:rPr>
              <a:t>Si un servicio cambia o falla, el resto del sistema sigue funcionando.</a:t>
            </a:r>
            <a:endParaRPr lang="es-CO" dirty="0">
              <a:solidFill>
                <a:srgbClr val="F4B942"/>
              </a:solidFill>
              <a:latin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lipse 2">
            <a:extLst>
              <a:ext uri="{FF2B5EF4-FFF2-40B4-BE49-F238E27FC236}">
                <a16:creationId xmlns:a16="http://schemas.microsoft.com/office/drawing/2014/main" id="{73E27086-79B5-6F79-3728-22245EE1FBD1}"/>
              </a:ext>
            </a:extLst>
          </p:cNvPr>
          <p:cNvSpPr/>
          <p:nvPr/>
        </p:nvSpPr>
        <p:spPr>
          <a:xfrm>
            <a:off x="10160000" y="-1016000"/>
            <a:ext cx="3302000" cy="3302000"/>
          </a:xfrm>
          <a:prstGeom prst="ellipse">
            <a:avLst/>
          </a:prstGeom>
          <a:solidFill>
            <a:srgbClr val="6473F5">
              <a:alpha val="20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4FC9324-6BCE-493A-12D3-5F293AC6DB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317500"/>
            <a:ext cx="10160000" cy="889000"/>
          </a:xfrm>
        </p:spPr>
        <p:txBody>
          <a:bodyPr anchor="ctr">
            <a:normAutofit/>
          </a:bodyPr>
          <a:lstStyle/>
          <a:p>
            <a:r>
              <a:rPr lang="es-CO" sz="3600" b="1" dirty="0">
                <a:solidFill>
                  <a:srgbClr val="FFFFFF"/>
                </a:solidFill>
                <a:latin typeface="Calibri" panose="020F0502020204030204" pitchFamily="34" charset="0"/>
              </a:rPr>
              <a:t>4. SOA: Desventajas</a:t>
            </a:r>
          </a:p>
        </p:txBody>
      </p:sp>
      <p:sp>
        <p:nvSpPr>
          <p:cNvPr id="4" name="Rectángulo: esquinas redondeadas 3">
            <a:extLst>
              <a:ext uri="{FF2B5EF4-FFF2-40B4-BE49-F238E27FC236}">
                <a16:creationId xmlns:a16="http://schemas.microsoft.com/office/drawing/2014/main" id="{BA1A7B28-27E2-7096-1FBC-6250A82044B0}"/>
              </a:ext>
            </a:extLst>
          </p:cNvPr>
          <p:cNvSpPr/>
          <p:nvPr/>
        </p:nvSpPr>
        <p:spPr>
          <a:xfrm>
            <a:off x="635000" y="1524000"/>
            <a:ext cx="5334000" cy="1778000"/>
          </a:xfrm>
          <a:prstGeom prst="roundRect">
            <a:avLst>
              <a:gd name="adj" fmla="val 8000"/>
            </a:avLst>
          </a:prstGeom>
          <a:solidFill>
            <a:srgbClr val="20265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5" name="Elipse 4">
            <a:extLst>
              <a:ext uri="{FF2B5EF4-FFF2-40B4-BE49-F238E27FC236}">
                <a16:creationId xmlns:a16="http://schemas.microsoft.com/office/drawing/2014/main" id="{39EA1E8B-6A49-E4C7-6CC9-52C34567DCC5}"/>
              </a:ext>
            </a:extLst>
          </p:cNvPr>
          <p:cNvSpPr/>
          <p:nvPr/>
        </p:nvSpPr>
        <p:spPr>
          <a:xfrm>
            <a:off x="889000" y="1778000"/>
            <a:ext cx="584200" cy="584200"/>
          </a:xfrm>
          <a:prstGeom prst="ellipse">
            <a:avLst/>
          </a:prstGeom>
          <a:solidFill>
            <a:srgbClr val="E85A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s-CO" sz="2300" b="1">
                <a:solidFill>
                  <a:srgbClr val="FFFFFF"/>
                </a:solidFill>
                <a:latin typeface="Segoe UI Symbol" panose="020B0502040204020203" pitchFamily="34" charset="0"/>
              </a:rPr>
              <a:t>✖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0BE01947-2410-16CC-ECE4-1034DB36CD79}"/>
              </a:ext>
            </a:extLst>
          </p:cNvPr>
          <p:cNvSpPr txBox="1"/>
          <p:nvPr/>
        </p:nvSpPr>
        <p:spPr>
          <a:xfrm>
            <a:off x="1676400" y="1727200"/>
            <a:ext cx="4064000" cy="406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800"/>
              </a:spcAft>
            </a:pPr>
            <a:r>
              <a:rPr lang="es-CO" sz="2100" b="1">
                <a:solidFill>
                  <a:srgbClr val="FFFFFF"/>
                </a:solidFill>
                <a:latin typeface="Calibri" panose="020F0502020204030204" pitchFamily="34" charset="0"/>
              </a:rPr>
              <a:t>Mayor complejidad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1BE5C1B1-5949-AED3-C6C2-EE08962DC082}"/>
              </a:ext>
            </a:extLst>
          </p:cNvPr>
          <p:cNvSpPr txBox="1"/>
          <p:nvPr/>
        </p:nvSpPr>
        <p:spPr>
          <a:xfrm>
            <a:off x="1676400" y="2159000"/>
            <a:ext cx="4064000" cy="1041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800"/>
              </a:spcAft>
            </a:pPr>
            <a:r>
              <a:rPr lang="es-ES" sz="1500">
                <a:solidFill>
                  <a:srgbClr val="BEC5E6"/>
                </a:solidFill>
                <a:latin typeface="Calibri" panose="020F0502020204030204" pitchFamily="34" charset="0"/>
              </a:rPr>
              <a:t>Hay que diseñar, desplegar y mantener muchos servicios en lugar de una sola aplicación.</a:t>
            </a:r>
            <a:endParaRPr lang="es-CO" sz="1500">
              <a:solidFill>
                <a:srgbClr val="BEC5E6"/>
              </a:solidFill>
              <a:latin typeface="Calibri" panose="020F0502020204030204" pitchFamily="34" charset="0"/>
            </a:endParaRP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E8F06F80-2031-7981-419C-E5BEE8DDDD7D}"/>
              </a:ext>
            </a:extLst>
          </p:cNvPr>
          <p:cNvSpPr/>
          <p:nvPr/>
        </p:nvSpPr>
        <p:spPr>
          <a:xfrm>
            <a:off x="6223000" y="1524000"/>
            <a:ext cx="5334000" cy="1778000"/>
          </a:xfrm>
          <a:prstGeom prst="roundRect">
            <a:avLst>
              <a:gd name="adj" fmla="val 8000"/>
            </a:avLst>
          </a:prstGeom>
          <a:solidFill>
            <a:srgbClr val="20265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id="{3EB896B1-5D9A-81B9-31D2-BD22E740F8A9}"/>
              </a:ext>
            </a:extLst>
          </p:cNvPr>
          <p:cNvSpPr/>
          <p:nvPr/>
        </p:nvSpPr>
        <p:spPr>
          <a:xfrm>
            <a:off x="6477000" y="1778000"/>
            <a:ext cx="584200" cy="584200"/>
          </a:xfrm>
          <a:prstGeom prst="ellipse">
            <a:avLst/>
          </a:prstGeom>
          <a:solidFill>
            <a:srgbClr val="E85A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s-CO" sz="2300" b="1">
                <a:solidFill>
                  <a:srgbClr val="FFFFFF"/>
                </a:solidFill>
                <a:latin typeface="Segoe UI Symbol" panose="020B0502040204020203" pitchFamily="34" charset="0"/>
              </a:rPr>
              <a:t>✖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155297F9-9C29-435C-410D-ABEFC6403CB7}"/>
              </a:ext>
            </a:extLst>
          </p:cNvPr>
          <p:cNvSpPr txBox="1"/>
          <p:nvPr/>
        </p:nvSpPr>
        <p:spPr>
          <a:xfrm>
            <a:off x="7264400" y="1727200"/>
            <a:ext cx="4064000" cy="406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800"/>
              </a:spcAft>
            </a:pPr>
            <a:r>
              <a:rPr lang="es-CO" sz="2100" b="1">
                <a:solidFill>
                  <a:srgbClr val="FFFFFF"/>
                </a:solidFill>
                <a:latin typeface="Calibri" panose="020F0502020204030204" pitchFamily="34" charset="0"/>
              </a:rPr>
              <a:t>Latencia de red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D8A3ADE4-C4FA-B0ED-CFD7-6142EB5B435C}"/>
              </a:ext>
            </a:extLst>
          </p:cNvPr>
          <p:cNvSpPr txBox="1"/>
          <p:nvPr/>
        </p:nvSpPr>
        <p:spPr>
          <a:xfrm>
            <a:off x="7264400" y="2159000"/>
            <a:ext cx="4064000" cy="1041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800"/>
              </a:spcAft>
            </a:pPr>
            <a:r>
              <a:rPr lang="es-ES" sz="1500">
                <a:solidFill>
                  <a:srgbClr val="BEC5E6"/>
                </a:solidFill>
                <a:latin typeface="Calibri" panose="020F0502020204030204" pitchFamily="34" charset="0"/>
              </a:rPr>
              <a:t>Cada llamada entre servicios viaja por la red, y eso es más lento que una llamada interna.</a:t>
            </a:r>
            <a:endParaRPr lang="es-CO" sz="1500">
              <a:solidFill>
                <a:srgbClr val="BEC5E6"/>
              </a:solidFill>
              <a:latin typeface="Calibri" panose="020F0502020204030204" pitchFamily="34" charset="0"/>
            </a:endParaRPr>
          </a:p>
        </p:txBody>
      </p:sp>
      <p:sp>
        <p:nvSpPr>
          <p:cNvPr id="12" name="Rectángulo: esquinas redondeadas 11">
            <a:extLst>
              <a:ext uri="{FF2B5EF4-FFF2-40B4-BE49-F238E27FC236}">
                <a16:creationId xmlns:a16="http://schemas.microsoft.com/office/drawing/2014/main" id="{B156885B-435B-954B-5C0B-800A73A27E51}"/>
              </a:ext>
            </a:extLst>
          </p:cNvPr>
          <p:cNvSpPr/>
          <p:nvPr/>
        </p:nvSpPr>
        <p:spPr>
          <a:xfrm>
            <a:off x="635000" y="3492500"/>
            <a:ext cx="5334000" cy="1778000"/>
          </a:xfrm>
          <a:prstGeom prst="roundRect">
            <a:avLst>
              <a:gd name="adj" fmla="val 8000"/>
            </a:avLst>
          </a:prstGeom>
          <a:solidFill>
            <a:srgbClr val="20265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13" name="Elipse 12">
            <a:extLst>
              <a:ext uri="{FF2B5EF4-FFF2-40B4-BE49-F238E27FC236}">
                <a16:creationId xmlns:a16="http://schemas.microsoft.com/office/drawing/2014/main" id="{BF1672ED-A365-2CDD-2BC2-1E1A14A235D7}"/>
              </a:ext>
            </a:extLst>
          </p:cNvPr>
          <p:cNvSpPr/>
          <p:nvPr/>
        </p:nvSpPr>
        <p:spPr>
          <a:xfrm>
            <a:off x="889000" y="3746500"/>
            <a:ext cx="584200" cy="584200"/>
          </a:xfrm>
          <a:prstGeom prst="ellipse">
            <a:avLst/>
          </a:prstGeom>
          <a:solidFill>
            <a:srgbClr val="E85A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s-CO" sz="2300" b="1">
                <a:solidFill>
                  <a:srgbClr val="FFFFFF"/>
                </a:solidFill>
                <a:latin typeface="Segoe UI Symbol" panose="020B0502040204020203" pitchFamily="34" charset="0"/>
              </a:rPr>
              <a:t>✖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61942B85-3806-6E7E-563D-5A2CD5190C24}"/>
              </a:ext>
            </a:extLst>
          </p:cNvPr>
          <p:cNvSpPr txBox="1"/>
          <p:nvPr/>
        </p:nvSpPr>
        <p:spPr>
          <a:xfrm>
            <a:off x="1676400" y="3695700"/>
            <a:ext cx="4064000" cy="406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800"/>
              </a:spcAft>
            </a:pPr>
            <a:r>
              <a:rPr lang="es-CO" sz="2100" b="1">
                <a:solidFill>
                  <a:srgbClr val="FFFFFF"/>
                </a:solidFill>
                <a:latin typeface="Calibri" panose="020F0502020204030204" pitchFamily="34" charset="0"/>
              </a:rPr>
              <a:t>Gobierno de contratos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C661E214-57C6-6793-3A51-E3769CBC0974}"/>
              </a:ext>
            </a:extLst>
          </p:cNvPr>
          <p:cNvSpPr txBox="1"/>
          <p:nvPr/>
        </p:nvSpPr>
        <p:spPr>
          <a:xfrm>
            <a:off x="1676400" y="4127500"/>
            <a:ext cx="4064000" cy="1041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800"/>
              </a:spcAft>
            </a:pPr>
            <a:r>
              <a:rPr lang="es-ES" sz="1500">
                <a:solidFill>
                  <a:srgbClr val="BEC5E6"/>
                </a:solidFill>
                <a:latin typeface="Calibri" panose="020F0502020204030204" pitchFamily="34" charset="0"/>
              </a:rPr>
              <a:t>Los cambios en una API se deben versionar para no romper a quienes la consumen.</a:t>
            </a:r>
            <a:endParaRPr lang="es-CO" sz="1500">
              <a:solidFill>
                <a:srgbClr val="BEC5E6"/>
              </a:solidFill>
              <a:latin typeface="Calibri" panose="020F0502020204030204" pitchFamily="34" charset="0"/>
            </a:endParaRPr>
          </a:p>
        </p:txBody>
      </p:sp>
      <p:sp>
        <p:nvSpPr>
          <p:cNvPr id="16" name="Rectángulo: esquinas redondeadas 15">
            <a:extLst>
              <a:ext uri="{FF2B5EF4-FFF2-40B4-BE49-F238E27FC236}">
                <a16:creationId xmlns:a16="http://schemas.microsoft.com/office/drawing/2014/main" id="{BC47647E-07AB-D185-4A16-81A9D019AB1A}"/>
              </a:ext>
            </a:extLst>
          </p:cNvPr>
          <p:cNvSpPr/>
          <p:nvPr/>
        </p:nvSpPr>
        <p:spPr>
          <a:xfrm>
            <a:off x="6223000" y="3492500"/>
            <a:ext cx="5334000" cy="1778000"/>
          </a:xfrm>
          <a:prstGeom prst="roundRect">
            <a:avLst>
              <a:gd name="adj" fmla="val 8000"/>
            </a:avLst>
          </a:prstGeom>
          <a:solidFill>
            <a:srgbClr val="20265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17" name="Elipse 16">
            <a:extLst>
              <a:ext uri="{FF2B5EF4-FFF2-40B4-BE49-F238E27FC236}">
                <a16:creationId xmlns:a16="http://schemas.microsoft.com/office/drawing/2014/main" id="{311902E1-8E1D-E6A5-DB20-22E858D2FD55}"/>
              </a:ext>
            </a:extLst>
          </p:cNvPr>
          <p:cNvSpPr/>
          <p:nvPr/>
        </p:nvSpPr>
        <p:spPr>
          <a:xfrm>
            <a:off x="6477000" y="3746500"/>
            <a:ext cx="584200" cy="584200"/>
          </a:xfrm>
          <a:prstGeom prst="ellipse">
            <a:avLst/>
          </a:prstGeom>
          <a:solidFill>
            <a:srgbClr val="E85A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s-CO" sz="2300" b="1">
                <a:solidFill>
                  <a:srgbClr val="FFFFFF"/>
                </a:solidFill>
                <a:latin typeface="Segoe UI Symbol" panose="020B0502040204020203" pitchFamily="34" charset="0"/>
              </a:rPr>
              <a:t>✖</a:t>
            </a: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628081BF-5AC4-1715-0AF2-68FF9BC7596A}"/>
              </a:ext>
            </a:extLst>
          </p:cNvPr>
          <p:cNvSpPr txBox="1"/>
          <p:nvPr/>
        </p:nvSpPr>
        <p:spPr>
          <a:xfrm>
            <a:off x="7264400" y="3695700"/>
            <a:ext cx="4064000" cy="406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800"/>
              </a:spcAft>
            </a:pPr>
            <a:r>
              <a:rPr lang="es-CO" sz="2100" b="1">
                <a:solidFill>
                  <a:srgbClr val="FFFFFF"/>
                </a:solidFill>
                <a:latin typeface="Calibri" panose="020F0502020204030204" pitchFamily="34" charset="0"/>
              </a:rPr>
              <a:t>Seguridad y monitoreo</a:t>
            </a: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398D59C2-0A95-7CF0-042E-E1FCDC50F697}"/>
              </a:ext>
            </a:extLst>
          </p:cNvPr>
          <p:cNvSpPr txBox="1"/>
          <p:nvPr/>
        </p:nvSpPr>
        <p:spPr>
          <a:xfrm>
            <a:off x="7264400" y="4127500"/>
            <a:ext cx="4064000" cy="1041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800"/>
              </a:spcAft>
            </a:pPr>
            <a:r>
              <a:rPr lang="es-ES" sz="1500">
                <a:solidFill>
                  <a:srgbClr val="BEC5E6"/>
                </a:solidFill>
                <a:latin typeface="Calibri" panose="020F0502020204030204" pitchFamily="34" charset="0"/>
              </a:rPr>
              <a:t>Hay más puntos de entrada que proteger y es más difícil seguir una petición de principio a fin.</a:t>
            </a:r>
            <a:endParaRPr lang="es-CO" sz="1500">
              <a:solidFill>
                <a:srgbClr val="BEC5E6"/>
              </a:solidFill>
              <a:latin typeface="Calibri" panose="020F0502020204030204" pitchFamily="34" charset="0"/>
            </a:endParaRPr>
          </a:p>
        </p:txBody>
      </p:sp>
      <p:sp>
        <p:nvSpPr>
          <p:cNvPr id="20" name="Rectángulo: esquinas redondeadas 19">
            <a:extLst>
              <a:ext uri="{FF2B5EF4-FFF2-40B4-BE49-F238E27FC236}">
                <a16:creationId xmlns:a16="http://schemas.microsoft.com/office/drawing/2014/main" id="{BEDDBE48-E002-0A02-70EF-AEF10BEC1A4C}"/>
              </a:ext>
            </a:extLst>
          </p:cNvPr>
          <p:cNvSpPr/>
          <p:nvPr/>
        </p:nvSpPr>
        <p:spPr>
          <a:xfrm>
            <a:off x="635000" y="5524500"/>
            <a:ext cx="10922000" cy="736600"/>
          </a:xfrm>
          <a:prstGeom prst="roundRect">
            <a:avLst>
              <a:gd name="adj" fmla="val 15000"/>
            </a:avLst>
          </a:prstGeom>
          <a:solidFill>
            <a:srgbClr val="20265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>
                <a:solidFill>
                  <a:srgbClr val="F4B942"/>
                </a:solidFill>
                <a:latin typeface="Calibri" panose="020F0502020204030204" pitchFamily="34" charset="0"/>
              </a:rPr>
              <a:t>En proyectos pequeños, SOA puede ser exagerado.</a:t>
            </a:r>
            <a:endParaRPr lang="es-CO" dirty="0">
              <a:solidFill>
                <a:srgbClr val="F4B942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988564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fade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500"/>
                            </p:stCondLst>
                            <p:childTnLst>
                              <p:par>
                                <p:cTn id="4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2000"/>
                            </p:stCondLst>
                            <p:childTnLst>
                              <p:par>
                                <p:cTn id="5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/>
      <p:bldP spid="7" grpId="0"/>
      <p:bldP spid="8" grpId="0" animBg="1"/>
      <p:bldP spid="9" grpId="0" animBg="1"/>
      <p:bldP spid="10" grpId="0"/>
      <p:bldP spid="11" grpId="0"/>
      <p:bldP spid="12" grpId="0" animBg="1"/>
      <p:bldP spid="13" grpId="0" animBg="1"/>
      <p:bldP spid="14" grpId="0"/>
      <p:bldP spid="15" grpId="0"/>
      <p:bldP spid="16" grpId="0" animBg="1"/>
      <p:bldP spid="17" grpId="0" animBg="1"/>
      <p:bldP spid="18" grpId="0"/>
      <p:bldP spid="19" grpId="0"/>
      <p:bldP spid="20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lipse 2">
            <a:extLst>
              <a:ext uri="{FF2B5EF4-FFF2-40B4-BE49-F238E27FC236}">
                <a16:creationId xmlns:a16="http://schemas.microsoft.com/office/drawing/2014/main" id="{E80C4B23-6F1F-4034-F041-884DDE151CA4}"/>
              </a:ext>
            </a:extLst>
          </p:cNvPr>
          <p:cNvSpPr/>
          <p:nvPr/>
        </p:nvSpPr>
        <p:spPr>
          <a:xfrm>
            <a:off x="10160000" y="-1016000"/>
            <a:ext cx="3302000" cy="3302000"/>
          </a:xfrm>
          <a:prstGeom prst="ellipse">
            <a:avLst/>
          </a:prstGeom>
          <a:solidFill>
            <a:srgbClr val="6473F5">
              <a:alpha val="20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5767BBE-4BC1-A828-1C2D-063335E1DA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317500"/>
            <a:ext cx="10160000" cy="889000"/>
          </a:xfrm>
        </p:spPr>
        <p:txBody>
          <a:bodyPr anchor="ctr">
            <a:normAutofit/>
          </a:bodyPr>
          <a:lstStyle/>
          <a:p>
            <a:r>
              <a:rPr lang="es-CO" sz="3600" b="1" dirty="0">
                <a:solidFill>
                  <a:srgbClr val="FFFFFF"/>
                </a:solidFill>
                <a:latin typeface="Calibri" panose="020F0502020204030204" pitchFamily="34" charset="0"/>
              </a:rPr>
              <a:t>5. Tecnologías relacionadas</a:t>
            </a:r>
          </a:p>
        </p:txBody>
      </p:sp>
      <p:sp>
        <p:nvSpPr>
          <p:cNvPr id="4" name="Rectángulo: esquinas redondeadas 3">
            <a:extLst>
              <a:ext uri="{FF2B5EF4-FFF2-40B4-BE49-F238E27FC236}">
                <a16:creationId xmlns:a16="http://schemas.microsoft.com/office/drawing/2014/main" id="{614D4279-19EA-87D0-2A3B-5D62843C2BC6}"/>
              </a:ext>
            </a:extLst>
          </p:cNvPr>
          <p:cNvSpPr/>
          <p:nvPr/>
        </p:nvSpPr>
        <p:spPr>
          <a:xfrm>
            <a:off x="635000" y="1524000"/>
            <a:ext cx="3429000" cy="4508500"/>
          </a:xfrm>
          <a:prstGeom prst="roundRect">
            <a:avLst>
              <a:gd name="adj" fmla="val 8000"/>
            </a:avLst>
          </a:prstGeom>
          <a:solidFill>
            <a:srgbClr val="20265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5" name="Elipse 4">
            <a:extLst>
              <a:ext uri="{FF2B5EF4-FFF2-40B4-BE49-F238E27FC236}">
                <a16:creationId xmlns:a16="http://schemas.microsoft.com/office/drawing/2014/main" id="{DC1138B7-D7B7-F048-6118-43614A444D87}"/>
              </a:ext>
            </a:extLst>
          </p:cNvPr>
          <p:cNvSpPr/>
          <p:nvPr/>
        </p:nvSpPr>
        <p:spPr>
          <a:xfrm>
            <a:off x="939800" y="1803400"/>
            <a:ext cx="889000" cy="889000"/>
          </a:xfrm>
          <a:prstGeom prst="ellipse">
            <a:avLst/>
          </a:prstGeom>
          <a:solidFill>
            <a:srgbClr val="6473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s-CO" sz="3500" b="1">
                <a:solidFill>
                  <a:srgbClr val="0F122D"/>
                </a:solidFill>
                <a:latin typeface="Segoe UI Symbol" panose="020B0502040204020203" pitchFamily="34" charset="0"/>
              </a:rPr>
              <a:t>⚛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88E681C8-BD47-F8C4-00F5-EECF5F928B9E}"/>
              </a:ext>
            </a:extLst>
          </p:cNvPr>
          <p:cNvSpPr txBox="1"/>
          <p:nvPr/>
        </p:nvSpPr>
        <p:spPr>
          <a:xfrm>
            <a:off x="2032000" y="1854200"/>
            <a:ext cx="1905000" cy="431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800"/>
              </a:spcAft>
            </a:pPr>
            <a:r>
              <a:rPr lang="es-CO" sz="2600" b="1">
                <a:solidFill>
                  <a:srgbClr val="FFFFFF"/>
                </a:solidFill>
                <a:latin typeface="Calibri" panose="020F0502020204030204" pitchFamily="34" charset="0"/>
              </a:rPr>
              <a:t>React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80388281-913B-1AFA-95E2-4122613D3C0C}"/>
              </a:ext>
            </a:extLst>
          </p:cNvPr>
          <p:cNvSpPr txBox="1"/>
          <p:nvPr/>
        </p:nvSpPr>
        <p:spPr>
          <a:xfrm>
            <a:off x="2032000" y="2311400"/>
            <a:ext cx="1905000" cy="508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800"/>
              </a:spcAft>
            </a:pPr>
            <a:r>
              <a:rPr lang="es-CO" sz="1500">
                <a:solidFill>
                  <a:srgbClr val="BEC5E6"/>
                </a:solidFill>
                <a:latin typeface="Calibri" panose="020F0502020204030204" pitchFamily="34" charset="0"/>
              </a:rPr>
              <a:t>Interfaz (cliente)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D3300DFC-18A3-348F-81AD-4DBDA6F0BB65}"/>
              </a:ext>
            </a:extLst>
          </p:cNvPr>
          <p:cNvSpPr txBox="1"/>
          <p:nvPr/>
        </p:nvSpPr>
        <p:spPr>
          <a:xfrm>
            <a:off x="939800" y="3048000"/>
            <a:ext cx="2819400" cy="28575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800"/>
              </a:spcAft>
            </a:pPr>
            <a:r>
              <a:rPr lang="es-ES" sz="1500">
                <a:solidFill>
                  <a:srgbClr val="FFFFFF"/>
                </a:solidFill>
                <a:latin typeface="Calibri" panose="020F0502020204030204" pitchFamily="34" charset="0"/>
              </a:rPr>
              <a:t>Observer: el estado y los hooks (useState, useEffect) vuelven a dibujar los componentes que dependen de él.</a:t>
            </a:r>
          </a:p>
          <a:p>
            <a:pPr>
              <a:spcAft>
                <a:spcPts val="800"/>
              </a:spcAft>
            </a:pPr>
            <a:r>
              <a:rPr lang="es-ES" sz="1500">
                <a:solidFill>
                  <a:srgbClr val="FFFFFF"/>
                </a:solidFill>
                <a:latin typeface="Calibri" panose="020F0502020204030204" pitchFamily="34" charset="0"/>
              </a:rPr>
              <a:t>Mediator: Context o Redux centralizan la comunicación entre componentes.</a:t>
            </a:r>
            <a:endParaRPr lang="es-CO" sz="150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5AA080EF-82F4-A956-9F63-D72C37E0BD53}"/>
              </a:ext>
            </a:extLst>
          </p:cNvPr>
          <p:cNvSpPr/>
          <p:nvPr/>
        </p:nvSpPr>
        <p:spPr>
          <a:xfrm>
            <a:off x="4381500" y="1524000"/>
            <a:ext cx="3429000" cy="4508500"/>
          </a:xfrm>
          <a:prstGeom prst="roundRect">
            <a:avLst>
              <a:gd name="adj" fmla="val 8000"/>
            </a:avLst>
          </a:prstGeom>
          <a:solidFill>
            <a:srgbClr val="20265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10" name="Elipse 9">
            <a:extLst>
              <a:ext uri="{FF2B5EF4-FFF2-40B4-BE49-F238E27FC236}">
                <a16:creationId xmlns:a16="http://schemas.microsoft.com/office/drawing/2014/main" id="{A89F4CFA-1246-4957-C40A-7BCCA1D683DE}"/>
              </a:ext>
            </a:extLst>
          </p:cNvPr>
          <p:cNvSpPr/>
          <p:nvPr/>
        </p:nvSpPr>
        <p:spPr>
          <a:xfrm>
            <a:off x="4686300" y="1803400"/>
            <a:ext cx="889000" cy="889000"/>
          </a:xfrm>
          <a:prstGeom prst="ellipse">
            <a:avLst/>
          </a:prstGeom>
          <a:solidFill>
            <a:srgbClr val="F4B94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s-CO" sz="3500" b="1">
                <a:solidFill>
                  <a:srgbClr val="0F122D"/>
                </a:solidFill>
                <a:latin typeface="Calibri" panose="020F0502020204030204" pitchFamily="34" charset="0"/>
              </a:rPr>
              <a:t>DB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0D21E515-0583-B822-0421-DAC125CA2CD6}"/>
              </a:ext>
            </a:extLst>
          </p:cNvPr>
          <p:cNvSpPr txBox="1"/>
          <p:nvPr/>
        </p:nvSpPr>
        <p:spPr>
          <a:xfrm>
            <a:off x="5778500" y="1854200"/>
            <a:ext cx="1905000" cy="431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800"/>
              </a:spcAft>
            </a:pPr>
            <a:r>
              <a:rPr lang="es-CO" sz="2600" b="1">
                <a:solidFill>
                  <a:srgbClr val="FFFFFF"/>
                </a:solidFill>
                <a:latin typeface="Calibri" panose="020F0502020204030204" pitchFamily="34" charset="0"/>
              </a:rPr>
              <a:t>MySQL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765EBF4C-8852-45A7-82D2-CCD92E5D1B22}"/>
              </a:ext>
            </a:extLst>
          </p:cNvPr>
          <p:cNvSpPr txBox="1"/>
          <p:nvPr/>
        </p:nvSpPr>
        <p:spPr>
          <a:xfrm>
            <a:off x="5778500" y="2311400"/>
            <a:ext cx="1905000" cy="508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800"/>
              </a:spcAft>
            </a:pPr>
            <a:r>
              <a:rPr lang="es-CO" sz="1500">
                <a:solidFill>
                  <a:srgbClr val="BEC5E6"/>
                </a:solidFill>
                <a:latin typeface="Calibri" panose="020F0502020204030204" pitchFamily="34" charset="0"/>
              </a:rPr>
              <a:t>Datos (persistencia)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8F96EF8F-91BC-E130-C244-4A95F1C85BCC}"/>
              </a:ext>
            </a:extLst>
          </p:cNvPr>
          <p:cNvSpPr txBox="1"/>
          <p:nvPr/>
        </p:nvSpPr>
        <p:spPr>
          <a:xfrm>
            <a:off x="4686300" y="3048000"/>
            <a:ext cx="2819400" cy="28575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800"/>
              </a:spcAft>
            </a:pPr>
            <a:r>
              <a:rPr lang="es-ES" sz="1500">
                <a:solidFill>
                  <a:srgbClr val="FFFFFF"/>
                </a:solidFill>
                <a:latin typeface="Calibri" panose="020F0502020204030204" pitchFamily="34" charset="0"/>
              </a:rPr>
              <a:t>En SOA, un servicio es dueño de sus datos y los expone por una API.</a:t>
            </a:r>
          </a:p>
          <a:p>
            <a:pPr>
              <a:spcAft>
                <a:spcPts val="800"/>
              </a:spcAft>
            </a:pPr>
            <a:r>
              <a:rPr lang="es-ES" sz="1500">
                <a:solidFill>
                  <a:srgbClr val="FFFFFF"/>
                </a:solidFill>
                <a:latin typeface="Calibri" panose="020F0502020204030204" pitchFamily="34" charset="0"/>
              </a:rPr>
              <a:t>La interfaz nunca consulta la base directamente: siempre pasa por el servicio.</a:t>
            </a:r>
            <a:endParaRPr lang="es-CO" sz="150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14" name="Rectángulo: esquinas redondeadas 13">
            <a:extLst>
              <a:ext uri="{FF2B5EF4-FFF2-40B4-BE49-F238E27FC236}">
                <a16:creationId xmlns:a16="http://schemas.microsoft.com/office/drawing/2014/main" id="{043A1F00-8C45-EE55-3E31-8F9CB0BE8B1E}"/>
              </a:ext>
            </a:extLst>
          </p:cNvPr>
          <p:cNvSpPr/>
          <p:nvPr/>
        </p:nvSpPr>
        <p:spPr>
          <a:xfrm>
            <a:off x="8128000" y="1524000"/>
            <a:ext cx="3429000" cy="4508500"/>
          </a:xfrm>
          <a:prstGeom prst="roundRect">
            <a:avLst>
              <a:gd name="adj" fmla="val 8000"/>
            </a:avLst>
          </a:prstGeom>
          <a:solidFill>
            <a:srgbClr val="20265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15" name="Elipse 14">
            <a:extLst>
              <a:ext uri="{FF2B5EF4-FFF2-40B4-BE49-F238E27FC236}">
                <a16:creationId xmlns:a16="http://schemas.microsoft.com/office/drawing/2014/main" id="{177E368A-5615-D831-6BCB-CF251B0C7B07}"/>
              </a:ext>
            </a:extLst>
          </p:cNvPr>
          <p:cNvSpPr/>
          <p:nvPr/>
        </p:nvSpPr>
        <p:spPr>
          <a:xfrm>
            <a:off x="8432800" y="1803400"/>
            <a:ext cx="889000" cy="889000"/>
          </a:xfrm>
          <a:prstGeom prst="ellipse">
            <a:avLst/>
          </a:prstGeom>
          <a:solidFill>
            <a:srgbClr val="2EC4B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s-CO" sz="3500" b="1">
                <a:solidFill>
                  <a:srgbClr val="0F122D"/>
                </a:solidFill>
                <a:latin typeface="Segoe UI Symbol" panose="020B0502040204020203" pitchFamily="34" charset="0"/>
              </a:rPr>
              <a:t>☁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E57BC6AF-ED6D-1A8A-51C4-34A16BAB10CE}"/>
              </a:ext>
            </a:extLst>
          </p:cNvPr>
          <p:cNvSpPr txBox="1"/>
          <p:nvPr/>
        </p:nvSpPr>
        <p:spPr>
          <a:xfrm>
            <a:off x="9525000" y="1854200"/>
            <a:ext cx="1905000" cy="431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800"/>
              </a:spcAft>
            </a:pPr>
            <a:r>
              <a:rPr lang="es-CO" sz="2600" b="1">
                <a:solidFill>
                  <a:srgbClr val="FFFFFF"/>
                </a:solidFill>
                <a:latin typeface="Calibri" panose="020F0502020204030204" pitchFamily="34" charset="0"/>
              </a:rPr>
              <a:t>Nube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0A627263-B3B5-0FD4-34C7-0EA78737736A}"/>
              </a:ext>
            </a:extLst>
          </p:cNvPr>
          <p:cNvSpPr txBox="1"/>
          <p:nvPr/>
        </p:nvSpPr>
        <p:spPr>
          <a:xfrm>
            <a:off x="9525000" y="2311400"/>
            <a:ext cx="1905000" cy="508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800"/>
              </a:spcAft>
            </a:pPr>
            <a:r>
              <a:rPr lang="es-CO" sz="1500">
                <a:solidFill>
                  <a:srgbClr val="BEC5E6"/>
                </a:solidFill>
                <a:latin typeface="Calibri" panose="020F0502020204030204" pitchFamily="34" charset="0"/>
              </a:rPr>
              <a:t>Despliegue y servicios</a:t>
            </a: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5846604D-FD0F-0843-DF1E-BB91C66AC276}"/>
              </a:ext>
            </a:extLst>
          </p:cNvPr>
          <p:cNvSpPr txBox="1"/>
          <p:nvPr/>
        </p:nvSpPr>
        <p:spPr>
          <a:xfrm>
            <a:off x="8432800" y="3048000"/>
            <a:ext cx="2819400" cy="28575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800"/>
              </a:spcAft>
            </a:pPr>
            <a:r>
              <a:rPr lang="es-ES" sz="1500">
                <a:solidFill>
                  <a:srgbClr val="FFFFFF"/>
                </a:solidFill>
                <a:latin typeface="Calibri" panose="020F0502020204030204" pitchFamily="34" charset="0"/>
              </a:rPr>
              <a:t>Los servicios se publican como APIs en AWS, Azure o Google Cloud y escalan por separado.</a:t>
            </a:r>
          </a:p>
          <a:p>
            <a:pPr>
              <a:spcAft>
                <a:spcPts val="800"/>
              </a:spcAft>
            </a:pPr>
            <a:r>
              <a:rPr lang="es-ES" sz="1500">
                <a:solidFill>
                  <a:srgbClr val="FFFFFF"/>
                </a:solidFill>
                <a:latin typeface="Calibri" panose="020F0502020204030204" pitchFamily="34" charset="0"/>
              </a:rPr>
              <a:t>Las colas y el pub/sub aplican la idea de Observer a gran escala.</a:t>
            </a:r>
            <a:endParaRPr lang="es-CO" sz="150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404604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fade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5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/>
      <p:bldP spid="7" grpId="0"/>
      <p:bldP spid="8" grpId="0"/>
      <p:bldP spid="9" grpId="0" animBg="1"/>
      <p:bldP spid="10" grpId="0" animBg="1"/>
      <p:bldP spid="11" grpId="0"/>
      <p:bldP spid="12" grpId="0"/>
      <p:bldP spid="13" grpId="0"/>
      <p:bldP spid="14" grpId="0" animBg="1"/>
      <p:bldP spid="15" grpId="0" animBg="1"/>
      <p:bldP spid="16" grpId="0"/>
      <p:bldP spid="17" grpId="0"/>
      <p:bldP spid="18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lipse 2">
            <a:extLst>
              <a:ext uri="{FF2B5EF4-FFF2-40B4-BE49-F238E27FC236}">
                <a16:creationId xmlns:a16="http://schemas.microsoft.com/office/drawing/2014/main" id="{0A5DACC3-ADC3-44C7-A0A5-B2465CD50076}"/>
              </a:ext>
            </a:extLst>
          </p:cNvPr>
          <p:cNvSpPr/>
          <p:nvPr/>
        </p:nvSpPr>
        <p:spPr>
          <a:xfrm>
            <a:off x="10160000" y="-1016000"/>
            <a:ext cx="3302000" cy="3302000"/>
          </a:xfrm>
          <a:prstGeom prst="ellipse">
            <a:avLst/>
          </a:prstGeom>
          <a:solidFill>
            <a:srgbClr val="6473F5">
              <a:alpha val="20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FE309FBE-B5C9-419B-9A38-E8A4478A16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317500"/>
            <a:ext cx="10160000" cy="889000"/>
          </a:xfrm>
        </p:spPr>
        <p:txBody>
          <a:bodyPr anchor="ctr">
            <a:normAutofit/>
          </a:bodyPr>
          <a:lstStyle/>
          <a:p>
            <a:r>
              <a:rPr lang="es-ES" sz="3600" b="1" dirty="0">
                <a:solidFill>
                  <a:srgbClr val="FFFFFF"/>
                </a:solidFill>
                <a:latin typeface="Calibri" panose="020F0502020204030204" pitchFamily="34" charset="0"/>
              </a:rPr>
              <a:t>5. Cómo encajan en una misma solución</a:t>
            </a:r>
            <a:endParaRPr lang="es-CO" sz="3600" b="1" dirty="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4" name="Rectángulo: esquinas redondeadas 3">
            <a:extLst>
              <a:ext uri="{FF2B5EF4-FFF2-40B4-BE49-F238E27FC236}">
                <a16:creationId xmlns:a16="http://schemas.microsoft.com/office/drawing/2014/main" id="{236F514A-4289-AF3A-B314-742C7F7361BC}"/>
              </a:ext>
            </a:extLst>
          </p:cNvPr>
          <p:cNvSpPr/>
          <p:nvPr/>
        </p:nvSpPr>
        <p:spPr>
          <a:xfrm>
            <a:off x="635000" y="1651000"/>
            <a:ext cx="3175000" cy="1397000"/>
          </a:xfrm>
          <a:prstGeom prst="roundRect">
            <a:avLst>
              <a:gd name="adj" fmla="val 15000"/>
            </a:avLst>
          </a:prstGeom>
          <a:solidFill>
            <a:srgbClr val="6473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sz="2600" b="1">
                <a:solidFill>
                  <a:srgbClr val="FFFFFF"/>
                </a:solidFill>
                <a:latin typeface="Calibri" panose="020F0502020204030204" pitchFamily="34" charset="0"/>
              </a:rPr>
              <a:t>React</a:t>
            </a:r>
          </a:p>
          <a:p>
            <a:pPr algn="ctr"/>
            <a:r>
              <a:rPr lang="es-CO" sz="1600">
                <a:solidFill>
                  <a:srgbClr val="FFFFFF"/>
                </a:solidFill>
                <a:latin typeface="Calibri" panose="020F0502020204030204" pitchFamily="34" charset="0"/>
              </a:rPr>
              <a:t>Cliente / interfaz</a:t>
            </a:r>
          </a:p>
        </p:txBody>
      </p:sp>
      <p:cxnSp>
        <p:nvCxnSpPr>
          <p:cNvPr id="5" name="Conector recto de flecha 4">
            <a:extLst>
              <a:ext uri="{FF2B5EF4-FFF2-40B4-BE49-F238E27FC236}">
                <a16:creationId xmlns:a16="http://schemas.microsoft.com/office/drawing/2014/main" id="{578C7B64-8366-7852-8AD3-EED8193A5DB2}"/>
              </a:ext>
            </a:extLst>
          </p:cNvPr>
          <p:cNvCxnSpPr/>
          <p:nvPr/>
        </p:nvCxnSpPr>
        <p:spPr>
          <a:xfrm>
            <a:off x="3860800" y="2349500"/>
            <a:ext cx="609600" cy="0"/>
          </a:xfrm>
          <a:prstGeom prst="straightConnector1">
            <a:avLst/>
          </a:prstGeom>
          <a:ln w="44450">
            <a:solidFill>
              <a:srgbClr val="BEC5E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4AB96D22-C8C8-4FE3-F583-95C73A7EC5D9}"/>
              </a:ext>
            </a:extLst>
          </p:cNvPr>
          <p:cNvSpPr/>
          <p:nvPr/>
        </p:nvSpPr>
        <p:spPr>
          <a:xfrm>
            <a:off x="4508500" y="1651000"/>
            <a:ext cx="3175000" cy="1397000"/>
          </a:xfrm>
          <a:prstGeom prst="roundRect">
            <a:avLst>
              <a:gd name="adj" fmla="val 15000"/>
            </a:avLst>
          </a:prstGeom>
          <a:solidFill>
            <a:srgbClr val="2EC4B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sz="2600" b="1">
                <a:solidFill>
                  <a:srgbClr val="0F122D"/>
                </a:solidFill>
                <a:latin typeface="Calibri" panose="020F0502020204030204" pitchFamily="34" charset="0"/>
              </a:rPr>
              <a:t>Servicio SOA</a:t>
            </a:r>
          </a:p>
          <a:p>
            <a:pPr algn="ctr"/>
            <a:r>
              <a:rPr lang="es-CO" sz="1600">
                <a:solidFill>
                  <a:srgbClr val="0F122D"/>
                </a:solidFill>
                <a:latin typeface="Calibri" panose="020F0502020204030204" pitchFamily="34" charset="0"/>
              </a:rPr>
              <a:t>API REST</a:t>
            </a:r>
          </a:p>
        </p:txBody>
      </p:sp>
      <p:cxnSp>
        <p:nvCxnSpPr>
          <p:cNvPr id="7" name="Conector recto de flecha 6">
            <a:extLst>
              <a:ext uri="{FF2B5EF4-FFF2-40B4-BE49-F238E27FC236}">
                <a16:creationId xmlns:a16="http://schemas.microsoft.com/office/drawing/2014/main" id="{D171037A-7C8F-3489-9A02-F339B129E5BD}"/>
              </a:ext>
            </a:extLst>
          </p:cNvPr>
          <p:cNvCxnSpPr/>
          <p:nvPr/>
        </p:nvCxnSpPr>
        <p:spPr>
          <a:xfrm>
            <a:off x="7734300" y="2349500"/>
            <a:ext cx="609600" cy="0"/>
          </a:xfrm>
          <a:prstGeom prst="straightConnector1">
            <a:avLst/>
          </a:prstGeom>
          <a:ln w="44450">
            <a:solidFill>
              <a:srgbClr val="BEC5E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152B9E29-ABCF-15BA-2244-B5D65CBD1480}"/>
              </a:ext>
            </a:extLst>
          </p:cNvPr>
          <p:cNvSpPr/>
          <p:nvPr/>
        </p:nvSpPr>
        <p:spPr>
          <a:xfrm>
            <a:off x="8382000" y="1651000"/>
            <a:ext cx="3175000" cy="1397000"/>
          </a:xfrm>
          <a:prstGeom prst="roundRect">
            <a:avLst>
              <a:gd name="adj" fmla="val 15000"/>
            </a:avLst>
          </a:prstGeom>
          <a:solidFill>
            <a:srgbClr val="F4B94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sz="2600" b="1">
                <a:solidFill>
                  <a:srgbClr val="0F122D"/>
                </a:solidFill>
                <a:latin typeface="Calibri" panose="020F0502020204030204" pitchFamily="34" charset="0"/>
              </a:rPr>
              <a:t>MySQL</a:t>
            </a:r>
          </a:p>
          <a:p>
            <a:pPr algn="ctr"/>
            <a:r>
              <a:rPr lang="es-CO" sz="1600">
                <a:solidFill>
                  <a:srgbClr val="0F122D"/>
                </a:solidFill>
                <a:latin typeface="Calibri" panose="020F0502020204030204" pitchFamily="34" charset="0"/>
              </a:rPr>
              <a:t>Base de datos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84E5ED2E-A6AD-1C19-73A3-03C9C1829F3E}"/>
              </a:ext>
            </a:extLst>
          </p:cNvPr>
          <p:cNvSpPr txBox="1"/>
          <p:nvPr/>
        </p:nvSpPr>
        <p:spPr>
          <a:xfrm>
            <a:off x="635000" y="3276600"/>
            <a:ext cx="3175000" cy="1397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800"/>
              </a:spcAft>
            </a:pPr>
            <a:r>
              <a:rPr lang="es-ES" sz="1600">
                <a:solidFill>
                  <a:srgbClr val="BEC5E6"/>
                </a:solidFill>
                <a:latin typeface="Calibri" panose="020F0502020204030204" pitchFamily="34" charset="0"/>
              </a:rPr>
              <a:t>Observer: los componentes se suscriben al estado y se actualizan solos.</a:t>
            </a:r>
            <a:endParaRPr lang="es-CO" sz="1600">
              <a:solidFill>
                <a:srgbClr val="BEC5E6"/>
              </a:solidFill>
              <a:latin typeface="Calibri" panose="020F0502020204030204" pitchFamily="34" charset="0"/>
            </a:endParaRP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8BEB5CF0-33C1-5D5C-5EBC-7F41CD370A65}"/>
              </a:ext>
            </a:extLst>
          </p:cNvPr>
          <p:cNvSpPr txBox="1"/>
          <p:nvPr/>
        </p:nvSpPr>
        <p:spPr>
          <a:xfrm>
            <a:off x="4508500" y="3276600"/>
            <a:ext cx="3175000" cy="1397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800"/>
              </a:spcAft>
            </a:pPr>
            <a:r>
              <a:rPr lang="es-ES" sz="1600">
                <a:solidFill>
                  <a:srgbClr val="BEC5E6"/>
                </a:solidFill>
                <a:latin typeface="Calibri" panose="020F0502020204030204" pitchFamily="34" charset="0"/>
              </a:rPr>
              <a:t>Expone operaciones por contrato y hace de intermediario entre la interfaz y los datos.</a:t>
            </a:r>
            <a:endParaRPr lang="es-CO" sz="1600">
              <a:solidFill>
                <a:srgbClr val="BEC5E6"/>
              </a:solidFill>
              <a:latin typeface="Calibri" panose="020F0502020204030204" pitchFamily="34" charset="0"/>
            </a:endParaRP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A5D40A74-5E04-E55C-98A2-3C7BFCDF4045}"/>
              </a:ext>
            </a:extLst>
          </p:cNvPr>
          <p:cNvSpPr txBox="1"/>
          <p:nvPr/>
        </p:nvSpPr>
        <p:spPr>
          <a:xfrm>
            <a:off x="8382000" y="3276600"/>
            <a:ext cx="3175000" cy="1397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800"/>
              </a:spcAft>
            </a:pPr>
            <a:r>
              <a:rPr lang="es-ES" sz="1600">
                <a:solidFill>
                  <a:srgbClr val="BEC5E6"/>
                </a:solidFill>
                <a:latin typeface="Calibri" panose="020F0502020204030204" pitchFamily="34" charset="0"/>
              </a:rPr>
              <a:t>Guarda la información; solo el servicio dueño de los datos accede a ella.</a:t>
            </a:r>
            <a:endParaRPr lang="es-CO" sz="1600">
              <a:solidFill>
                <a:srgbClr val="BEC5E6"/>
              </a:solidFill>
              <a:latin typeface="Calibri" panose="020F0502020204030204" pitchFamily="34" charset="0"/>
            </a:endParaRPr>
          </a:p>
        </p:txBody>
      </p:sp>
      <p:sp>
        <p:nvSpPr>
          <p:cNvPr id="12" name="Rectángulo: esquinas redondeadas 11">
            <a:extLst>
              <a:ext uri="{FF2B5EF4-FFF2-40B4-BE49-F238E27FC236}">
                <a16:creationId xmlns:a16="http://schemas.microsoft.com/office/drawing/2014/main" id="{8B0FFB1E-ABC2-DBC6-638E-D7F6672F2A99}"/>
              </a:ext>
            </a:extLst>
          </p:cNvPr>
          <p:cNvSpPr/>
          <p:nvPr/>
        </p:nvSpPr>
        <p:spPr>
          <a:xfrm>
            <a:off x="635000" y="5016500"/>
            <a:ext cx="10922000" cy="1206500"/>
          </a:xfrm>
          <a:prstGeom prst="roundRect">
            <a:avLst>
              <a:gd name="adj" fmla="val 15000"/>
            </a:avLst>
          </a:prstGeom>
          <a:solidFill>
            <a:srgbClr val="20265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>
                <a:solidFill>
                  <a:srgbClr val="FFFFFF"/>
                </a:solidFill>
                <a:latin typeface="Calibri" panose="020F0502020204030204" pitchFamily="34" charset="0"/>
              </a:rPr>
              <a:t>Nube: aloja los servicios, los escala por separado y ofrece colas de mensajes (pub/sub) para notificar eventos entre ellos.</a:t>
            </a:r>
            <a:endParaRPr lang="es-CO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197873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fade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00"/>
                            </p:stCondLst>
                            <p:childTnLst>
                              <p:par>
                                <p:cTn id="2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00"/>
                            </p:stCondLst>
                            <p:childTnLst>
                              <p:par>
                                <p:cTn id="2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2500"/>
                            </p:stCondLst>
                            <p:childTnLst>
                              <p:par>
                                <p:cTn id="3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8" grpId="0" animBg="1"/>
      <p:bldP spid="9" grpId="0"/>
      <p:bldP spid="10" grpId="0"/>
      <p:bldP spid="11" grpId="0"/>
      <p:bldP spid="12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lipse 2">
            <a:extLst>
              <a:ext uri="{FF2B5EF4-FFF2-40B4-BE49-F238E27FC236}">
                <a16:creationId xmlns:a16="http://schemas.microsoft.com/office/drawing/2014/main" id="{5FA4C54D-F8F7-667D-27BC-8658065CB91A}"/>
              </a:ext>
            </a:extLst>
          </p:cNvPr>
          <p:cNvSpPr/>
          <p:nvPr/>
        </p:nvSpPr>
        <p:spPr>
          <a:xfrm>
            <a:off x="10160000" y="-1016000"/>
            <a:ext cx="3302000" cy="3302000"/>
          </a:xfrm>
          <a:prstGeom prst="ellipse">
            <a:avLst/>
          </a:prstGeom>
          <a:solidFill>
            <a:srgbClr val="6473F5">
              <a:alpha val="20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7116F78-536A-8DEB-2C90-7E0E23F1D1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317500"/>
            <a:ext cx="10160000" cy="889000"/>
          </a:xfrm>
        </p:spPr>
        <p:txBody>
          <a:bodyPr anchor="ctr">
            <a:normAutofit/>
          </a:bodyPr>
          <a:lstStyle/>
          <a:p>
            <a:pPr algn="l"/>
            <a:r>
              <a:rPr lang="es-MX" sz="3600" b="1" dirty="0">
                <a:solidFill>
                  <a:srgbClr val="FFFFFF"/>
                </a:solidFill>
                <a:latin typeface="Calibri" panose="020F0502020204030204" pitchFamily="34" charset="0"/>
              </a:rPr>
              <a:t>6</a:t>
            </a:r>
            <a:r>
              <a:rPr lang="es-CO" sz="3600" b="1" dirty="0">
                <a:solidFill>
                  <a:srgbClr val="FFFFFF"/>
                </a:solidFill>
                <a:latin typeface="Calibri" panose="020F0502020204030204" pitchFamily="34" charset="0"/>
              </a:rPr>
              <a:t>. Demostración SOA</a:t>
            </a:r>
          </a:p>
        </p:txBody>
      </p:sp>
      <p:sp>
        <p:nvSpPr>
          <p:cNvPr id="24" name="Rounded Rectangle 2">
            <a:extLst>
              <a:ext uri="{FF2B5EF4-FFF2-40B4-BE49-F238E27FC236}">
                <a16:creationId xmlns:a16="http://schemas.microsoft.com/office/drawing/2014/main" id="{251F3E1A-00CD-40F5-8C3B-ED106DFDCE14}"/>
              </a:ext>
            </a:extLst>
          </p:cNvPr>
          <p:cNvSpPr/>
          <p:nvPr/>
        </p:nvSpPr>
        <p:spPr>
          <a:xfrm>
            <a:off x="518818" y="1206500"/>
            <a:ext cx="11038183" cy="4191000"/>
          </a:xfrm>
          <a:prstGeom prst="roundRect">
            <a:avLst>
              <a:gd name="adj" fmla="val 4067"/>
            </a:avLst>
          </a:prstGeom>
          <a:solidFill>
            <a:srgbClr val="1A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445EDA06-79F8-310E-8954-BFAD8F5E292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094" t="14697" r="6094" b="16050"/>
          <a:stretch/>
        </p:blipFill>
        <p:spPr>
          <a:xfrm>
            <a:off x="635001" y="1460500"/>
            <a:ext cx="10706100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11558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fade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2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B0DC3A5-6E25-0CE9-42A0-C50E0565D0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99" name="Elipse 2">
            <a:extLst>
              <a:ext uri="{FF2B5EF4-FFF2-40B4-BE49-F238E27FC236}">
                <a16:creationId xmlns:a16="http://schemas.microsoft.com/office/drawing/2014/main" id="{73E27086-79B5-6F79-3728-22245EE1FBD1}"/>
              </a:ext>
            </a:extLst>
          </p:cNvPr>
          <p:cNvSpPr/>
          <p:nvPr/>
        </p:nvSpPr>
        <p:spPr>
          <a:xfrm>
            <a:off x="10160000" y="-1016000"/>
            <a:ext cx="3302000" cy="3302000"/>
          </a:xfrm>
          <a:prstGeom prst="ellipse">
            <a:avLst/>
          </a:prstGeom>
          <a:solidFill>
            <a:srgbClr val="6473F5">
              <a:alpha val="20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2" name="Text 0">
            <a:extLst>
              <a:ext uri="{FF2B5EF4-FFF2-40B4-BE49-F238E27FC236}">
                <a16:creationId xmlns:a16="http://schemas.microsoft.com/office/drawing/2014/main" id="{762A2209-5066-A9B5-3E35-5ED7D290F26D}"/>
              </a:ext>
            </a:extLst>
          </p:cNvPr>
          <p:cNvSpPr>
            <a:spLocks noGrp="1"/>
          </p:cNvSpPr>
          <p:nvPr>
            <p:ph type="title" idx="100"/>
          </p:nvPr>
        </p:nvSpPr>
        <p:spPr>
          <a:prstGeom prst="rect">
            <a:avLst/>
          </a:prstGeom>
          <a:noFill/>
          <a:ln/>
        </p:spPr>
        <p:txBody>
          <a:bodyPr vert="horz" wrap="square" lIns="0" tIns="0" rIns="0" bIns="0" rtlCol="0" anchor="ctr">
            <a:normAutofit/>
          </a:bodyPr>
          <a:lstStyle/>
          <a:p>
            <a:r>
              <a:rPr lang="en-US" b="1" dirty="0">
                <a:solidFill>
                  <a:srgbClr val="FFFFFF"/>
                </a:solidFill>
                <a:latin typeface="Calibri"/>
              </a:rPr>
              <a:t>Patrones Observer y Mediator</a:t>
            </a:r>
          </a:p>
        </p:txBody>
      </p:sp>
    </p:spTree>
    <p:extLst>
      <p:ext uri="{BB962C8B-B14F-4D97-AF65-F5344CB8AC3E}">
        <p14:creationId xmlns:p14="http://schemas.microsoft.com/office/powerpoint/2010/main" val="15187989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99" name="Elipse 2">
            <a:extLst>
              <a:ext uri="{FF2B5EF4-FFF2-40B4-BE49-F238E27FC236}">
                <a16:creationId xmlns:a16="http://schemas.microsoft.com/office/drawing/2014/main" id="{73E27086-79B5-6F79-3728-22245EE1FBD1}"/>
              </a:ext>
            </a:extLst>
          </p:cNvPr>
          <p:cNvSpPr/>
          <p:nvPr/>
        </p:nvSpPr>
        <p:spPr>
          <a:xfrm>
            <a:off x="10160000" y="-1016000"/>
            <a:ext cx="3302000" cy="3302000"/>
          </a:xfrm>
          <a:prstGeom prst="ellipse">
            <a:avLst/>
          </a:prstGeom>
          <a:solidFill>
            <a:srgbClr val="6473F5">
              <a:alpha val="20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2" name="Text 0"/>
          <p:cNvSpPr>
            <a:spLocks noGrp="1"/>
          </p:cNvSpPr>
          <p:nvPr>
            <p:ph type="title" idx="100"/>
          </p:nvPr>
        </p:nvSpPr>
        <p:spPr>
          <a:xfrm>
            <a:off x="630936" y="320040"/>
            <a:ext cx="10158984" cy="88696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>
            <a:normAutofit/>
          </a:bodyPr>
          <a:lstStyle/>
          <a:p>
            <a:r>
              <a:rPr lang="en-US" sz="3600" b="1" dirty="0">
                <a:solidFill>
                  <a:srgbClr val="FFFFFF"/>
                </a:solidFill>
                <a:latin typeface="Calibri"/>
              </a:rPr>
              <a:t>1. </a:t>
            </a:r>
            <a:r>
              <a:rPr lang="en-US" sz="3600" b="1" dirty="0" err="1">
                <a:solidFill>
                  <a:srgbClr val="FFFFFF"/>
                </a:solidFill>
                <a:latin typeface="Calibri"/>
              </a:rPr>
              <a:t>Patrones</a:t>
            </a:r>
            <a:r>
              <a:rPr lang="en-US" sz="3600" b="1" dirty="0">
                <a:solidFill>
                  <a:srgbClr val="FFFFFF"/>
                </a:solidFill>
                <a:latin typeface="Calibri"/>
              </a:rPr>
              <a:t>: Definición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720" y="6339840"/>
            <a:ext cx="609600" cy="36576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333">
                <a:solidFill>
                  <a:schemeClr val="tx1"/>
                </a:solidFill>
              </a:defRPr>
            </a:lvl1pPr>
          </a:lstStyle>
          <a:p>
            <a:pPr algn="l"/>
            <a:fld id="{F7021451-1387-4CA6-816F-3879F97B5CBC}" type="slidenum">
              <a:rPr lang="en-US" b="0">
                <a:solidFill>
                  <a:srgbClr val="BEC5E6"/>
                </a:solidFill>
              </a:rPr>
              <a:t>11</a:t>
            </a:fld>
            <a:endParaRPr lang="en-US"/>
          </a:p>
        </p:txBody>
      </p:sp>
      <p:sp>
        <p:nvSpPr>
          <p:cNvPr id="3" name="Text 1"/>
          <p:cNvSpPr txBox="1"/>
          <p:nvPr/>
        </p:nvSpPr>
        <p:spPr>
          <a:xfrm>
            <a:off x="731520" y="1402080"/>
            <a:ext cx="499872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667" b="1" dirty="0">
                <a:solidFill>
                  <a:srgbClr val="F4B942"/>
                </a:solidFill>
                <a:latin typeface="Calibri"/>
              </a:rPr>
              <a:t>Observer</a:t>
            </a:r>
            <a:endParaRPr lang="en-US" sz="2667" dirty="0"/>
          </a:p>
        </p:txBody>
      </p:sp>
      <p:sp>
        <p:nvSpPr>
          <p:cNvPr id="4" name="Text 2"/>
          <p:cNvSpPr txBox="1"/>
          <p:nvPr/>
        </p:nvSpPr>
        <p:spPr>
          <a:xfrm>
            <a:off x="6461760" y="1402080"/>
            <a:ext cx="499872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667" b="1" dirty="0">
                <a:solidFill>
                  <a:srgbClr val="F4B942"/>
                </a:solidFill>
                <a:latin typeface="Calibri"/>
              </a:rPr>
              <a:t>Mediator</a:t>
            </a:r>
            <a:endParaRPr lang="en-US" sz="2667" dirty="0"/>
          </a:p>
        </p:txBody>
      </p:sp>
      <p:sp>
        <p:nvSpPr>
          <p:cNvPr id="5" name="Separador"/>
          <p:cNvSpPr/>
          <p:nvPr/>
        </p:nvSpPr>
        <p:spPr>
          <a:xfrm>
            <a:off x="6035040" y="1463040"/>
            <a:ext cx="0" cy="4632960"/>
          </a:xfrm>
          <a:prstGeom prst="line">
            <a:avLst/>
          </a:prstGeom>
          <a:noFill/>
          <a:ln w="12700">
            <a:solidFill>
              <a:srgbClr val="2B3270"/>
            </a:solidFill>
            <a:prstDash val="solid"/>
          </a:ln>
        </p:spPr>
        <p:txBody>
          <a:bodyPr/>
          <a:lstStyle/>
          <a:p>
            <a:endParaRPr lang="es-419" sz="2400"/>
          </a:p>
        </p:txBody>
      </p:sp>
      <p:sp>
        <p:nvSpPr>
          <p:cNvPr id="6" name="Text 4"/>
          <p:cNvSpPr txBox="1"/>
          <p:nvPr/>
        </p:nvSpPr>
        <p:spPr>
          <a:xfrm>
            <a:off x="731520" y="2011680"/>
            <a:ext cx="4998720" cy="4145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spcAft>
                <a:spcPts val="1067"/>
              </a:spcAft>
            </a:pPr>
            <a:r>
              <a:rPr lang="en-US" sz="1867" b="1" dirty="0">
                <a:solidFill>
                  <a:srgbClr val="FFFFFF"/>
                </a:solidFill>
                <a:latin typeface="Calibri"/>
              </a:rPr>
              <a:t>Qué es: </a:t>
            </a:r>
            <a:r>
              <a:rPr lang="en-US" sz="1867" dirty="0">
                <a:solidFill>
                  <a:srgbClr val="BEC5E6"/>
                </a:solidFill>
                <a:latin typeface="Calibri"/>
              </a:rPr>
              <a:t>relación uno a muchos; si el Subject cambia, avisa a todos sus Observers.</a:t>
            </a:r>
          </a:p>
          <a:p>
            <a:pPr>
              <a:spcAft>
                <a:spcPts val="1067"/>
              </a:spcAft>
            </a:pPr>
            <a:r>
              <a:rPr lang="en-US" sz="1867" b="1" dirty="0">
                <a:solidFill>
                  <a:srgbClr val="FFFFFF"/>
                </a:solidFill>
                <a:latin typeface="Calibri"/>
              </a:rPr>
              <a:t>Metáfora: </a:t>
            </a:r>
            <a:r>
              <a:rPr lang="en-US" sz="1867" dirty="0">
                <a:solidFill>
                  <a:srgbClr val="BEC5E6"/>
                </a:solidFill>
                <a:latin typeface="Calibri"/>
              </a:rPr>
              <a:t>un canal de YouTube y sus suscriptores.</a:t>
            </a:r>
          </a:p>
          <a:p>
            <a:pPr>
              <a:spcAft>
                <a:spcPts val="1067"/>
              </a:spcAft>
            </a:pPr>
            <a:r>
              <a:rPr lang="en-US" sz="1867" b="1" dirty="0">
                <a:solidFill>
                  <a:srgbClr val="FFFFFF"/>
                </a:solidFill>
                <a:latin typeface="Calibri"/>
              </a:rPr>
              <a:t>Sirve para: </a:t>
            </a:r>
            <a:r>
              <a:rPr lang="en-US" sz="1867" dirty="0">
                <a:solidFill>
                  <a:srgbClr val="BEC5E6"/>
                </a:solidFill>
                <a:latin typeface="Calibri"/>
              </a:rPr>
              <a:t>reaccionar a cambios sin que el emisor conozca a quién avisa.</a:t>
            </a:r>
          </a:p>
          <a:p>
            <a:pPr>
              <a:spcAft>
                <a:spcPts val="1067"/>
              </a:spcAft>
            </a:pPr>
            <a:r>
              <a:rPr lang="en-US" sz="1867" b="1" dirty="0">
                <a:solidFill>
                  <a:srgbClr val="FFFFFF"/>
                </a:solidFill>
                <a:latin typeface="Calibri"/>
              </a:rPr>
              <a:t>En SOA: </a:t>
            </a:r>
            <a:r>
              <a:rPr lang="en-US" sz="1867" dirty="0">
                <a:solidFill>
                  <a:srgbClr val="BEC5E6"/>
                </a:solidFill>
                <a:latin typeface="Calibri"/>
              </a:rPr>
              <a:t>publish/subscribe con un broker (RabbitMQ, Kafka).</a:t>
            </a:r>
          </a:p>
        </p:txBody>
      </p:sp>
      <p:sp>
        <p:nvSpPr>
          <p:cNvPr id="7" name="Text 5"/>
          <p:cNvSpPr txBox="1"/>
          <p:nvPr/>
        </p:nvSpPr>
        <p:spPr>
          <a:xfrm>
            <a:off x="6461760" y="2011680"/>
            <a:ext cx="4998720" cy="4145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spcAft>
                <a:spcPts val="1067"/>
              </a:spcAft>
            </a:pPr>
            <a:r>
              <a:rPr lang="en-US" sz="1867" b="1" dirty="0">
                <a:solidFill>
                  <a:srgbClr val="FFFFFF"/>
                </a:solidFill>
                <a:latin typeface="Calibri"/>
              </a:rPr>
              <a:t>Qué es: </a:t>
            </a:r>
            <a:r>
              <a:rPr lang="en-US" sz="1867" dirty="0">
                <a:solidFill>
                  <a:srgbClr val="BEC5E6"/>
                </a:solidFill>
                <a:latin typeface="Calibri"/>
              </a:rPr>
              <a:t>un intermediario que centraliza la comunicación entre componentes.</a:t>
            </a:r>
          </a:p>
          <a:p>
            <a:pPr>
              <a:spcAft>
                <a:spcPts val="1067"/>
              </a:spcAft>
            </a:pPr>
            <a:r>
              <a:rPr lang="en-US" sz="1867" b="1" dirty="0">
                <a:solidFill>
                  <a:srgbClr val="FFFFFF"/>
                </a:solidFill>
                <a:latin typeface="Calibri"/>
              </a:rPr>
              <a:t>Metáfora: </a:t>
            </a:r>
            <a:r>
              <a:rPr lang="en-US" sz="1867" dirty="0">
                <a:solidFill>
                  <a:srgbClr val="BEC5E6"/>
                </a:solidFill>
                <a:latin typeface="Calibri"/>
              </a:rPr>
              <a:t>la torre de control de un aeropuerto.</a:t>
            </a:r>
          </a:p>
          <a:p>
            <a:pPr>
              <a:spcAft>
                <a:spcPts val="1067"/>
              </a:spcAft>
            </a:pPr>
            <a:r>
              <a:rPr lang="en-US" sz="1867" b="1" dirty="0">
                <a:solidFill>
                  <a:srgbClr val="FFFFFF"/>
                </a:solidFill>
                <a:latin typeface="Calibri"/>
              </a:rPr>
              <a:t>Sirve para: </a:t>
            </a:r>
            <a:r>
              <a:rPr lang="en-US" sz="1867" dirty="0">
                <a:solidFill>
                  <a:srgbClr val="BEC5E6"/>
                </a:solidFill>
                <a:latin typeface="Calibri"/>
              </a:rPr>
              <a:t>evitar una maraña de dependencias y coordinar en un solo lugar.</a:t>
            </a:r>
          </a:p>
          <a:p>
            <a:pPr>
              <a:spcAft>
                <a:spcPts val="1067"/>
              </a:spcAft>
            </a:pPr>
            <a:r>
              <a:rPr lang="en-US" sz="1867" b="1" dirty="0">
                <a:solidFill>
                  <a:srgbClr val="FFFFFF"/>
                </a:solidFill>
                <a:latin typeface="Calibri"/>
              </a:rPr>
              <a:t>En SOA: </a:t>
            </a:r>
            <a:r>
              <a:rPr lang="en-US" sz="1867" dirty="0">
                <a:solidFill>
                  <a:srgbClr val="BEC5E6"/>
                </a:solidFill>
                <a:latin typeface="Calibri"/>
              </a:rPr>
              <a:t>orquestador, ESB o API Gateway.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99" name="Elipse 2">
            <a:extLst>
              <a:ext uri="{FF2B5EF4-FFF2-40B4-BE49-F238E27FC236}">
                <a16:creationId xmlns:a16="http://schemas.microsoft.com/office/drawing/2014/main" id="{73E27086-79B5-6F79-3728-22245EE1FBD1}"/>
              </a:ext>
            </a:extLst>
          </p:cNvPr>
          <p:cNvSpPr/>
          <p:nvPr/>
        </p:nvSpPr>
        <p:spPr>
          <a:xfrm>
            <a:off x="10160000" y="-1016000"/>
            <a:ext cx="3302000" cy="3302000"/>
          </a:xfrm>
          <a:prstGeom prst="ellipse">
            <a:avLst/>
          </a:prstGeom>
          <a:solidFill>
            <a:srgbClr val="6473F5">
              <a:alpha val="20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2" name="Text 0"/>
          <p:cNvSpPr>
            <a:spLocks noGrp="1"/>
          </p:cNvSpPr>
          <p:nvPr>
            <p:ph type="title" idx="100"/>
          </p:nvPr>
        </p:nvSpPr>
        <p:spPr>
          <a:xfrm>
            <a:off x="630936" y="320040"/>
            <a:ext cx="10158984" cy="88696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>
            <a:normAutofit/>
          </a:bodyPr>
          <a:lstStyle/>
          <a:p>
            <a:r>
              <a:rPr lang="en-US" sz="3600" b="1" dirty="0">
                <a:solidFill>
                  <a:srgbClr val="FFFFFF"/>
                </a:solidFill>
                <a:latin typeface="Calibri"/>
              </a:rPr>
              <a:t>2. </a:t>
            </a:r>
            <a:r>
              <a:rPr lang="en-US" sz="3600" b="1" dirty="0" err="1">
                <a:solidFill>
                  <a:srgbClr val="FFFFFF"/>
                </a:solidFill>
                <a:latin typeface="Calibri"/>
              </a:rPr>
              <a:t>Patrones</a:t>
            </a:r>
            <a:r>
              <a:rPr lang="en-US" sz="3600" b="1" dirty="0">
                <a:solidFill>
                  <a:srgbClr val="FFFFFF"/>
                </a:solidFill>
                <a:latin typeface="Calibri"/>
              </a:rPr>
              <a:t>: Características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720" y="6339840"/>
            <a:ext cx="609600" cy="36576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333">
                <a:solidFill>
                  <a:schemeClr val="tx1"/>
                </a:solidFill>
              </a:defRPr>
            </a:lvl1pPr>
          </a:lstStyle>
          <a:p>
            <a:pPr algn="l"/>
            <a:fld id="{F7021451-1387-4CA6-816F-3879F97B5CBC}" type="slidenum">
              <a:rPr lang="en-US" b="0">
                <a:solidFill>
                  <a:srgbClr val="BEC5E6"/>
                </a:solidFill>
              </a:rPr>
              <a:t>12</a:t>
            </a:fld>
            <a:endParaRPr lang="en-US"/>
          </a:p>
        </p:txBody>
      </p:sp>
      <p:sp>
        <p:nvSpPr>
          <p:cNvPr id="3" name="Text 1"/>
          <p:cNvSpPr txBox="1"/>
          <p:nvPr/>
        </p:nvSpPr>
        <p:spPr>
          <a:xfrm>
            <a:off x="731520" y="1402080"/>
            <a:ext cx="499872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667" b="1" dirty="0">
                <a:solidFill>
                  <a:srgbClr val="F4B942"/>
                </a:solidFill>
                <a:latin typeface="Calibri"/>
              </a:rPr>
              <a:t>Observer</a:t>
            </a:r>
            <a:endParaRPr lang="en-US" sz="2667" dirty="0"/>
          </a:p>
        </p:txBody>
      </p:sp>
      <p:sp>
        <p:nvSpPr>
          <p:cNvPr id="4" name="Text 2"/>
          <p:cNvSpPr txBox="1"/>
          <p:nvPr/>
        </p:nvSpPr>
        <p:spPr>
          <a:xfrm>
            <a:off x="6461760" y="1402080"/>
            <a:ext cx="499872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667" b="1" dirty="0">
                <a:solidFill>
                  <a:srgbClr val="F4B942"/>
                </a:solidFill>
                <a:latin typeface="Calibri"/>
              </a:rPr>
              <a:t>Mediator</a:t>
            </a:r>
            <a:endParaRPr lang="en-US" sz="2667" dirty="0"/>
          </a:p>
        </p:txBody>
      </p:sp>
      <p:sp>
        <p:nvSpPr>
          <p:cNvPr id="5" name="Separador"/>
          <p:cNvSpPr/>
          <p:nvPr/>
        </p:nvSpPr>
        <p:spPr>
          <a:xfrm>
            <a:off x="6035040" y="1463040"/>
            <a:ext cx="0" cy="4632960"/>
          </a:xfrm>
          <a:prstGeom prst="line">
            <a:avLst/>
          </a:prstGeom>
          <a:noFill/>
          <a:ln w="12700">
            <a:solidFill>
              <a:srgbClr val="2B3270"/>
            </a:solidFill>
            <a:prstDash val="solid"/>
          </a:ln>
        </p:spPr>
        <p:txBody>
          <a:bodyPr/>
          <a:lstStyle/>
          <a:p>
            <a:endParaRPr lang="es-419" sz="2400"/>
          </a:p>
        </p:txBody>
      </p:sp>
      <p:sp>
        <p:nvSpPr>
          <p:cNvPr id="6" name="Text 4"/>
          <p:cNvSpPr txBox="1"/>
          <p:nvPr/>
        </p:nvSpPr>
        <p:spPr>
          <a:xfrm>
            <a:off x="731520" y="2011680"/>
            <a:ext cx="4998720" cy="4145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spcAft>
                <a:spcPts val="667"/>
              </a:spcAft>
            </a:pPr>
            <a:r>
              <a:rPr lang="en-US" sz="1733" b="1" dirty="0">
                <a:solidFill>
                  <a:srgbClr val="FFFFFF"/>
                </a:solidFill>
                <a:latin typeface="Calibri"/>
              </a:rPr>
              <a:t>Componentes: </a:t>
            </a:r>
            <a:r>
              <a:rPr lang="en-US" sz="1733" dirty="0">
                <a:solidFill>
                  <a:srgbClr val="BEC5E6"/>
                </a:solidFill>
                <a:latin typeface="Calibri"/>
              </a:rPr>
              <a:t>Subject, Observer, subscribe(), unsubscribe(), notify() y update().</a:t>
            </a:r>
          </a:p>
          <a:p>
            <a:pPr>
              <a:spcAft>
                <a:spcPts val="667"/>
              </a:spcAft>
            </a:pPr>
            <a:r>
              <a:rPr lang="en-US" sz="1733" b="1" dirty="0">
                <a:solidFill>
                  <a:srgbClr val="FFFFFF"/>
                </a:solidFill>
                <a:latin typeface="Calibri"/>
              </a:rPr>
              <a:t>Por dentro: </a:t>
            </a:r>
            <a:r>
              <a:rPr lang="en-US" sz="1733" dirty="0">
                <a:solidFill>
                  <a:srgbClr val="BEC5E6"/>
                </a:solidFill>
                <a:latin typeface="Calibri"/>
              </a:rPr>
              <a:t>el Subject guarda una lista de observadores y la recorre al notificar:</a:t>
            </a:r>
          </a:p>
          <a:p>
            <a:pPr marL="457189" indent="-457189">
              <a:spcAft>
                <a:spcPts val="667"/>
              </a:spcAft>
              <a:buSzPct val="100000"/>
              <a:buFont typeface="+mj-lt"/>
              <a:buAutoNum type="arabicPeriod"/>
            </a:pPr>
            <a:r>
              <a:rPr lang="en-US" sz="1733" dirty="0">
                <a:solidFill>
                  <a:srgbClr val="BEC5E6"/>
                </a:solidFill>
                <a:latin typeface="Calibri"/>
              </a:rPr>
              <a:t>se registran con subscribe()</a:t>
            </a:r>
          </a:p>
          <a:p>
            <a:pPr marL="457189" indent="-457189">
              <a:spcAft>
                <a:spcPts val="667"/>
              </a:spcAft>
              <a:buSzPct val="100000"/>
              <a:buFont typeface="+mj-lt"/>
              <a:buAutoNum type="arabicPeriod"/>
            </a:pPr>
            <a:r>
              <a:rPr lang="en-US" sz="1733" dirty="0">
                <a:solidFill>
                  <a:srgbClr val="BEC5E6"/>
                </a:solidFill>
                <a:latin typeface="Calibri"/>
              </a:rPr>
              <a:t>cambia el estado y llama notify()</a:t>
            </a:r>
          </a:p>
          <a:p>
            <a:pPr marL="457189" indent="-457189">
              <a:spcAft>
                <a:spcPts val="667"/>
              </a:spcAft>
              <a:buSzPct val="100000"/>
              <a:buFont typeface="+mj-lt"/>
              <a:buAutoNum type="arabicPeriod"/>
            </a:pPr>
            <a:r>
              <a:rPr lang="en-US" sz="1733" dirty="0">
                <a:solidFill>
                  <a:srgbClr val="BEC5E6"/>
                </a:solidFill>
                <a:latin typeface="Calibri"/>
              </a:rPr>
              <a:t>cada uno recibe update()</a:t>
            </a:r>
          </a:p>
          <a:p>
            <a:pPr>
              <a:spcAft>
                <a:spcPts val="667"/>
              </a:spcAft>
            </a:pPr>
            <a:endParaRPr lang="en-US" sz="1733" dirty="0"/>
          </a:p>
          <a:p>
            <a:pPr>
              <a:spcAft>
                <a:spcPts val="667"/>
              </a:spcAft>
            </a:pPr>
            <a:r>
              <a:rPr lang="en-US" sz="1733" b="1" dirty="0">
                <a:solidFill>
                  <a:srgbClr val="FFFFFF"/>
                </a:solidFill>
                <a:latin typeface="Calibri"/>
              </a:rPr>
              <a:t>En SOA: </a:t>
            </a:r>
            <a:r>
              <a:rPr lang="en-US" sz="1733" dirty="0">
                <a:solidFill>
                  <a:srgbClr val="BEC5E6"/>
                </a:solidFill>
                <a:latin typeface="Calibri"/>
              </a:rPr>
              <a:t>el broker hace de lista y entrega el evento a cada suscriptor.</a:t>
            </a:r>
          </a:p>
        </p:txBody>
      </p:sp>
      <p:sp>
        <p:nvSpPr>
          <p:cNvPr id="7" name="Text 5"/>
          <p:cNvSpPr txBox="1"/>
          <p:nvPr/>
        </p:nvSpPr>
        <p:spPr>
          <a:xfrm>
            <a:off x="6461760" y="2011680"/>
            <a:ext cx="4998720" cy="4145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spcAft>
                <a:spcPts val="667"/>
              </a:spcAft>
            </a:pPr>
            <a:r>
              <a:rPr lang="en-US" sz="1733" b="1" dirty="0">
                <a:solidFill>
                  <a:srgbClr val="FFFFFF"/>
                </a:solidFill>
                <a:latin typeface="Calibri"/>
              </a:rPr>
              <a:t>Componentes: </a:t>
            </a:r>
            <a:r>
              <a:rPr lang="en-US" sz="1733" dirty="0">
                <a:solidFill>
                  <a:srgbClr val="BEC5E6"/>
                </a:solidFill>
                <a:latin typeface="Calibri"/>
              </a:rPr>
              <a:t>interfaz Mediator, mediador concreto y Colleagues.</a:t>
            </a:r>
          </a:p>
          <a:p>
            <a:pPr>
              <a:spcAft>
                <a:spcPts val="667"/>
              </a:spcAft>
            </a:pPr>
            <a:r>
              <a:rPr lang="en-US" sz="1733" b="1" dirty="0">
                <a:solidFill>
                  <a:srgbClr val="FFFFFF"/>
                </a:solidFill>
                <a:latin typeface="Calibri"/>
              </a:rPr>
              <a:t>Por dentro: </a:t>
            </a:r>
            <a:r>
              <a:rPr lang="en-US" sz="1733" dirty="0">
                <a:solidFill>
                  <a:srgbClr val="BEC5E6"/>
                </a:solidFill>
                <a:latin typeface="Calibri"/>
              </a:rPr>
              <a:t>los Colleagues solo conocen al mediador:</a:t>
            </a:r>
          </a:p>
          <a:p>
            <a:pPr marL="457189" indent="-457189">
              <a:spcAft>
                <a:spcPts val="667"/>
              </a:spcAft>
              <a:buSzPct val="100000"/>
              <a:buFont typeface="+mj-lt"/>
              <a:buAutoNum type="arabicPeriod"/>
            </a:pPr>
            <a:r>
              <a:rPr lang="en-US" sz="1733" dirty="0">
                <a:solidFill>
                  <a:srgbClr val="BEC5E6"/>
                </a:solidFill>
                <a:latin typeface="Calibri"/>
              </a:rPr>
              <a:t>un Colleague le avisa lo que necesita</a:t>
            </a:r>
          </a:p>
          <a:p>
            <a:pPr marL="457189" indent="-457189">
              <a:spcAft>
                <a:spcPts val="667"/>
              </a:spcAft>
              <a:buSzPct val="100000"/>
              <a:buFont typeface="+mj-lt"/>
              <a:buAutoNum type="arabicPeriod"/>
            </a:pPr>
            <a:r>
              <a:rPr lang="en-US" sz="1733" dirty="0">
                <a:solidFill>
                  <a:srgbClr val="BEC5E6"/>
                </a:solidFill>
                <a:latin typeface="Calibri"/>
              </a:rPr>
              <a:t>el mediador decide a quién, en qué orden y con qué reglas</a:t>
            </a:r>
          </a:p>
          <a:p>
            <a:pPr marL="457189" indent="-457189">
              <a:spcAft>
                <a:spcPts val="667"/>
              </a:spcAft>
              <a:buSzPct val="100000"/>
              <a:buFont typeface="+mj-lt"/>
              <a:buAutoNum type="arabicPeriod"/>
            </a:pPr>
            <a:r>
              <a:rPr lang="en-US" sz="1733" dirty="0">
                <a:solidFill>
                  <a:srgbClr val="BEC5E6"/>
                </a:solidFill>
                <a:latin typeface="Calibri"/>
              </a:rPr>
              <a:t>los demás responden al mediador</a:t>
            </a:r>
          </a:p>
          <a:p>
            <a:pPr>
              <a:spcAft>
                <a:spcPts val="667"/>
              </a:spcAft>
            </a:pPr>
            <a:endParaRPr lang="en-US" sz="1733" dirty="0"/>
          </a:p>
          <a:p>
            <a:pPr>
              <a:spcAft>
                <a:spcPts val="667"/>
              </a:spcAft>
            </a:pPr>
            <a:r>
              <a:rPr lang="en-US" sz="1733" b="1" dirty="0">
                <a:solidFill>
                  <a:srgbClr val="FFFFFF"/>
                </a:solidFill>
                <a:latin typeface="Calibri"/>
              </a:rPr>
              <a:t>En SOA: </a:t>
            </a:r>
            <a:r>
              <a:rPr lang="en-US" sz="1733" dirty="0">
                <a:solidFill>
                  <a:srgbClr val="BEC5E6"/>
                </a:solidFill>
                <a:latin typeface="Calibri"/>
              </a:rPr>
              <a:t>el ESB o gateway enruta, transforma y coordina.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99" name="Elipse 2">
            <a:extLst>
              <a:ext uri="{FF2B5EF4-FFF2-40B4-BE49-F238E27FC236}">
                <a16:creationId xmlns:a16="http://schemas.microsoft.com/office/drawing/2014/main" id="{73E27086-79B5-6F79-3728-22245EE1FBD1}"/>
              </a:ext>
            </a:extLst>
          </p:cNvPr>
          <p:cNvSpPr/>
          <p:nvPr/>
        </p:nvSpPr>
        <p:spPr>
          <a:xfrm>
            <a:off x="10160000" y="-1016000"/>
            <a:ext cx="3302000" cy="3302000"/>
          </a:xfrm>
          <a:prstGeom prst="ellipse">
            <a:avLst/>
          </a:prstGeom>
          <a:solidFill>
            <a:srgbClr val="6473F5">
              <a:alpha val="20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2" name="Text 0"/>
          <p:cNvSpPr>
            <a:spLocks noGrp="1"/>
          </p:cNvSpPr>
          <p:nvPr>
            <p:ph type="title" idx="100"/>
          </p:nvPr>
        </p:nvSpPr>
        <p:spPr>
          <a:xfrm>
            <a:off x="630936" y="320040"/>
            <a:ext cx="10158984" cy="88696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>
            <a:normAutofit/>
          </a:bodyPr>
          <a:lstStyle/>
          <a:p>
            <a:r>
              <a:rPr lang="en-US" sz="3600" b="1" dirty="0">
                <a:solidFill>
                  <a:srgbClr val="FFFFFF"/>
                </a:solidFill>
                <a:latin typeface="Calibri"/>
              </a:rPr>
              <a:t>3. </a:t>
            </a:r>
            <a:r>
              <a:rPr lang="en-US" sz="3600" b="1" dirty="0" err="1">
                <a:solidFill>
                  <a:srgbClr val="FFFFFF"/>
                </a:solidFill>
                <a:latin typeface="Calibri"/>
              </a:rPr>
              <a:t>Patrones</a:t>
            </a:r>
            <a:r>
              <a:rPr lang="en-US" sz="3600" b="1" dirty="0">
                <a:solidFill>
                  <a:srgbClr val="FFFFFF"/>
                </a:solidFill>
                <a:latin typeface="Calibri"/>
              </a:rPr>
              <a:t>: Diagramas</a:t>
            </a:r>
          </a:p>
        </p:txBody>
      </p:sp>
      <p:sp>
        <p:nvSpPr>
          <p:cNvPr id="3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720" y="6339840"/>
            <a:ext cx="609600" cy="36576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333">
                <a:solidFill>
                  <a:schemeClr val="tx1"/>
                </a:solidFill>
              </a:defRPr>
            </a:lvl1pPr>
          </a:lstStyle>
          <a:p>
            <a:pPr algn="l"/>
            <a:fld id="{F7021451-1387-4CA6-816F-3879F97B5CBC}" type="slidenum">
              <a:rPr lang="en-US" b="0">
                <a:solidFill>
                  <a:srgbClr val="BEC5E6"/>
                </a:solidFill>
              </a:rPr>
              <a:t>13</a:t>
            </a:fld>
            <a:endParaRPr lang="en-US"/>
          </a:p>
        </p:txBody>
      </p:sp>
      <p:sp>
        <p:nvSpPr>
          <p:cNvPr id="3" name="Text 1"/>
          <p:cNvSpPr txBox="1"/>
          <p:nvPr/>
        </p:nvSpPr>
        <p:spPr>
          <a:xfrm>
            <a:off x="731520" y="1402080"/>
            <a:ext cx="499872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667" b="1" dirty="0">
                <a:solidFill>
                  <a:srgbClr val="F4B942"/>
                </a:solidFill>
                <a:latin typeface="Calibri"/>
              </a:rPr>
              <a:t>Observer</a:t>
            </a:r>
            <a:endParaRPr lang="en-US" sz="2667" dirty="0"/>
          </a:p>
        </p:txBody>
      </p:sp>
      <p:sp>
        <p:nvSpPr>
          <p:cNvPr id="4" name="Text 2"/>
          <p:cNvSpPr txBox="1"/>
          <p:nvPr/>
        </p:nvSpPr>
        <p:spPr>
          <a:xfrm>
            <a:off x="6461760" y="1402080"/>
            <a:ext cx="499872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667" b="1" dirty="0">
                <a:solidFill>
                  <a:srgbClr val="F4B942"/>
                </a:solidFill>
                <a:latin typeface="Calibri"/>
              </a:rPr>
              <a:t>Mediator</a:t>
            </a:r>
            <a:endParaRPr lang="en-US" sz="2667" dirty="0"/>
          </a:p>
        </p:txBody>
      </p:sp>
      <p:sp>
        <p:nvSpPr>
          <p:cNvPr id="5" name="Separador"/>
          <p:cNvSpPr/>
          <p:nvPr/>
        </p:nvSpPr>
        <p:spPr>
          <a:xfrm>
            <a:off x="6035040" y="1463040"/>
            <a:ext cx="0" cy="4632960"/>
          </a:xfrm>
          <a:prstGeom prst="line">
            <a:avLst/>
          </a:prstGeom>
          <a:noFill/>
          <a:ln w="12700">
            <a:solidFill>
              <a:srgbClr val="2B3270"/>
            </a:solidFill>
            <a:prstDash val="solid"/>
          </a:ln>
        </p:spPr>
        <p:txBody>
          <a:bodyPr/>
          <a:lstStyle/>
          <a:p>
            <a:endParaRPr lang="es-419" sz="2400"/>
          </a:p>
        </p:txBody>
      </p:sp>
      <p:sp>
        <p:nvSpPr>
          <p:cNvPr id="6" name="Subject notify()"/>
          <p:cNvSpPr/>
          <p:nvPr/>
        </p:nvSpPr>
        <p:spPr>
          <a:xfrm>
            <a:off x="731520" y="2560320"/>
            <a:ext cx="1828800" cy="1706880"/>
          </a:xfrm>
          <a:prstGeom prst="rect">
            <a:avLst/>
          </a:prstGeom>
          <a:solidFill>
            <a:srgbClr val="6473F5"/>
          </a:solidFill>
          <a:ln w="15875">
            <a:noFill/>
            <a:prstDash val="solid"/>
          </a:ln>
        </p:spPr>
        <p:txBody>
          <a:bodyPr/>
          <a:lstStyle/>
          <a:p>
            <a:endParaRPr lang="es-419" sz="2400"/>
          </a:p>
        </p:txBody>
      </p:sp>
      <p:sp>
        <p:nvSpPr>
          <p:cNvPr id="7" name="Text 5"/>
          <p:cNvSpPr txBox="1"/>
          <p:nvPr/>
        </p:nvSpPr>
        <p:spPr>
          <a:xfrm>
            <a:off x="731520" y="2560320"/>
            <a:ext cx="1828800" cy="1706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 dirty="0">
                <a:solidFill>
                  <a:srgbClr val="FFFFFF"/>
                </a:solidFill>
                <a:latin typeface="Calibri"/>
              </a:rPr>
              <a:t>Subject</a:t>
            </a:r>
            <a:endParaRPr lang="en-US" sz="1600" dirty="0"/>
          </a:p>
          <a:p>
            <a:pPr algn="ctr"/>
            <a:r>
              <a:rPr lang="en-US" sz="1600" b="1" dirty="0">
                <a:solidFill>
                  <a:srgbClr val="FFFFFF"/>
                </a:solidFill>
                <a:latin typeface="Calibri"/>
              </a:rPr>
              <a:t>notify()</a:t>
            </a:r>
            <a:endParaRPr lang="en-US" sz="1600" dirty="0"/>
          </a:p>
        </p:txBody>
      </p:sp>
      <p:sp>
        <p:nvSpPr>
          <p:cNvPr id="8" name="Observer A"/>
          <p:cNvSpPr/>
          <p:nvPr/>
        </p:nvSpPr>
        <p:spPr>
          <a:xfrm>
            <a:off x="3901440" y="1950720"/>
            <a:ext cx="1828800" cy="731520"/>
          </a:xfrm>
          <a:prstGeom prst="rect">
            <a:avLst/>
          </a:prstGeom>
          <a:solidFill>
            <a:srgbClr val="6473F5"/>
          </a:solidFill>
          <a:ln w="15875">
            <a:noFill/>
            <a:prstDash val="solid"/>
          </a:ln>
        </p:spPr>
        <p:txBody>
          <a:bodyPr/>
          <a:lstStyle/>
          <a:p>
            <a:endParaRPr lang="es-419" sz="2400"/>
          </a:p>
        </p:txBody>
      </p:sp>
      <p:sp>
        <p:nvSpPr>
          <p:cNvPr id="9" name="Text 7"/>
          <p:cNvSpPr txBox="1"/>
          <p:nvPr/>
        </p:nvSpPr>
        <p:spPr>
          <a:xfrm>
            <a:off x="3901440" y="195072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 dirty="0">
                <a:solidFill>
                  <a:srgbClr val="FFFFFF"/>
                </a:solidFill>
                <a:latin typeface="Calibri"/>
              </a:rPr>
              <a:t>Observer A</a:t>
            </a:r>
            <a:endParaRPr lang="en-US" sz="1600" dirty="0"/>
          </a:p>
        </p:txBody>
      </p:sp>
      <p:sp>
        <p:nvSpPr>
          <p:cNvPr id="10" name="Observer B"/>
          <p:cNvSpPr/>
          <p:nvPr/>
        </p:nvSpPr>
        <p:spPr>
          <a:xfrm>
            <a:off x="3901440" y="3048000"/>
            <a:ext cx="1828800" cy="731520"/>
          </a:xfrm>
          <a:prstGeom prst="rect">
            <a:avLst/>
          </a:prstGeom>
          <a:solidFill>
            <a:srgbClr val="6473F5"/>
          </a:solidFill>
          <a:ln w="15875">
            <a:noFill/>
            <a:prstDash val="solid"/>
          </a:ln>
        </p:spPr>
        <p:txBody>
          <a:bodyPr/>
          <a:lstStyle/>
          <a:p>
            <a:endParaRPr lang="es-419" sz="2400"/>
          </a:p>
        </p:txBody>
      </p:sp>
      <p:sp>
        <p:nvSpPr>
          <p:cNvPr id="11" name="Text 9"/>
          <p:cNvSpPr txBox="1"/>
          <p:nvPr/>
        </p:nvSpPr>
        <p:spPr>
          <a:xfrm>
            <a:off x="3901440" y="30480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 dirty="0">
                <a:solidFill>
                  <a:srgbClr val="FFFFFF"/>
                </a:solidFill>
                <a:latin typeface="Calibri"/>
              </a:rPr>
              <a:t>Observer B</a:t>
            </a:r>
            <a:endParaRPr lang="en-US" sz="1600" dirty="0"/>
          </a:p>
        </p:txBody>
      </p:sp>
      <p:sp>
        <p:nvSpPr>
          <p:cNvPr id="12" name="Observer C"/>
          <p:cNvSpPr/>
          <p:nvPr/>
        </p:nvSpPr>
        <p:spPr>
          <a:xfrm>
            <a:off x="3901440" y="4145280"/>
            <a:ext cx="1828800" cy="731520"/>
          </a:xfrm>
          <a:prstGeom prst="rect">
            <a:avLst/>
          </a:prstGeom>
          <a:solidFill>
            <a:srgbClr val="6473F5"/>
          </a:solidFill>
          <a:ln w="15875">
            <a:noFill/>
            <a:prstDash val="solid"/>
          </a:ln>
        </p:spPr>
        <p:txBody>
          <a:bodyPr/>
          <a:lstStyle/>
          <a:p>
            <a:endParaRPr lang="es-419" sz="2400"/>
          </a:p>
        </p:txBody>
      </p:sp>
      <p:sp>
        <p:nvSpPr>
          <p:cNvPr id="13" name="Text 11"/>
          <p:cNvSpPr txBox="1"/>
          <p:nvPr/>
        </p:nvSpPr>
        <p:spPr>
          <a:xfrm>
            <a:off x="3901440" y="414528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 dirty="0">
                <a:solidFill>
                  <a:srgbClr val="FFFFFF"/>
                </a:solidFill>
                <a:latin typeface="Calibri"/>
              </a:rPr>
              <a:t>Observer C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 flipV="1">
            <a:off x="2560320" y="2316480"/>
            <a:ext cx="1341120" cy="1097280"/>
          </a:xfrm>
          <a:prstGeom prst="line">
            <a:avLst/>
          </a:prstGeom>
          <a:noFill/>
          <a:ln w="19050">
            <a:solidFill>
              <a:srgbClr val="BEC5E6"/>
            </a:solidFill>
            <a:prstDash val="solid"/>
            <a:tailEnd type="triangle"/>
          </a:ln>
        </p:spPr>
        <p:txBody>
          <a:bodyPr/>
          <a:lstStyle/>
          <a:p>
            <a:endParaRPr lang="es-419" sz="2400"/>
          </a:p>
        </p:txBody>
      </p:sp>
      <p:sp>
        <p:nvSpPr>
          <p:cNvPr id="15" name="Shape 13"/>
          <p:cNvSpPr/>
          <p:nvPr/>
        </p:nvSpPr>
        <p:spPr>
          <a:xfrm>
            <a:off x="2560320" y="3413760"/>
            <a:ext cx="1341120" cy="0"/>
          </a:xfrm>
          <a:prstGeom prst="line">
            <a:avLst/>
          </a:prstGeom>
          <a:noFill/>
          <a:ln w="19050">
            <a:solidFill>
              <a:srgbClr val="BEC5E6"/>
            </a:solidFill>
            <a:prstDash val="solid"/>
            <a:tailEnd type="triangle"/>
          </a:ln>
        </p:spPr>
        <p:txBody>
          <a:bodyPr/>
          <a:lstStyle/>
          <a:p>
            <a:endParaRPr lang="es-419" sz="2400"/>
          </a:p>
        </p:txBody>
      </p:sp>
      <p:sp>
        <p:nvSpPr>
          <p:cNvPr id="16" name="Shape 14"/>
          <p:cNvSpPr/>
          <p:nvPr/>
        </p:nvSpPr>
        <p:spPr>
          <a:xfrm>
            <a:off x="2560320" y="3413760"/>
            <a:ext cx="1341120" cy="1097280"/>
          </a:xfrm>
          <a:prstGeom prst="line">
            <a:avLst/>
          </a:prstGeom>
          <a:noFill/>
          <a:ln w="19050">
            <a:solidFill>
              <a:srgbClr val="BEC5E6"/>
            </a:solidFill>
            <a:prstDash val="solid"/>
            <a:tailEnd type="triangle"/>
          </a:ln>
        </p:spPr>
        <p:txBody>
          <a:bodyPr/>
          <a:lstStyle/>
          <a:p>
            <a:endParaRPr lang="es-419" sz="2400"/>
          </a:p>
        </p:txBody>
      </p:sp>
      <p:sp>
        <p:nvSpPr>
          <p:cNvPr id="17" name="Mediator"/>
          <p:cNvSpPr/>
          <p:nvPr/>
        </p:nvSpPr>
        <p:spPr>
          <a:xfrm>
            <a:off x="7924800" y="1950720"/>
            <a:ext cx="2072640" cy="853440"/>
          </a:xfrm>
          <a:prstGeom prst="rect">
            <a:avLst/>
          </a:prstGeom>
          <a:solidFill>
            <a:srgbClr val="6473F5"/>
          </a:solidFill>
          <a:ln w="15875">
            <a:noFill/>
            <a:prstDash val="solid"/>
          </a:ln>
        </p:spPr>
        <p:txBody>
          <a:bodyPr/>
          <a:lstStyle/>
          <a:p>
            <a:endParaRPr lang="es-419" sz="2400"/>
          </a:p>
        </p:txBody>
      </p:sp>
      <p:sp>
        <p:nvSpPr>
          <p:cNvPr id="18" name="Text 16"/>
          <p:cNvSpPr txBox="1"/>
          <p:nvPr/>
        </p:nvSpPr>
        <p:spPr>
          <a:xfrm>
            <a:off x="7924800" y="1950720"/>
            <a:ext cx="207264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 dirty="0">
                <a:solidFill>
                  <a:srgbClr val="FFFFFF"/>
                </a:solidFill>
                <a:latin typeface="Calibri"/>
              </a:rPr>
              <a:t>Mediator</a:t>
            </a:r>
            <a:endParaRPr lang="en-US" sz="1600" dirty="0"/>
          </a:p>
        </p:txBody>
      </p:sp>
      <p:sp>
        <p:nvSpPr>
          <p:cNvPr id="19" name="Colleague A"/>
          <p:cNvSpPr/>
          <p:nvPr/>
        </p:nvSpPr>
        <p:spPr>
          <a:xfrm>
            <a:off x="6461760" y="3901440"/>
            <a:ext cx="1463040" cy="853440"/>
          </a:xfrm>
          <a:prstGeom prst="rect">
            <a:avLst/>
          </a:prstGeom>
          <a:solidFill>
            <a:srgbClr val="6473F5"/>
          </a:solidFill>
          <a:ln w="15875">
            <a:noFill/>
            <a:prstDash val="solid"/>
          </a:ln>
        </p:spPr>
        <p:txBody>
          <a:bodyPr/>
          <a:lstStyle/>
          <a:p>
            <a:endParaRPr lang="es-419" sz="2400"/>
          </a:p>
        </p:txBody>
      </p:sp>
      <p:sp>
        <p:nvSpPr>
          <p:cNvPr id="20" name="Text 18"/>
          <p:cNvSpPr txBox="1"/>
          <p:nvPr/>
        </p:nvSpPr>
        <p:spPr>
          <a:xfrm>
            <a:off x="6461760" y="3901440"/>
            <a:ext cx="146304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 dirty="0">
                <a:solidFill>
                  <a:srgbClr val="FFFFFF"/>
                </a:solidFill>
                <a:latin typeface="Calibri"/>
              </a:rPr>
              <a:t>Colleague A</a:t>
            </a:r>
            <a:endParaRPr lang="en-US" sz="1600" dirty="0"/>
          </a:p>
        </p:txBody>
      </p:sp>
      <p:sp>
        <p:nvSpPr>
          <p:cNvPr id="21" name="Colleague B"/>
          <p:cNvSpPr/>
          <p:nvPr/>
        </p:nvSpPr>
        <p:spPr>
          <a:xfrm>
            <a:off x="8229600" y="3901440"/>
            <a:ext cx="1463040" cy="853440"/>
          </a:xfrm>
          <a:prstGeom prst="rect">
            <a:avLst/>
          </a:prstGeom>
          <a:solidFill>
            <a:srgbClr val="6473F5"/>
          </a:solidFill>
          <a:ln w="15875">
            <a:noFill/>
            <a:prstDash val="solid"/>
          </a:ln>
        </p:spPr>
        <p:txBody>
          <a:bodyPr/>
          <a:lstStyle/>
          <a:p>
            <a:endParaRPr lang="es-419" sz="2400"/>
          </a:p>
        </p:txBody>
      </p:sp>
      <p:sp>
        <p:nvSpPr>
          <p:cNvPr id="22" name="Text 20"/>
          <p:cNvSpPr txBox="1"/>
          <p:nvPr/>
        </p:nvSpPr>
        <p:spPr>
          <a:xfrm>
            <a:off x="8229600" y="3901440"/>
            <a:ext cx="146304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 dirty="0">
                <a:solidFill>
                  <a:srgbClr val="FFFFFF"/>
                </a:solidFill>
                <a:latin typeface="Calibri"/>
              </a:rPr>
              <a:t>Colleague B</a:t>
            </a:r>
            <a:endParaRPr lang="en-US" sz="1600" dirty="0"/>
          </a:p>
        </p:txBody>
      </p:sp>
      <p:sp>
        <p:nvSpPr>
          <p:cNvPr id="23" name="Colleague C"/>
          <p:cNvSpPr/>
          <p:nvPr/>
        </p:nvSpPr>
        <p:spPr>
          <a:xfrm>
            <a:off x="9997440" y="3901440"/>
            <a:ext cx="1463040" cy="853440"/>
          </a:xfrm>
          <a:prstGeom prst="rect">
            <a:avLst/>
          </a:prstGeom>
          <a:solidFill>
            <a:srgbClr val="6473F5"/>
          </a:solidFill>
          <a:ln w="15875">
            <a:noFill/>
            <a:prstDash val="solid"/>
          </a:ln>
        </p:spPr>
        <p:txBody>
          <a:bodyPr/>
          <a:lstStyle/>
          <a:p>
            <a:endParaRPr lang="es-419" sz="2400"/>
          </a:p>
        </p:txBody>
      </p:sp>
      <p:sp>
        <p:nvSpPr>
          <p:cNvPr id="24" name="Text 22"/>
          <p:cNvSpPr txBox="1"/>
          <p:nvPr/>
        </p:nvSpPr>
        <p:spPr>
          <a:xfrm>
            <a:off x="9997440" y="3901440"/>
            <a:ext cx="146304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 dirty="0">
                <a:solidFill>
                  <a:srgbClr val="FFFFFF"/>
                </a:solidFill>
                <a:latin typeface="Calibri"/>
              </a:rPr>
              <a:t>Colleague C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 flipV="1">
            <a:off x="7193280" y="2804160"/>
            <a:ext cx="1097280" cy="1097280"/>
          </a:xfrm>
          <a:prstGeom prst="line">
            <a:avLst/>
          </a:prstGeom>
          <a:noFill/>
          <a:ln w="19050">
            <a:solidFill>
              <a:srgbClr val="BEC5E6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 lang="es-419" sz="2400"/>
          </a:p>
        </p:txBody>
      </p:sp>
      <p:sp>
        <p:nvSpPr>
          <p:cNvPr id="26" name="Shape 24"/>
          <p:cNvSpPr/>
          <p:nvPr/>
        </p:nvSpPr>
        <p:spPr>
          <a:xfrm>
            <a:off x="8961120" y="2804160"/>
            <a:ext cx="0" cy="1097280"/>
          </a:xfrm>
          <a:prstGeom prst="line">
            <a:avLst/>
          </a:prstGeom>
          <a:noFill/>
          <a:ln w="19050">
            <a:solidFill>
              <a:srgbClr val="BEC5E6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 lang="es-419" sz="2400"/>
          </a:p>
        </p:txBody>
      </p:sp>
      <p:sp>
        <p:nvSpPr>
          <p:cNvPr id="27" name="Shape 25"/>
          <p:cNvSpPr/>
          <p:nvPr/>
        </p:nvSpPr>
        <p:spPr>
          <a:xfrm>
            <a:off x="9631680" y="2804160"/>
            <a:ext cx="1097280" cy="1097280"/>
          </a:xfrm>
          <a:prstGeom prst="line">
            <a:avLst/>
          </a:prstGeom>
          <a:noFill/>
          <a:ln w="19050">
            <a:solidFill>
              <a:srgbClr val="BEC5E6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 lang="es-419" sz="2400"/>
          </a:p>
        </p:txBody>
      </p:sp>
      <p:sp>
        <p:nvSpPr>
          <p:cNvPr id="28" name="Text 26"/>
          <p:cNvSpPr txBox="1"/>
          <p:nvPr/>
        </p:nvSpPr>
        <p:spPr>
          <a:xfrm>
            <a:off x="731520" y="5120640"/>
            <a:ext cx="4998720" cy="975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867" dirty="0">
                <a:solidFill>
                  <a:srgbClr val="BEC5E6"/>
                </a:solidFill>
                <a:latin typeface="Calibri"/>
              </a:rPr>
              <a:t>El Subject avisa a todos sus Observers con notify(). En SOA, el broker entrega el evento.</a:t>
            </a:r>
          </a:p>
        </p:txBody>
      </p:sp>
      <p:sp>
        <p:nvSpPr>
          <p:cNvPr id="29" name="Text 27"/>
          <p:cNvSpPr txBox="1"/>
          <p:nvPr/>
        </p:nvSpPr>
        <p:spPr>
          <a:xfrm>
            <a:off x="6461760" y="5120640"/>
            <a:ext cx="4998720" cy="975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867" dirty="0">
                <a:solidFill>
                  <a:srgbClr val="BEC5E6"/>
                </a:solidFill>
                <a:latin typeface="Calibri"/>
              </a:rPr>
              <a:t>Todos hablan con el Mediator, que coordina; los Colleagues no se conocen entre sí.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lipse 2">
            <a:extLst>
              <a:ext uri="{FF2B5EF4-FFF2-40B4-BE49-F238E27FC236}">
                <a16:creationId xmlns:a16="http://schemas.microsoft.com/office/drawing/2014/main" id="{FE7D64DB-C5FD-D992-F020-91F87E5C8482}"/>
              </a:ext>
            </a:extLst>
          </p:cNvPr>
          <p:cNvSpPr/>
          <p:nvPr/>
        </p:nvSpPr>
        <p:spPr>
          <a:xfrm>
            <a:off x="10160000" y="-1016000"/>
            <a:ext cx="3302000" cy="3302000"/>
          </a:xfrm>
          <a:prstGeom prst="ellipse">
            <a:avLst/>
          </a:prstGeom>
          <a:solidFill>
            <a:srgbClr val="6473F5">
              <a:alpha val="20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413750F-AC17-AF7B-C66B-9B3777908B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317500"/>
            <a:ext cx="10160000" cy="889000"/>
          </a:xfrm>
        </p:spPr>
        <p:txBody>
          <a:bodyPr anchor="ctr">
            <a:normAutofit/>
          </a:bodyPr>
          <a:lstStyle/>
          <a:p>
            <a:r>
              <a:rPr lang="es-CO" sz="3600" b="1" dirty="0">
                <a:solidFill>
                  <a:srgbClr val="FFFFFF"/>
                </a:solidFill>
                <a:latin typeface="Calibri" panose="020F0502020204030204" pitchFamily="34" charset="0"/>
              </a:rPr>
              <a:t>4. </a:t>
            </a:r>
            <a:r>
              <a:rPr lang="es-CO" sz="3600" b="1" dirty="0" err="1">
                <a:solidFill>
                  <a:srgbClr val="FFFFFF"/>
                </a:solidFill>
                <a:latin typeface="Calibri" panose="020F0502020204030204" pitchFamily="34" charset="0"/>
              </a:rPr>
              <a:t>Observer</a:t>
            </a:r>
            <a:r>
              <a:rPr lang="es-CO" sz="3600" b="1" dirty="0">
                <a:solidFill>
                  <a:srgbClr val="FFFFFF"/>
                </a:solidFill>
                <a:latin typeface="Calibri" panose="020F0502020204030204" pitchFamily="34" charset="0"/>
              </a:rPr>
              <a:t>: Ventajas y Desventajas</a:t>
            </a:r>
          </a:p>
        </p:txBody>
      </p:sp>
      <p:sp>
        <p:nvSpPr>
          <p:cNvPr id="4" name="Elipse 3">
            <a:extLst>
              <a:ext uri="{FF2B5EF4-FFF2-40B4-BE49-F238E27FC236}">
                <a16:creationId xmlns:a16="http://schemas.microsoft.com/office/drawing/2014/main" id="{8EDD861F-87A0-68C5-E3EB-742B2E52E244}"/>
              </a:ext>
            </a:extLst>
          </p:cNvPr>
          <p:cNvSpPr/>
          <p:nvPr/>
        </p:nvSpPr>
        <p:spPr>
          <a:xfrm>
            <a:off x="762000" y="3111500"/>
            <a:ext cx="1651000" cy="1651000"/>
          </a:xfrm>
          <a:prstGeom prst="ellipse">
            <a:avLst/>
          </a:prstGeom>
          <a:solidFill>
            <a:srgbClr val="2EC4B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sz="2400" b="1">
                <a:solidFill>
                  <a:srgbClr val="0F122D"/>
                </a:solidFill>
                <a:latin typeface="Calibri" panose="020F0502020204030204" pitchFamily="34" charset="0"/>
              </a:rPr>
              <a:t>Sujeto</a:t>
            </a:r>
          </a:p>
          <a:p>
            <a:pPr algn="ctr"/>
            <a:r>
              <a:rPr lang="es-CO" sz="1600">
                <a:solidFill>
                  <a:srgbClr val="0F122D"/>
                </a:solidFill>
                <a:latin typeface="Calibri" panose="020F0502020204030204" pitchFamily="34" charset="0"/>
              </a:rPr>
              <a:t>notifica</a:t>
            </a:r>
          </a:p>
        </p:txBody>
      </p:sp>
      <p:cxnSp>
        <p:nvCxnSpPr>
          <p:cNvPr id="5" name="Conector recto de flecha 4">
            <a:extLst>
              <a:ext uri="{FF2B5EF4-FFF2-40B4-BE49-F238E27FC236}">
                <a16:creationId xmlns:a16="http://schemas.microsoft.com/office/drawing/2014/main" id="{BC01D2D4-D3BE-42B8-B953-AE1DD8CCFB69}"/>
              </a:ext>
            </a:extLst>
          </p:cNvPr>
          <p:cNvCxnSpPr/>
          <p:nvPr/>
        </p:nvCxnSpPr>
        <p:spPr>
          <a:xfrm flipV="1">
            <a:off x="2438400" y="2127250"/>
            <a:ext cx="1701800" cy="1809750"/>
          </a:xfrm>
          <a:prstGeom prst="straightConnector1">
            <a:avLst/>
          </a:prstGeom>
          <a:ln w="44450">
            <a:solidFill>
              <a:srgbClr val="BEC5E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64853A48-A215-D8B8-E7C0-9228774DD494}"/>
              </a:ext>
            </a:extLst>
          </p:cNvPr>
          <p:cNvSpPr/>
          <p:nvPr/>
        </p:nvSpPr>
        <p:spPr>
          <a:xfrm>
            <a:off x="4191000" y="1778000"/>
            <a:ext cx="1778000" cy="698500"/>
          </a:xfrm>
          <a:prstGeom prst="roundRect">
            <a:avLst>
              <a:gd name="adj" fmla="val 15000"/>
            </a:avLst>
          </a:prstGeom>
          <a:solidFill>
            <a:srgbClr val="20265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b="1">
                <a:solidFill>
                  <a:srgbClr val="FFFFFF"/>
                </a:solidFill>
                <a:latin typeface="Calibri" panose="020F0502020204030204" pitchFamily="34" charset="0"/>
              </a:rPr>
              <a:t>Observador A</a:t>
            </a:r>
          </a:p>
        </p:txBody>
      </p:sp>
      <p:cxnSp>
        <p:nvCxnSpPr>
          <p:cNvPr id="7" name="Conector recto de flecha 6">
            <a:extLst>
              <a:ext uri="{FF2B5EF4-FFF2-40B4-BE49-F238E27FC236}">
                <a16:creationId xmlns:a16="http://schemas.microsoft.com/office/drawing/2014/main" id="{0D9E3C50-0309-2C0E-1C81-9544E702937F}"/>
              </a:ext>
            </a:extLst>
          </p:cNvPr>
          <p:cNvCxnSpPr/>
          <p:nvPr/>
        </p:nvCxnSpPr>
        <p:spPr>
          <a:xfrm>
            <a:off x="2438400" y="3937000"/>
            <a:ext cx="1701800" cy="6350"/>
          </a:xfrm>
          <a:prstGeom prst="straightConnector1">
            <a:avLst/>
          </a:prstGeom>
          <a:ln w="44450">
            <a:solidFill>
              <a:srgbClr val="BEC5E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E84780C4-F831-34CE-F3B0-9C034A3EBA03}"/>
              </a:ext>
            </a:extLst>
          </p:cNvPr>
          <p:cNvSpPr/>
          <p:nvPr/>
        </p:nvSpPr>
        <p:spPr>
          <a:xfrm>
            <a:off x="4191000" y="3594100"/>
            <a:ext cx="1778000" cy="698500"/>
          </a:xfrm>
          <a:prstGeom prst="roundRect">
            <a:avLst>
              <a:gd name="adj" fmla="val 15000"/>
            </a:avLst>
          </a:prstGeom>
          <a:solidFill>
            <a:srgbClr val="20265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b="1">
                <a:solidFill>
                  <a:srgbClr val="FFFFFF"/>
                </a:solidFill>
                <a:latin typeface="Calibri" panose="020F0502020204030204" pitchFamily="34" charset="0"/>
              </a:rPr>
              <a:t>Observador B</a:t>
            </a:r>
          </a:p>
        </p:txBody>
      </p:sp>
      <p:cxnSp>
        <p:nvCxnSpPr>
          <p:cNvPr id="9" name="Conector recto de flecha 8">
            <a:extLst>
              <a:ext uri="{FF2B5EF4-FFF2-40B4-BE49-F238E27FC236}">
                <a16:creationId xmlns:a16="http://schemas.microsoft.com/office/drawing/2014/main" id="{9B3426D6-F236-00D4-D35D-43B760688F9C}"/>
              </a:ext>
            </a:extLst>
          </p:cNvPr>
          <p:cNvCxnSpPr/>
          <p:nvPr/>
        </p:nvCxnSpPr>
        <p:spPr>
          <a:xfrm>
            <a:off x="2438400" y="3937000"/>
            <a:ext cx="1701800" cy="1822450"/>
          </a:xfrm>
          <a:prstGeom prst="straightConnector1">
            <a:avLst/>
          </a:prstGeom>
          <a:ln w="44450">
            <a:solidFill>
              <a:srgbClr val="BEC5E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ángulo: esquinas redondeadas 9">
            <a:extLst>
              <a:ext uri="{FF2B5EF4-FFF2-40B4-BE49-F238E27FC236}">
                <a16:creationId xmlns:a16="http://schemas.microsoft.com/office/drawing/2014/main" id="{396B2B95-BB0D-FB09-B1FA-C3D25DD06C48}"/>
              </a:ext>
            </a:extLst>
          </p:cNvPr>
          <p:cNvSpPr/>
          <p:nvPr/>
        </p:nvSpPr>
        <p:spPr>
          <a:xfrm>
            <a:off x="4191000" y="5410200"/>
            <a:ext cx="1778000" cy="698500"/>
          </a:xfrm>
          <a:prstGeom prst="roundRect">
            <a:avLst>
              <a:gd name="adj" fmla="val 15000"/>
            </a:avLst>
          </a:prstGeom>
          <a:solidFill>
            <a:srgbClr val="20265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b="1">
                <a:solidFill>
                  <a:srgbClr val="FFFFFF"/>
                </a:solidFill>
                <a:latin typeface="Calibri" panose="020F0502020204030204" pitchFamily="34" charset="0"/>
              </a:rPr>
              <a:t>Observador C</a:t>
            </a:r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BD9A5083-F9DB-98FF-C9DA-2A60CDC8B45B}"/>
              </a:ext>
            </a:extLst>
          </p:cNvPr>
          <p:cNvSpPr/>
          <p:nvPr/>
        </p:nvSpPr>
        <p:spPr>
          <a:xfrm>
            <a:off x="6350000" y="1587500"/>
            <a:ext cx="5207000" cy="2095500"/>
          </a:xfrm>
          <a:prstGeom prst="roundRect">
            <a:avLst>
              <a:gd name="adj" fmla="val 8000"/>
            </a:avLst>
          </a:prstGeom>
          <a:solidFill>
            <a:srgbClr val="20265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D62A1560-1CE9-C4F5-81DF-74AAE2610360}"/>
              </a:ext>
            </a:extLst>
          </p:cNvPr>
          <p:cNvSpPr txBox="1"/>
          <p:nvPr/>
        </p:nvSpPr>
        <p:spPr>
          <a:xfrm>
            <a:off x="6629400" y="1765300"/>
            <a:ext cx="46482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800"/>
              </a:spcAft>
            </a:pPr>
            <a:r>
              <a:rPr lang="es-CO" sz="2200" b="1">
                <a:solidFill>
                  <a:srgbClr val="34C78C"/>
                </a:solidFill>
                <a:latin typeface="Calibri" panose="020F0502020204030204" pitchFamily="34" charset="0"/>
              </a:rPr>
              <a:t>Ventajas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A7224748-5BDF-EE20-EAFE-51A5697998CD}"/>
              </a:ext>
            </a:extLst>
          </p:cNvPr>
          <p:cNvSpPr txBox="1"/>
          <p:nvPr/>
        </p:nvSpPr>
        <p:spPr>
          <a:xfrm>
            <a:off x="6629400" y="2247900"/>
            <a:ext cx="4648200" cy="13081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03200" indent="-203200">
              <a:spcAft>
                <a:spcPts val="800"/>
              </a:spcAft>
              <a:buFont typeface="+mj-lt"/>
              <a:buChar char="•"/>
            </a:pPr>
            <a:r>
              <a:rPr lang="es-ES" sz="1600">
                <a:solidFill>
                  <a:srgbClr val="FFFFFF"/>
                </a:solidFill>
                <a:latin typeface="Calibri" panose="020F0502020204030204" pitchFamily="34" charset="0"/>
              </a:rPr>
              <a:t>Emisor y receptores desacoplados: se agregan suscriptores sin tocar al sujeto.</a:t>
            </a:r>
          </a:p>
          <a:p>
            <a:pPr marL="203200" indent="-203200">
              <a:spcAft>
                <a:spcPts val="800"/>
              </a:spcAft>
              <a:buFont typeface="+mj-lt"/>
              <a:buChar char="•"/>
            </a:pPr>
            <a:r>
              <a:rPr lang="es-ES" sz="1600">
                <a:solidFill>
                  <a:srgbClr val="FFFFFF"/>
                </a:solidFill>
                <a:latin typeface="Calibri" panose="020F0502020204030204" pitchFamily="34" charset="0"/>
              </a:rPr>
              <a:t>Actualiza varias vistas a la vez y en tiempo real.</a:t>
            </a:r>
            <a:endParaRPr lang="es-CO" sz="160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14" name="Rectángulo: esquinas redondeadas 13">
            <a:extLst>
              <a:ext uri="{FF2B5EF4-FFF2-40B4-BE49-F238E27FC236}">
                <a16:creationId xmlns:a16="http://schemas.microsoft.com/office/drawing/2014/main" id="{EC7D73DA-3F39-E11B-6AE5-687EB1CE5CF7}"/>
              </a:ext>
            </a:extLst>
          </p:cNvPr>
          <p:cNvSpPr/>
          <p:nvPr/>
        </p:nvSpPr>
        <p:spPr>
          <a:xfrm>
            <a:off x="6350000" y="3937000"/>
            <a:ext cx="5207000" cy="2095500"/>
          </a:xfrm>
          <a:prstGeom prst="roundRect">
            <a:avLst>
              <a:gd name="adj" fmla="val 8000"/>
            </a:avLst>
          </a:prstGeom>
          <a:solidFill>
            <a:srgbClr val="20265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AF139612-C27A-1D3B-A912-644D2160E1FD}"/>
              </a:ext>
            </a:extLst>
          </p:cNvPr>
          <p:cNvSpPr txBox="1"/>
          <p:nvPr/>
        </p:nvSpPr>
        <p:spPr>
          <a:xfrm>
            <a:off x="6629400" y="4114800"/>
            <a:ext cx="46482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800"/>
              </a:spcAft>
            </a:pPr>
            <a:r>
              <a:rPr lang="es-CO" sz="2200" b="1">
                <a:solidFill>
                  <a:srgbClr val="E85A64"/>
                </a:solidFill>
                <a:latin typeface="Calibri" panose="020F0502020204030204" pitchFamily="34" charset="0"/>
              </a:rPr>
              <a:t>Desventajas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F27D2E8A-C202-D3C0-742F-9226CAB1C31E}"/>
              </a:ext>
            </a:extLst>
          </p:cNvPr>
          <p:cNvSpPr txBox="1"/>
          <p:nvPr/>
        </p:nvSpPr>
        <p:spPr>
          <a:xfrm>
            <a:off x="6629400" y="4597400"/>
            <a:ext cx="4648200" cy="13081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03200" indent="-203200">
              <a:spcAft>
                <a:spcPts val="800"/>
              </a:spcAft>
              <a:buFont typeface="+mj-lt"/>
              <a:buChar char="•"/>
            </a:pPr>
            <a:r>
              <a:rPr lang="es-ES" sz="1600">
                <a:solidFill>
                  <a:srgbClr val="FFFFFF"/>
                </a:solidFill>
                <a:latin typeface="Calibri" panose="020F0502020204030204" pitchFamily="34" charset="0"/>
              </a:rPr>
              <a:t>Cascadas de actualizaciones difíciles de depurar.</a:t>
            </a:r>
          </a:p>
          <a:p>
            <a:pPr marL="203200" indent="-203200">
              <a:spcAft>
                <a:spcPts val="800"/>
              </a:spcAft>
              <a:buFont typeface="+mj-lt"/>
              <a:buChar char="•"/>
            </a:pPr>
            <a:r>
              <a:rPr lang="es-ES" sz="1600">
                <a:solidFill>
                  <a:srgbClr val="FFFFFF"/>
                </a:solidFill>
                <a:latin typeface="Calibri" panose="020F0502020204030204" pitchFamily="34" charset="0"/>
              </a:rPr>
              <a:t>Fugas de memoria si no se cancela la suscripción.</a:t>
            </a:r>
            <a:endParaRPr lang="es-CO" sz="160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27163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fade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00"/>
                            </p:stCondLst>
                            <p:childTnLst>
                              <p:par>
                                <p:cTn id="2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000"/>
                            </p:stCondLst>
                            <p:childTnLst>
                              <p:par>
                                <p:cTn id="3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250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8" grpId="0" animBg="1"/>
      <p:bldP spid="10" grpId="0" animBg="1"/>
      <p:bldP spid="11" grpId="0" animBg="1"/>
      <p:bldP spid="12" grpId="0"/>
      <p:bldP spid="13" grpId="0"/>
      <p:bldP spid="14" grpId="0" animBg="1"/>
      <p:bldP spid="15" grpId="0"/>
      <p:bldP spid="16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lipse 2">
            <a:extLst>
              <a:ext uri="{FF2B5EF4-FFF2-40B4-BE49-F238E27FC236}">
                <a16:creationId xmlns:a16="http://schemas.microsoft.com/office/drawing/2014/main" id="{124E5171-9A47-00D2-BC96-A5901261BD97}"/>
              </a:ext>
            </a:extLst>
          </p:cNvPr>
          <p:cNvSpPr/>
          <p:nvPr/>
        </p:nvSpPr>
        <p:spPr>
          <a:xfrm>
            <a:off x="10160000" y="-1016000"/>
            <a:ext cx="3302000" cy="3302000"/>
          </a:xfrm>
          <a:prstGeom prst="ellipse">
            <a:avLst/>
          </a:prstGeom>
          <a:solidFill>
            <a:srgbClr val="6473F5">
              <a:alpha val="20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4E2CCA1-EE14-3AA7-0338-0E7A1EBC39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317500"/>
            <a:ext cx="10160000" cy="889000"/>
          </a:xfrm>
        </p:spPr>
        <p:txBody>
          <a:bodyPr anchor="ctr">
            <a:normAutofit/>
          </a:bodyPr>
          <a:lstStyle/>
          <a:p>
            <a:r>
              <a:rPr lang="es-CO" sz="3600" b="1" dirty="0">
                <a:solidFill>
                  <a:srgbClr val="FFFFFF"/>
                </a:solidFill>
                <a:latin typeface="Calibri" panose="020F0502020204030204" pitchFamily="34" charset="0"/>
              </a:rPr>
              <a:t>4. Mediator: Ventajas y Desventajas</a:t>
            </a:r>
          </a:p>
        </p:txBody>
      </p:sp>
      <p:cxnSp>
        <p:nvCxnSpPr>
          <p:cNvPr id="5" name="Conector recto de flecha 4">
            <a:extLst>
              <a:ext uri="{FF2B5EF4-FFF2-40B4-BE49-F238E27FC236}">
                <a16:creationId xmlns:a16="http://schemas.microsoft.com/office/drawing/2014/main" id="{8D35FC00-2D69-BA40-5AF6-3EB49BF70765}"/>
              </a:ext>
            </a:extLst>
          </p:cNvPr>
          <p:cNvCxnSpPr/>
          <p:nvPr/>
        </p:nvCxnSpPr>
        <p:spPr>
          <a:xfrm>
            <a:off x="1460500" y="2127250"/>
            <a:ext cx="1841500" cy="1809750"/>
          </a:xfrm>
          <a:prstGeom prst="straightConnector1">
            <a:avLst/>
          </a:prstGeom>
          <a:ln w="44450">
            <a:solidFill>
              <a:srgbClr val="BEC5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B6F9A43D-A78E-46F8-4D99-233FB6D7B4C7}"/>
              </a:ext>
            </a:extLst>
          </p:cNvPr>
          <p:cNvSpPr/>
          <p:nvPr/>
        </p:nvSpPr>
        <p:spPr>
          <a:xfrm>
            <a:off x="635000" y="1778000"/>
            <a:ext cx="1651000" cy="698500"/>
          </a:xfrm>
          <a:prstGeom prst="roundRect">
            <a:avLst>
              <a:gd name="adj" fmla="val 15000"/>
            </a:avLst>
          </a:prstGeom>
          <a:solidFill>
            <a:srgbClr val="20265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b="1">
                <a:solidFill>
                  <a:srgbClr val="FFFFFF"/>
                </a:solidFill>
                <a:latin typeface="Calibri" panose="020F0502020204030204" pitchFamily="34" charset="0"/>
              </a:rPr>
              <a:t>Módulo A</a:t>
            </a:r>
          </a:p>
        </p:txBody>
      </p:sp>
      <p:cxnSp>
        <p:nvCxnSpPr>
          <p:cNvPr id="7" name="Conector recto de flecha 6">
            <a:extLst>
              <a:ext uri="{FF2B5EF4-FFF2-40B4-BE49-F238E27FC236}">
                <a16:creationId xmlns:a16="http://schemas.microsoft.com/office/drawing/2014/main" id="{4622BE67-A102-5766-0653-7885AB6FC0B1}"/>
              </a:ext>
            </a:extLst>
          </p:cNvPr>
          <p:cNvCxnSpPr/>
          <p:nvPr/>
        </p:nvCxnSpPr>
        <p:spPr>
          <a:xfrm flipH="1">
            <a:off x="3302000" y="2127250"/>
            <a:ext cx="1841500" cy="1809750"/>
          </a:xfrm>
          <a:prstGeom prst="straightConnector1">
            <a:avLst/>
          </a:prstGeom>
          <a:ln w="44450">
            <a:solidFill>
              <a:srgbClr val="BEC5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DD57798C-B2F3-C974-6B8D-E86890C979F1}"/>
              </a:ext>
            </a:extLst>
          </p:cNvPr>
          <p:cNvSpPr/>
          <p:nvPr/>
        </p:nvSpPr>
        <p:spPr>
          <a:xfrm>
            <a:off x="4318000" y="1778000"/>
            <a:ext cx="1651000" cy="698500"/>
          </a:xfrm>
          <a:prstGeom prst="roundRect">
            <a:avLst>
              <a:gd name="adj" fmla="val 15000"/>
            </a:avLst>
          </a:prstGeom>
          <a:solidFill>
            <a:srgbClr val="20265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b="1">
                <a:solidFill>
                  <a:srgbClr val="FFFFFF"/>
                </a:solidFill>
                <a:latin typeface="Calibri" panose="020F0502020204030204" pitchFamily="34" charset="0"/>
              </a:rPr>
              <a:t>Módulo B</a:t>
            </a:r>
          </a:p>
        </p:txBody>
      </p:sp>
      <p:cxnSp>
        <p:nvCxnSpPr>
          <p:cNvPr id="9" name="Conector recto de flecha 8">
            <a:extLst>
              <a:ext uri="{FF2B5EF4-FFF2-40B4-BE49-F238E27FC236}">
                <a16:creationId xmlns:a16="http://schemas.microsoft.com/office/drawing/2014/main" id="{C5A47055-3FB2-98F5-3A20-AF2F8E43F394}"/>
              </a:ext>
            </a:extLst>
          </p:cNvPr>
          <p:cNvCxnSpPr/>
          <p:nvPr/>
        </p:nvCxnSpPr>
        <p:spPr>
          <a:xfrm flipV="1">
            <a:off x="1460500" y="3937000"/>
            <a:ext cx="1841500" cy="1822450"/>
          </a:xfrm>
          <a:prstGeom prst="straightConnector1">
            <a:avLst/>
          </a:prstGeom>
          <a:ln w="44450">
            <a:solidFill>
              <a:srgbClr val="BEC5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ángulo: esquinas redondeadas 9">
            <a:extLst>
              <a:ext uri="{FF2B5EF4-FFF2-40B4-BE49-F238E27FC236}">
                <a16:creationId xmlns:a16="http://schemas.microsoft.com/office/drawing/2014/main" id="{647A118F-4E72-24A0-5009-6E64F780C260}"/>
              </a:ext>
            </a:extLst>
          </p:cNvPr>
          <p:cNvSpPr/>
          <p:nvPr/>
        </p:nvSpPr>
        <p:spPr>
          <a:xfrm>
            <a:off x="635000" y="5410200"/>
            <a:ext cx="1651000" cy="698500"/>
          </a:xfrm>
          <a:prstGeom prst="roundRect">
            <a:avLst>
              <a:gd name="adj" fmla="val 15000"/>
            </a:avLst>
          </a:prstGeom>
          <a:solidFill>
            <a:srgbClr val="20265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b="1">
                <a:solidFill>
                  <a:srgbClr val="FFFFFF"/>
                </a:solidFill>
                <a:latin typeface="Calibri" panose="020F0502020204030204" pitchFamily="34" charset="0"/>
              </a:rPr>
              <a:t>Módulo C</a:t>
            </a:r>
          </a:p>
        </p:txBody>
      </p:sp>
      <p:cxnSp>
        <p:nvCxnSpPr>
          <p:cNvPr id="11" name="Conector recto de flecha 10">
            <a:extLst>
              <a:ext uri="{FF2B5EF4-FFF2-40B4-BE49-F238E27FC236}">
                <a16:creationId xmlns:a16="http://schemas.microsoft.com/office/drawing/2014/main" id="{E1A67FA3-0C71-0048-B14C-188C6D930DF0}"/>
              </a:ext>
            </a:extLst>
          </p:cNvPr>
          <p:cNvCxnSpPr/>
          <p:nvPr/>
        </p:nvCxnSpPr>
        <p:spPr>
          <a:xfrm flipH="1" flipV="1">
            <a:off x="3302000" y="3937000"/>
            <a:ext cx="1841500" cy="1822450"/>
          </a:xfrm>
          <a:prstGeom prst="straightConnector1">
            <a:avLst/>
          </a:prstGeom>
          <a:ln w="44450">
            <a:solidFill>
              <a:srgbClr val="BEC5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ángulo: esquinas redondeadas 11">
            <a:extLst>
              <a:ext uri="{FF2B5EF4-FFF2-40B4-BE49-F238E27FC236}">
                <a16:creationId xmlns:a16="http://schemas.microsoft.com/office/drawing/2014/main" id="{A3E2112E-BBE0-FDAD-4BE6-8A6824E0DA6D}"/>
              </a:ext>
            </a:extLst>
          </p:cNvPr>
          <p:cNvSpPr/>
          <p:nvPr/>
        </p:nvSpPr>
        <p:spPr>
          <a:xfrm>
            <a:off x="4318000" y="5410200"/>
            <a:ext cx="1651000" cy="698500"/>
          </a:xfrm>
          <a:prstGeom prst="roundRect">
            <a:avLst>
              <a:gd name="adj" fmla="val 15000"/>
            </a:avLst>
          </a:prstGeom>
          <a:solidFill>
            <a:srgbClr val="20265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b="1">
                <a:solidFill>
                  <a:srgbClr val="FFFFFF"/>
                </a:solidFill>
                <a:latin typeface="Calibri" panose="020F0502020204030204" pitchFamily="34" charset="0"/>
              </a:rPr>
              <a:t>Módulo D</a:t>
            </a:r>
          </a:p>
        </p:txBody>
      </p:sp>
      <p:sp>
        <p:nvSpPr>
          <p:cNvPr id="4" name="Elipse 3">
            <a:extLst>
              <a:ext uri="{FF2B5EF4-FFF2-40B4-BE49-F238E27FC236}">
                <a16:creationId xmlns:a16="http://schemas.microsoft.com/office/drawing/2014/main" id="{DA5A1FE7-9DC0-7A73-0EBC-ED9FC6FD4189}"/>
              </a:ext>
            </a:extLst>
          </p:cNvPr>
          <p:cNvSpPr/>
          <p:nvPr/>
        </p:nvSpPr>
        <p:spPr>
          <a:xfrm>
            <a:off x="2476500" y="3111500"/>
            <a:ext cx="1651000" cy="1651000"/>
          </a:xfrm>
          <a:prstGeom prst="ellipse">
            <a:avLst/>
          </a:prstGeom>
          <a:solidFill>
            <a:srgbClr val="F4B94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b="1" dirty="0">
                <a:solidFill>
                  <a:srgbClr val="0F122D"/>
                </a:solidFill>
                <a:latin typeface="Calibri" panose="020F0502020204030204" pitchFamily="34" charset="0"/>
              </a:rPr>
              <a:t>Mediador</a:t>
            </a:r>
          </a:p>
          <a:p>
            <a:pPr algn="ctr"/>
            <a:r>
              <a:rPr lang="es-CO" sz="1600" dirty="0">
                <a:solidFill>
                  <a:srgbClr val="0F122D"/>
                </a:solidFill>
                <a:latin typeface="Calibri" panose="020F0502020204030204" pitchFamily="34" charset="0"/>
              </a:rPr>
              <a:t>coordina</a:t>
            </a:r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3BE20CED-622E-DDA1-8F8F-89319FFA3CEA}"/>
              </a:ext>
            </a:extLst>
          </p:cNvPr>
          <p:cNvSpPr/>
          <p:nvPr/>
        </p:nvSpPr>
        <p:spPr>
          <a:xfrm>
            <a:off x="6350000" y="1587500"/>
            <a:ext cx="5207000" cy="2095500"/>
          </a:xfrm>
          <a:prstGeom prst="roundRect">
            <a:avLst>
              <a:gd name="adj" fmla="val 8000"/>
            </a:avLst>
          </a:prstGeom>
          <a:solidFill>
            <a:srgbClr val="20265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85770670-3A97-5DF3-1CFE-D198891BD127}"/>
              </a:ext>
            </a:extLst>
          </p:cNvPr>
          <p:cNvSpPr txBox="1"/>
          <p:nvPr/>
        </p:nvSpPr>
        <p:spPr>
          <a:xfrm>
            <a:off x="6629400" y="1765300"/>
            <a:ext cx="46482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800"/>
              </a:spcAft>
            </a:pPr>
            <a:r>
              <a:rPr lang="es-CO" sz="2200" b="1">
                <a:solidFill>
                  <a:srgbClr val="34C78C"/>
                </a:solidFill>
                <a:latin typeface="Calibri" panose="020F0502020204030204" pitchFamily="34" charset="0"/>
              </a:rPr>
              <a:t>Ventajas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3FF76C9D-FA8A-9CF3-6342-CBF05CA36FDC}"/>
              </a:ext>
            </a:extLst>
          </p:cNvPr>
          <p:cNvSpPr txBox="1"/>
          <p:nvPr/>
        </p:nvSpPr>
        <p:spPr>
          <a:xfrm>
            <a:off x="6629400" y="2247900"/>
            <a:ext cx="4648200" cy="13081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03200" indent="-203200">
              <a:spcAft>
                <a:spcPts val="800"/>
              </a:spcAft>
              <a:buFont typeface="+mj-lt"/>
              <a:buChar char="•"/>
            </a:pPr>
            <a:r>
              <a:rPr lang="es-ES" sz="1600">
                <a:solidFill>
                  <a:srgbClr val="FFFFFF"/>
                </a:solidFill>
                <a:latin typeface="Calibri" panose="020F0502020204030204" pitchFamily="34" charset="0"/>
              </a:rPr>
              <a:t>Los módulos solo conocen al mediador, no entre sí: menos dependencias.</a:t>
            </a:r>
          </a:p>
          <a:p>
            <a:pPr marL="203200" indent="-203200">
              <a:spcAft>
                <a:spcPts val="800"/>
              </a:spcAft>
              <a:buFont typeface="+mj-lt"/>
              <a:buChar char="•"/>
            </a:pPr>
            <a:r>
              <a:rPr lang="es-ES" sz="1600">
                <a:solidFill>
                  <a:srgbClr val="FFFFFF"/>
                </a:solidFill>
                <a:latin typeface="Calibri" panose="020F0502020204030204" pitchFamily="34" charset="0"/>
              </a:rPr>
              <a:t>El código queda más ordenado y fácil de mantener.</a:t>
            </a:r>
            <a:endParaRPr lang="es-CO" sz="160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16" name="Rectángulo: esquinas redondeadas 15">
            <a:extLst>
              <a:ext uri="{FF2B5EF4-FFF2-40B4-BE49-F238E27FC236}">
                <a16:creationId xmlns:a16="http://schemas.microsoft.com/office/drawing/2014/main" id="{7A9D1DF3-6723-F41D-2470-F72DC7420D9A}"/>
              </a:ext>
            </a:extLst>
          </p:cNvPr>
          <p:cNvSpPr/>
          <p:nvPr/>
        </p:nvSpPr>
        <p:spPr>
          <a:xfrm>
            <a:off x="6350000" y="3937000"/>
            <a:ext cx="5207000" cy="2095500"/>
          </a:xfrm>
          <a:prstGeom prst="roundRect">
            <a:avLst>
              <a:gd name="adj" fmla="val 8000"/>
            </a:avLst>
          </a:prstGeom>
          <a:solidFill>
            <a:srgbClr val="20265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0912B45F-6587-AE11-FDB3-2D0E275D192E}"/>
              </a:ext>
            </a:extLst>
          </p:cNvPr>
          <p:cNvSpPr txBox="1"/>
          <p:nvPr/>
        </p:nvSpPr>
        <p:spPr>
          <a:xfrm>
            <a:off x="6629400" y="4114800"/>
            <a:ext cx="46482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800"/>
              </a:spcAft>
            </a:pPr>
            <a:r>
              <a:rPr lang="es-CO" sz="2200" b="1">
                <a:solidFill>
                  <a:srgbClr val="E85A64"/>
                </a:solidFill>
                <a:latin typeface="Calibri" panose="020F0502020204030204" pitchFamily="34" charset="0"/>
              </a:rPr>
              <a:t>Desventajas</a:t>
            </a: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B9CD9A07-A7A9-9740-C01A-D27118F435DC}"/>
              </a:ext>
            </a:extLst>
          </p:cNvPr>
          <p:cNvSpPr txBox="1"/>
          <p:nvPr/>
        </p:nvSpPr>
        <p:spPr>
          <a:xfrm>
            <a:off x="6629400" y="4597400"/>
            <a:ext cx="4648200" cy="13081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03200" indent="-203200">
              <a:spcAft>
                <a:spcPts val="800"/>
              </a:spcAft>
              <a:buFont typeface="+mj-lt"/>
              <a:buChar char="•"/>
            </a:pPr>
            <a:r>
              <a:rPr lang="es-ES" sz="1600">
                <a:solidFill>
                  <a:srgbClr val="FFFFFF"/>
                </a:solidFill>
                <a:latin typeface="Calibri" panose="020F0502020204030204" pitchFamily="34" charset="0"/>
              </a:rPr>
              <a:t>El mediador puede crecer hasta volverse un 'objeto Dios'.</a:t>
            </a:r>
          </a:p>
          <a:p>
            <a:pPr marL="203200" indent="-203200">
              <a:spcAft>
                <a:spcPts val="800"/>
              </a:spcAft>
              <a:buFont typeface="+mj-lt"/>
              <a:buChar char="•"/>
            </a:pPr>
            <a:r>
              <a:rPr lang="es-ES" sz="1600">
                <a:solidFill>
                  <a:srgbClr val="FFFFFF"/>
                </a:solidFill>
                <a:latin typeface="Calibri" panose="020F0502020204030204" pitchFamily="34" charset="0"/>
              </a:rPr>
              <a:t>Si falla, se cae toda la comunicación entre componentes.</a:t>
            </a:r>
            <a:endParaRPr lang="es-CO" sz="160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954681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fade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00"/>
                            </p:stCondLst>
                            <p:childTnLst>
                              <p:par>
                                <p:cTn id="2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00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25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3000"/>
                            </p:stCondLst>
                            <p:childTnLst>
                              <p:par>
                                <p:cTn id="4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10" grpId="0" animBg="1"/>
      <p:bldP spid="12" grpId="0" animBg="1"/>
      <p:bldP spid="4" grpId="0" animBg="1"/>
      <p:bldP spid="13" grpId="0" animBg="1"/>
      <p:bldP spid="14" grpId="0"/>
      <p:bldP spid="15" grpId="0"/>
      <p:bldP spid="16" grpId="0" animBg="1"/>
      <p:bldP spid="17" grpId="0"/>
      <p:bldP spid="18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lipse 2">
            <a:extLst>
              <a:ext uri="{FF2B5EF4-FFF2-40B4-BE49-F238E27FC236}">
                <a16:creationId xmlns:a16="http://schemas.microsoft.com/office/drawing/2014/main" id="{DC6E74A2-15A2-7A09-D535-1AEE4D0C23F0}"/>
              </a:ext>
            </a:extLst>
          </p:cNvPr>
          <p:cNvSpPr/>
          <p:nvPr/>
        </p:nvSpPr>
        <p:spPr>
          <a:xfrm>
            <a:off x="10160000" y="-1016000"/>
            <a:ext cx="3302000" cy="3302000"/>
          </a:xfrm>
          <a:prstGeom prst="ellipse">
            <a:avLst/>
          </a:prstGeom>
          <a:solidFill>
            <a:srgbClr val="6473F5">
              <a:alpha val="20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C8B15EA-5FC4-E87E-3FC9-72F1208C3E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317500"/>
            <a:ext cx="10160000" cy="889000"/>
          </a:xfrm>
        </p:spPr>
        <p:txBody>
          <a:bodyPr anchor="ctr">
            <a:normAutofit/>
          </a:bodyPr>
          <a:lstStyle/>
          <a:p>
            <a:r>
              <a:rPr lang="es-CO" sz="3600" b="1" dirty="0">
                <a:solidFill>
                  <a:srgbClr val="FFFFFF"/>
                </a:solidFill>
                <a:latin typeface="Calibri" panose="020F0502020204030204" pitchFamily="34" charset="0"/>
              </a:rPr>
              <a:t>4. Ideas para llevarse</a:t>
            </a:r>
          </a:p>
        </p:txBody>
      </p:sp>
      <p:sp>
        <p:nvSpPr>
          <p:cNvPr id="4" name="Rectángulo: esquinas redondeadas 3">
            <a:extLst>
              <a:ext uri="{FF2B5EF4-FFF2-40B4-BE49-F238E27FC236}">
                <a16:creationId xmlns:a16="http://schemas.microsoft.com/office/drawing/2014/main" id="{7379093D-A92A-233B-EC9F-563C0D8AFE41}"/>
              </a:ext>
            </a:extLst>
          </p:cNvPr>
          <p:cNvSpPr/>
          <p:nvPr/>
        </p:nvSpPr>
        <p:spPr>
          <a:xfrm>
            <a:off x="635000" y="1587500"/>
            <a:ext cx="10922000" cy="1397000"/>
          </a:xfrm>
          <a:prstGeom prst="roundRect">
            <a:avLst>
              <a:gd name="adj" fmla="val 8000"/>
            </a:avLst>
          </a:prstGeom>
          <a:solidFill>
            <a:srgbClr val="20265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5" name="Elipse 4">
            <a:extLst>
              <a:ext uri="{FF2B5EF4-FFF2-40B4-BE49-F238E27FC236}">
                <a16:creationId xmlns:a16="http://schemas.microsoft.com/office/drawing/2014/main" id="{5B7E2722-1169-4AC8-3AA5-D00F918595F4}"/>
              </a:ext>
            </a:extLst>
          </p:cNvPr>
          <p:cNvSpPr/>
          <p:nvPr/>
        </p:nvSpPr>
        <p:spPr>
          <a:xfrm>
            <a:off x="939800" y="1879600"/>
            <a:ext cx="812800" cy="812800"/>
          </a:xfrm>
          <a:prstGeom prst="ellipse">
            <a:avLst/>
          </a:prstGeom>
          <a:solidFill>
            <a:srgbClr val="6473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s-CO" sz="3200" b="1">
                <a:solidFill>
                  <a:srgbClr val="0F122D"/>
                </a:solidFill>
                <a:latin typeface="Calibri" panose="020F0502020204030204" pitchFamily="34" charset="0"/>
              </a:rPr>
              <a:t>1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9E1E8651-9D4A-FA26-4675-C8536845F09D}"/>
              </a:ext>
            </a:extLst>
          </p:cNvPr>
          <p:cNvSpPr txBox="1"/>
          <p:nvPr/>
        </p:nvSpPr>
        <p:spPr>
          <a:xfrm>
            <a:off x="2159000" y="1765300"/>
            <a:ext cx="9017000" cy="431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800"/>
              </a:spcAft>
            </a:pPr>
            <a:r>
              <a:rPr lang="es-CO" sz="2400" b="1">
                <a:solidFill>
                  <a:srgbClr val="6473F5"/>
                </a:solidFill>
                <a:latin typeface="Calibri" panose="020F0502020204030204" pitchFamily="34" charset="0"/>
              </a:rPr>
              <a:t>SOA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28DF59AA-2BC4-061E-8741-DD1C2E9CC32D}"/>
              </a:ext>
            </a:extLst>
          </p:cNvPr>
          <p:cNvSpPr txBox="1"/>
          <p:nvPr/>
        </p:nvSpPr>
        <p:spPr>
          <a:xfrm>
            <a:off x="2159000" y="2247900"/>
            <a:ext cx="9017000" cy="660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800"/>
              </a:spcAft>
            </a:pPr>
            <a:r>
              <a:rPr lang="es-ES" sz="1700">
                <a:solidFill>
                  <a:srgbClr val="FFFFFF"/>
                </a:solidFill>
                <a:latin typeface="Calibri" panose="020F0502020204030204" pitchFamily="34" charset="0"/>
              </a:rPr>
              <a:t>Gana escalabilidad y reutilización, a cambio de más complejidad. Ideal para sistemas grandes y distribuidos.</a:t>
            </a:r>
            <a:endParaRPr lang="es-CO" sz="170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0315C65E-C7DB-07FB-DC85-7206FC5174FF}"/>
              </a:ext>
            </a:extLst>
          </p:cNvPr>
          <p:cNvSpPr/>
          <p:nvPr/>
        </p:nvSpPr>
        <p:spPr>
          <a:xfrm>
            <a:off x="635000" y="3175000"/>
            <a:ext cx="10922000" cy="1397000"/>
          </a:xfrm>
          <a:prstGeom prst="roundRect">
            <a:avLst>
              <a:gd name="adj" fmla="val 8000"/>
            </a:avLst>
          </a:prstGeom>
          <a:solidFill>
            <a:srgbClr val="20265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id="{1B178F55-7EE2-998B-6AA5-B7153C64079C}"/>
              </a:ext>
            </a:extLst>
          </p:cNvPr>
          <p:cNvSpPr/>
          <p:nvPr/>
        </p:nvSpPr>
        <p:spPr>
          <a:xfrm>
            <a:off x="939800" y="3467100"/>
            <a:ext cx="812800" cy="812800"/>
          </a:xfrm>
          <a:prstGeom prst="ellipse">
            <a:avLst/>
          </a:prstGeom>
          <a:solidFill>
            <a:srgbClr val="2EC4B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s-CO" sz="3200" b="1">
                <a:solidFill>
                  <a:srgbClr val="0F122D"/>
                </a:solidFill>
                <a:latin typeface="Calibri" panose="020F0502020204030204" pitchFamily="34" charset="0"/>
              </a:rPr>
              <a:t>2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C165BA00-118E-2DE5-6408-59E49BC1C938}"/>
              </a:ext>
            </a:extLst>
          </p:cNvPr>
          <p:cNvSpPr txBox="1"/>
          <p:nvPr/>
        </p:nvSpPr>
        <p:spPr>
          <a:xfrm>
            <a:off x="2159000" y="3352800"/>
            <a:ext cx="9017000" cy="431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800"/>
              </a:spcAft>
            </a:pPr>
            <a:r>
              <a:rPr lang="es-CO" sz="2400" b="1">
                <a:solidFill>
                  <a:srgbClr val="2EC4B6"/>
                </a:solidFill>
                <a:latin typeface="Calibri" panose="020F0502020204030204" pitchFamily="34" charset="0"/>
              </a:rPr>
              <a:t>Observer y Mediator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7049EC52-B406-7EDF-50CE-F9CC184176F0}"/>
              </a:ext>
            </a:extLst>
          </p:cNvPr>
          <p:cNvSpPr txBox="1"/>
          <p:nvPr/>
        </p:nvSpPr>
        <p:spPr>
          <a:xfrm>
            <a:off x="2159000" y="3835400"/>
            <a:ext cx="9017000" cy="660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800"/>
              </a:spcAft>
            </a:pPr>
            <a:r>
              <a:rPr lang="es-ES" sz="1700">
                <a:solidFill>
                  <a:srgbClr val="FFFFFF"/>
                </a:solidFill>
                <a:latin typeface="Calibri" panose="020F0502020204030204" pitchFamily="34" charset="0"/>
              </a:rPr>
              <a:t>Resuelven problemas distintos: Observer reparte los cambios a muchos; Mediator centraliza la comunicación entre muchos.</a:t>
            </a:r>
            <a:endParaRPr lang="es-CO" sz="170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12" name="Rectángulo: esquinas redondeadas 11">
            <a:extLst>
              <a:ext uri="{FF2B5EF4-FFF2-40B4-BE49-F238E27FC236}">
                <a16:creationId xmlns:a16="http://schemas.microsoft.com/office/drawing/2014/main" id="{E5C0A7CF-0BDF-3E04-9ACF-2279A5738D00}"/>
              </a:ext>
            </a:extLst>
          </p:cNvPr>
          <p:cNvSpPr/>
          <p:nvPr/>
        </p:nvSpPr>
        <p:spPr>
          <a:xfrm>
            <a:off x="635000" y="4762500"/>
            <a:ext cx="10922000" cy="1397000"/>
          </a:xfrm>
          <a:prstGeom prst="roundRect">
            <a:avLst>
              <a:gd name="adj" fmla="val 8000"/>
            </a:avLst>
          </a:prstGeom>
          <a:solidFill>
            <a:srgbClr val="20265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13" name="Elipse 12">
            <a:extLst>
              <a:ext uri="{FF2B5EF4-FFF2-40B4-BE49-F238E27FC236}">
                <a16:creationId xmlns:a16="http://schemas.microsoft.com/office/drawing/2014/main" id="{09260B3C-6A65-7775-5C1E-ADD3394EE6C7}"/>
              </a:ext>
            </a:extLst>
          </p:cNvPr>
          <p:cNvSpPr/>
          <p:nvPr/>
        </p:nvSpPr>
        <p:spPr>
          <a:xfrm>
            <a:off x="939800" y="5054600"/>
            <a:ext cx="812800" cy="812800"/>
          </a:xfrm>
          <a:prstGeom prst="ellipse">
            <a:avLst/>
          </a:prstGeom>
          <a:solidFill>
            <a:srgbClr val="F4B94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s-CO" sz="3200" b="1">
                <a:solidFill>
                  <a:srgbClr val="0F122D"/>
                </a:solidFill>
                <a:latin typeface="Calibri" panose="020F0502020204030204" pitchFamily="34" charset="0"/>
              </a:rPr>
              <a:t>3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BA2EFF35-D13A-3D84-51FA-8EE7B28102D9}"/>
              </a:ext>
            </a:extLst>
          </p:cNvPr>
          <p:cNvSpPr txBox="1"/>
          <p:nvPr/>
        </p:nvSpPr>
        <p:spPr>
          <a:xfrm>
            <a:off x="2159000" y="4940300"/>
            <a:ext cx="9017000" cy="431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800"/>
              </a:spcAft>
            </a:pPr>
            <a:r>
              <a:rPr lang="es-ES" sz="2400" b="1">
                <a:solidFill>
                  <a:srgbClr val="F4B942"/>
                </a:solidFill>
                <a:latin typeface="Calibri" panose="020F0502020204030204" pitchFamily="34" charset="0"/>
              </a:rPr>
              <a:t>React, MySQL y la nube</a:t>
            </a:r>
            <a:endParaRPr lang="es-CO" sz="2400" b="1">
              <a:solidFill>
                <a:srgbClr val="F4B942"/>
              </a:solidFill>
              <a:latin typeface="Calibri" panose="020F0502020204030204" pitchFamily="34" charset="0"/>
            </a:endParaRP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134464E2-2191-FC33-E98A-EFFB2C42E8F8}"/>
              </a:ext>
            </a:extLst>
          </p:cNvPr>
          <p:cNvSpPr txBox="1"/>
          <p:nvPr/>
        </p:nvSpPr>
        <p:spPr>
          <a:xfrm>
            <a:off x="2159000" y="5422900"/>
            <a:ext cx="9017000" cy="660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800"/>
              </a:spcAft>
            </a:pPr>
            <a:r>
              <a:rPr lang="es-ES" sz="1700">
                <a:solidFill>
                  <a:srgbClr val="FFFFFF"/>
                </a:solidFill>
                <a:latin typeface="Calibri" panose="020F0502020204030204" pitchFamily="34" charset="0"/>
              </a:rPr>
              <a:t>Se combinan bien: interfaz reactiva, servicios por contrato y datos persistentes, todo desplegado y escalable en la nube.</a:t>
            </a:r>
            <a:endParaRPr lang="es-CO" sz="170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90577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fade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/>
      <p:bldP spid="7" grpId="0"/>
      <p:bldP spid="8" grpId="0" animBg="1"/>
      <p:bldP spid="9" grpId="0" animBg="1"/>
      <p:bldP spid="10" grpId="0"/>
      <p:bldP spid="11" grpId="0"/>
      <p:bldP spid="12" grpId="0" animBg="1"/>
      <p:bldP spid="13" grpId="0" animBg="1"/>
      <p:bldP spid="14" grpId="0"/>
      <p:bldP spid="15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lipse 2">
            <a:extLst>
              <a:ext uri="{FF2B5EF4-FFF2-40B4-BE49-F238E27FC236}">
                <a16:creationId xmlns:a16="http://schemas.microsoft.com/office/drawing/2014/main" id="{6C99EE61-333B-7783-D814-D31484674B47}"/>
              </a:ext>
            </a:extLst>
          </p:cNvPr>
          <p:cNvSpPr/>
          <p:nvPr/>
        </p:nvSpPr>
        <p:spPr>
          <a:xfrm>
            <a:off x="10160000" y="-1016000"/>
            <a:ext cx="3302000" cy="3302000"/>
          </a:xfrm>
          <a:prstGeom prst="ellipse">
            <a:avLst/>
          </a:prstGeom>
          <a:solidFill>
            <a:srgbClr val="6473F5">
              <a:alpha val="20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61CF72A-16DB-3521-6B3A-546C13096D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317500"/>
            <a:ext cx="10160000" cy="889000"/>
          </a:xfrm>
        </p:spPr>
        <p:txBody>
          <a:bodyPr anchor="ctr">
            <a:normAutofit/>
          </a:bodyPr>
          <a:lstStyle/>
          <a:p>
            <a:r>
              <a:rPr lang="es-CO" sz="3600" b="1" dirty="0">
                <a:solidFill>
                  <a:srgbClr val="FFFFFF"/>
                </a:solidFill>
                <a:latin typeface="Calibri" panose="020F0502020204030204" pitchFamily="34" charset="0"/>
              </a:rPr>
              <a:t>4. Comparativa rápida</a:t>
            </a:r>
          </a:p>
        </p:txBody>
      </p:sp>
      <p:graphicFrame>
        <p:nvGraphicFramePr>
          <p:cNvPr id="4" name="Tabla 3">
            <a:extLst>
              <a:ext uri="{FF2B5EF4-FFF2-40B4-BE49-F238E27FC236}">
                <a16:creationId xmlns:a16="http://schemas.microsoft.com/office/drawing/2014/main" id="{207870B7-4AD4-9A72-12C7-138960EE11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0011983"/>
              </p:ext>
            </p:extLst>
          </p:nvPr>
        </p:nvGraphicFramePr>
        <p:xfrm>
          <a:off x="635000" y="1587500"/>
          <a:ext cx="10922000" cy="4191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5000">
                  <a:extLst>
                    <a:ext uri="{9D8B030D-6E8A-4147-A177-3AD203B41FA5}">
                      <a16:colId xmlns:a16="http://schemas.microsoft.com/office/drawing/2014/main" val="544620253"/>
                    </a:ext>
                  </a:extLst>
                </a:gridCol>
                <a:gridCol w="3302000">
                  <a:extLst>
                    <a:ext uri="{9D8B030D-6E8A-4147-A177-3AD203B41FA5}">
                      <a16:colId xmlns:a16="http://schemas.microsoft.com/office/drawing/2014/main" val="1056622285"/>
                    </a:ext>
                  </a:extLst>
                </a:gridCol>
                <a:gridCol w="2794000">
                  <a:extLst>
                    <a:ext uri="{9D8B030D-6E8A-4147-A177-3AD203B41FA5}">
                      <a16:colId xmlns:a16="http://schemas.microsoft.com/office/drawing/2014/main" val="2805990068"/>
                    </a:ext>
                  </a:extLst>
                </a:gridCol>
                <a:gridCol w="2921000">
                  <a:extLst>
                    <a:ext uri="{9D8B030D-6E8A-4147-A177-3AD203B41FA5}">
                      <a16:colId xmlns:a16="http://schemas.microsoft.com/office/drawing/2014/main" val="2724004222"/>
                    </a:ext>
                  </a:extLst>
                </a:gridCol>
              </a:tblGrid>
              <a:tr h="838200">
                <a:tc>
                  <a:txBody>
                    <a:bodyPr/>
                    <a:lstStyle/>
                    <a:p>
                      <a:r>
                        <a:rPr lang="es-CO" sz="16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Criterio</a:t>
                      </a:r>
                    </a:p>
                  </a:txBody>
                  <a:tcPr anchor="ctr">
                    <a:solidFill>
                      <a:srgbClr val="6473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6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SOA</a:t>
                      </a:r>
                    </a:p>
                  </a:txBody>
                  <a:tcPr anchor="ctr">
                    <a:solidFill>
                      <a:srgbClr val="6473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6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Observer</a:t>
                      </a:r>
                    </a:p>
                  </a:txBody>
                  <a:tcPr anchor="ctr">
                    <a:solidFill>
                      <a:srgbClr val="6473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6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Mediator</a:t>
                      </a:r>
                    </a:p>
                  </a:txBody>
                  <a:tcPr anchor="ctr">
                    <a:solidFill>
                      <a:srgbClr val="6473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85898"/>
                  </a:ext>
                </a:extLst>
              </a:tr>
              <a:tr h="838200">
                <a:tc>
                  <a:txBody>
                    <a:bodyPr/>
                    <a:lstStyle/>
                    <a:p>
                      <a:r>
                        <a:rPr lang="es-CO" sz="16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Tipo</a:t>
                      </a:r>
                    </a:p>
                  </a:txBody>
                  <a:tcPr anchor="ctr">
                    <a:solidFill>
                      <a:srgbClr val="3038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600" b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Arquitectura</a:t>
                      </a:r>
                    </a:p>
                  </a:txBody>
                  <a:tcPr anchor="ctr">
                    <a:solidFill>
                      <a:srgbClr val="20265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600" b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Patrón de diseño</a:t>
                      </a:r>
                    </a:p>
                  </a:txBody>
                  <a:tcPr anchor="ctr">
                    <a:solidFill>
                      <a:srgbClr val="20265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600" b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Patrón de diseño</a:t>
                      </a:r>
                    </a:p>
                  </a:txBody>
                  <a:tcPr anchor="ctr">
                    <a:solidFill>
                      <a:srgbClr val="20265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16793442"/>
                  </a:ext>
                </a:extLst>
              </a:tr>
              <a:tr h="838200">
                <a:tc>
                  <a:txBody>
                    <a:bodyPr/>
                    <a:lstStyle/>
                    <a:p>
                      <a:r>
                        <a:rPr lang="es-CO" sz="16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Comunicación</a:t>
                      </a:r>
                    </a:p>
                  </a:txBody>
                  <a:tcPr anchor="ctr">
                    <a:solidFill>
                      <a:srgbClr val="3038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Servicios por red (HTTP, mensajes)</a:t>
                      </a:r>
                      <a:endParaRPr lang="es-CO" sz="1600" b="0">
                        <a:solidFill>
                          <a:srgbClr val="FFFFFF"/>
                        </a:solidFill>
                        <a:latin typeface="Calibri" panose="020F0502020204030204" pitchFamily="34" charset="0"/>
                      </a:endParaRPr>
                    </a:p>
                  </a:txBody>
                  <a:tcPr anchor="ctr">
                    <a:solidFill>
                      <a:srgbClr val="1A1F4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600" b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Uno a muchos</a:t>
                      </a:r>
                    </a:p>
                  </a:txBody>
                  <a:tcPr anchor="ctr">
                    <a:solidFill>
                      <a:srgbClr val="1A1F4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Muchos a muchos, a través de un centro</a:t>
                      </a:r>
                      <a:endParaRPr lang="es-CO" sz="1600" b="0">
                        <a:solidFill>
                          <a:srgbClr val="FFFFFF"/>
                        </a:solidFill>
                        <a:latin typeface="Calibri" panose="020F0502020204030204" pitchFamily="34" charset="0"/>
                      </a:endParaRPr>
                    </a:p>
                  </a:txBody>
                  <a:tcPr anchor="ctr">
                    <a:solidFill>
                      <a:srgbClr val="1A1F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94721793"/>
                  </a:ext>
                </a:extLst>
              </a:tr>
              <a:tr h="838200">
                <a:tc>
                  <a:txBody>
                    <a:bodyPr/>
                    <a:lstStyle/>
                    <a:p>
                      <a:r>
                        <a:rPr lang="es-CO" sz="16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Acoplamiento</a:t>
                      </a:r>
                    </a:p>
                  </a:txBody>
                  <a:tcPr anchor="ctr">
                    <a:solidFill>
                      <a:srgbClr val="3038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600" b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Bajo, por contratos</a:t>
                      </a:r>
                    </a:p>
                  </a:txBody>
                  <a:tcPr anchor="ctr">
                    <a:solidFill>
                      <a:srgbClr val="20265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600" b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Bajo, por suscripción</a:t>
                      </a:r>
                    </a:p>
                  </a:txBody>
                  <a:tcPr anchor="ctr">
                    <a:solidFill>
                      <a:srgbClr val="20265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600" b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Bajo entre componentes</a:t>
                      </a:r>
                    </a:p>
                  </a:txBody>
                  <a:tcPr anchor="ctr">
                    <a:solidFill>
                      <a:srgbClr val="20265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7621331"/>
                  </a:ext>
                </a:extLst>
              </a:tr>
              <a:tr h="838200">
                <a:tc>
                  <a:txBody>
                    <a:bodyPr/>
                    <a:lstStyle/>
                    <a:p>
                      <a:r>
                        <a:rPr lang="es-CO" sz="16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Riesgo principal</a:t>
                      </a:r>
                    </a:p>
                  </a:txBody>
                  <a:tcPr anchor="ctr">
                    <a:solidFill>
                      <a:srgbClr val="3038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600" b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Complejidad y latencia</a:t>
                      </a:r>
                    </a:p>
                  </a:txBody>
                  <a:tcPr anchor="ctr">
                    <a:solidFill>
                      <a:srgbClr val="1A1F4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Cascadas y fugas de memoria</a:t>
                      </a:r>
                      <a:endParaRPr lang="es-CO" sz="1600" b="0">
                        <a:solidFill>
                          <a:srgbClr val="FFFFFF"/>
                        </a:solidFill>
                        <a:latin typeface="Calibri" panose="020F0502020204030204" pitchFamily="34" charset="0"/>
                      </a:endParaRPr>
                    </a:p>
                  </a:txBody>
                  <a:tcPr anchor="ctr">
                    <a:solidFill>
                      <a:srgbClr val="1A1F4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600" b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Mediador sobrecargado</a:t>
                      </a:r>
                    </a:p>
                  </a:txBody>
                  <a:tcPr anchor="ctr">
                    <a:solidFill>
                      <a:srgbClr val="1A1F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710050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175336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fade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lipse 2">
            <a:extLst>
              <a:ext uri="{FF2B5EF4-FFF2-40B4-BE49-F238E27FC236}">
                <a16:creationId xmlns:a16="http://schemas.microsoft.com/office/drawing/2014/main" id="{5FA4C54D-F8F7-667D-27BC-8658065CB91A}"/>
              </a:ext>
            </a:extLst>
          </p:cNvPr>
          <p:cNvSpPr/>
          <p:nvPr/>
        </p:nvSpPr>
        <p:spPr>
          <a:xfrm>
            <a:off x="10160000" y="-1016000"/>
            <a:ext cx="3302000" cy="3302000"/>
          </a:xfrm>
          <a:prstGeom prst="ellipse">
            <a:avLst/>
          </a:prstGeom>
          <a:solidFill>
            <a:srgbClr val="6473F5">
              <a:alpha val="20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7116F78-536A-8DEB-2C90-7E0E23F1D1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317500"/>
            <a:ext cx="10160000" cy="889000"/>
          </a:xfrm>
        </p:spPr>
        <p:txBody>
          <a:bodyPr anchor="ctr">
            <a:normAutofit/>
          </a:bodyPr>
          <a:lstStyle/>
          <a:p>
            <a:pPr algn="l"/>
            <a:r>
              <a:rPr lang="es-MX" sz="3600" b="1" dirty="0">
                <a:solidFill>
                  <a:srgbClr val="FFFFFF"/>
                </a:solidFill>
                <a:latin typeface="Calibri" panose="020F0502020204030204" pitchFamily="34" charset="0"/>
              </a:rPr>
              <a:t>6</a:t>
            </a:r>
            <a:r>
              <a:rPr lang="es-CO" sz="3600" b="1" dirty="0">
                <a:solidFill>
                  <a:srgbClr val="FFFFFF"/>
                </a:solidFill>
                <a:latin typeface="Calibri" panose="020F0502020204030204" pitchFamily="34" charset="0"/>
              </a:rPr>
              <a:t>. Demostración </a:t>
            </a:r>
            <a:r>
              <a:rPr lang="es-CO" sz="3600" b="1" dirty="0" err="1">
                <a:solidFill>
                  <a:srgbClr val="FFFFFF"/>
                </a:solidFill>
                <a:latin typeface="Calibri" panose="020F0502020204030204" pitchFamily="34" charset="0"/>
              </a:rPr>
              <a:t>Observer</a:t>
            </a:r>
            <a:endParaRPr lang="es-CO" sz="3600" b="1" dirty="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24" name="Rounded Rectangle 2">
            <a:extLst>
              <a:ext uri="{FF2B5EF4-FFF2-40B4-BE49-F238E27FC236}">
                <a16:creationId xmlns:a16="http://schemas.microsoft.com/office/drawing/2014/main" id="{251F3E1A-00CD-40F5-8C3B-ED106DFDCE14}"/>
              </a:ext>
            </a:extLst>
          </p:cNvPr>
          <p:cNvSpPr/>
          <p:nvPr/>
        </p:nvSpPr>
        <p:spPr>
          <a:xfrm>
            <a:off x="518819" y="1206500"/>
            <a:ext cx="9201531" cy="5425440"/>
          </a:xfrm>
          <a:prstGeom prst="roundRect">
            <a:avLst>
              <a:gd name="adj" fmla="val 4067"/>
            </a:avLst>
          </a:prstGeom>
          <a:solidFill>
            <a:srgbClr val="1A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 dirty="0"/>
          </a:p>
        </p:txBody>
      </p:sp>
      <p:pic>
        <p:nvPicPr>
          <p:cNvPr id="21" name="Imagen 20">
            <a:extLst>
              <a:ext uri="{FF2B5EF4-FFF2-40B4-BE49-F238E27FC236}">
                <a16:creationId xmlns:a16="http://schemas.microsoft.com/office/drawing/2014/main" id="{D0D8BA4A-1C0B-F821-C7A1-AF3C9FED97D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087" t="10007" r="7068" b="9250"/>
          <a:stretch>
            <a:fillRect/>
          </a:stretch>
        </p:blipFill>
        <p:spPr>
          <a:xfrm>
            <a:off x="739273" y="1332609"/>
            <a:ext cx="8748321" cy="52993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2202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fade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lipse 2">
            <a:extLst>
              <a:ext uri="{FF2B5EF4-FFF2-40B4-BE49-F238E27FC236}">
                <a16:creationId xmlns:a16="http://schemas.microsoft.com/office/drawing/2014/main" id="{5FA4C54D-F8F7-667D-27BC-8658065CB91A}"/>
              </a:ext>
            </a:extLst>
          </p:cNvPr>
          <p:cNvSpPr/>
          <p:nvPr/>
        </p:nvSpPr>
        <p:spPr>
          <a:xfrm>
            <a:off x="10160000" y="-1016000"/>
            <a:ext cx="3302000" cy="3302000"/>
          </a:xfrm>
          <a:prstGeom prst="ellipse">
            <a:avLst/>
          </a:prstGeom>
          <a:solidFill>
            <a:srgbClr val="6473F5">
              <a:alpha val="20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7116F78-536A-8DEB-2C90-7E0E23F1D1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317500"/>
            <a:ext cx="10160000" cy="889000"/>
          </a:xfrm>
        </p:spPr>
        <p:txBody>
          <a:bodyPr anchor="ctr">
            <a:normAutofit/>
          </a:bodyPr>
          <a:lstStyle/>
          <a:p>
            <a:pPr algn="l"/>
            <a:r>
              <a:rPr lang="es-MX" sz="3600" b="1" dirty="0">
                <a:solidFill>
                  <a:srgbClr val="FFFFFF"/>
                </a:solidFill>
                <a:latin typeface="Calibri" panose="020F0502020204030204" pitchFamily="34" charset="0"/>
              </a:rPr>
              <a:t>6</a:t>
            </a:r>
            <a:r>
              <a:rPr lang="es-CO" sz="3600" b="1" dirty="0">
                <a:solidFill>
                  <a:srgbClr val="FFFFFF"/>
                </a:solidFill>
                <a:latin typeface="Calibri" panose="020F0502020204030204" pitchFamily="34" charset="0"/>
              </a:rPr>
              <a:t>. Demostración Mediator</a:t>
            </a:r>
          </a:p>
        </p:txBody>
      </p:sp>
      <p:sp>
        <p:nvSpPr>
          <p:cNvPr id="24" name="Rounded Rectangle 2">
            <a:extLst>
              <a:ext uri="{FF2B5EF4-FFF2-40B4-BE49-F238E27FC236}">
                <a16:creationId xmlns:a16="http://schemas.microsoft.com/office/drawing/2014/main" id="{251F3E1A-00CD-40F5-8C3B-ED106DFDCE14}"/>
              </a:ext>
            </a:extLst>
          </p:cNvPr>
          <p:cNvSpPr/>
          <p:nvPr/>
        </p:nvSpPr>
        <p:spPr>
          <a:xfrm>
            <a:off x="518818" y="1206500"/>
            <a:ext cx="9857081" cy="5425440"/>
          </a:xfrm>
          <a:prstGeom prst="roundRect">
            <a:avLst>
              <a:gd name="adj" fmla="val 4067"/>
            </a:avLst>
          </a:prstGeom>
          <a:solidFill>
            <a:srgbClr val="1A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 dirty="0"/>
          </a:p>
        </p:txBody>
      </p:sp>
      <p:pic>
        <p:nvPicPr>
          <p:cNvPr id="21" name="Imagen 20">
            <a:extLst>
              <a:ext uri="{FF2B5EF4-FFF2-40B4-BE49-F238E27FC236}">
                <a16:creationId xmlns:a16="http://schemas.microsoft.com/office/drawing/2014/main" id="{D0D8BA4A-1C0B-F821-C7A1-AF3C9FED97D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32" r="2717"/>
          <a:stretch/>
        </p:blipFill>
        <p:spPr>
          <a:xfrm>
            <a:off x="846592" y="1310641"/>
            <a:ext cx="9201531" cy="51025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9350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fade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lipse 2">
            <a:extLst>
              <a:ext uri="{FF2B5EF4-FFF2-40B4-BE49-F238E27FC236}">
                <a16:creationId xmlns:a16="http://schemas.microsoft.com/office/drawing/2014/main" id="{6C99EE61-333B-7783-D814-D31484674B47}"/>
              </a:ext>
            </a:extLst>
          </p:cNvPr>
          <p:cNvSpPr/>
          <p:nvPr/>
        </p:nvSpPr>
        <p:spPr>
          <a:xfrm>
            <a:off x="10160000" y="-1016000"/>
            <a:ext cx="3302000" cy="3302000"/>
          </a:xfrm>
          <a:prstGeom prst="ellipse">
            <a:avLst/>
          </a:prstGeom>
          <a:solidFill>
            <a:srgbClr val="6473F5">
              <a:alpha val="20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61CF72A-16DB-3521-6B3A-546C13096D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5" y="317500"/>
            <a:ext cx="2967177" cy="889000"/>
          </a:xfrm>
        </p:spPr>
        <p:txBody>
          <a:bodyPr anchor="ctr">
            <a:normAutofit/>
          </a:bodyPr>
          <a:lstStyle/>
          <a:p>
            <a:pPr algn="l"/>
            <a:r>
              <a:rPr lang="es-MX" sz="3600" b="1" dirty="0">
                <a:solidFill>
                  <a:srgbClr val="FFFFFF"/>
                </a:solidFill>
                <a:latin typeface="Calibri" panose="020F0502020204030204" pitchFamily="34" charset="0"/>
              </a:rPr>
              <a:t>7. Conclusión</a:t>
            </a:r>
            <a:endParaRPr lang="es-CO" sz="3600" b="1" dirty="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graphicFrame>
        <p:nvGraphicFramePr>
          <p:cNvPr id="4" name="Tabla 3">
            <a:extLst>
              <a:ext uri="{FF2B5EF4-FFF2-40B4-BE49-F238E27FC236}">
                <a16:creationId xmlns:a16="http://schemas.microsoft.com/office/drawing/2014/main" id="{207870B7-4AD4-9A72-12C7-138960EE114F}"/>
              </a:ext>
            </a:extLst>
          </p:cNvPr>
          <p:cNvGraphicFramePr>
            <a:graphicFrameLocks noGrp="1"/>
          </p:cNvGraphicFramePr>
          <p:nvPr/>
        </p:nvGraphicFramePr>
        <p:xfrm>
          <a:off x="635003" y="1587500"/>
          <a:ext cx="10758976" cy="3352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97419">
                  <a:extLst>
                    <a:ext uri="{9D8B030D-6E8A-4147-A177-3AD203B41FA5}">
                      <a16:colId xmlns:a16="http://schemas.microsoft.com/office/drawing/2014/main" val="544620253"/>
                    </a:ext>
                  </a:extLst>
                </a:gridCol>
                <a:gridCol w="2061557">
                  <a:extLst>
                    <a:ext uri="{9D8B030D-6E8A-4147-A177-3AD203B41FA5}">
                      <a16:colId xmlns:a16="http://schemas.microsoft.com/office/drawing/2014/main" val="1056622285"/>
                    </a:ext>
                  </a:extLst>
                </a:gridCol>
              </a:tblGrid>
              <a:tr h="838200">
                <a:tc>
                  <a:txBody>
                    <a:bodyPr/>
                    <a:lstStyle/>
                    <a:p>
                      <a:r>
                        <a:rPr lang="es-CO" sz="21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Si necesitas</a:t>
                      </a:r>
                    </a:p>
                  </a:txBody>
                  <a:tcPr anchor="ctr">
                    <a:solidFill>
                      <a:srgbClr val="6473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21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Usa</a:t>
                      </a:r>
                    </a:p>
                  </a:txBody>
                  <a:tcPr anchor="ctr">
                    <a:solidFill>
                      <a:srgbClr val="6473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85898"/>
                  </a:ext>
                </a:extLst>
              </a:tr>
              <a:tr h="838200">
                <a:tc>
                  <a:txBody>
                    <a:bodyPr/>
                    <a:lstStyle/>
                    <a:p>
                      <a:r>
                        <a:rPr lang="es-CO" sz="21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Integrar sistemas o equipos independientes que escalan por separado</a:t>
                      </a:r>
                    </a:p>
                  </a:txBody>
                  <a:tcPr anchor="ctr">
                    <a:solidFill>
                      <a:srgbClr val="3038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2100" b="0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SOA</a:t>
                      </a:r>
                    </a:p>
                  </a:txBody>
                  <a:tcPr anchor="ctr">
                    <a:solidFill>
                      <a:srgbClr val="20265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16793442"/>
                  </a:ext>
                </a:extLst>
              </a:tr>
              <a:tr h="838200">
                <a:tc>
                  <a:txBody>
                    <a:bodyPr/>
                    <a:lstStyle/>
                    <a:p>
                      <a:r>
                        <a:rPr lang="es-MX" sz="21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Que varios objetos reaccionen a un cambio de estado</a:t>
                      </a:r>
                      <a:endParaRPr lang="es-CO" sz="2100" b="1" dirty="0">
                        <a:solidFill>
                          <a:srgbClr val="FFFFFF"/>
                        </a:solidFill>
                        <a:latin typeface="Calibri" panose="020F0502020204030204" pitchFamily="34" charset="0"/>
                      </a:endParaRPr>
                    </a:p>
                  </a:txBody>
                  <a:tcPr anchor="ctr">
                    <a:solidFill>
                      <a:srgbClr val="3038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MX" sz="2100" b="0" dirty="0" err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Observer</a:t>
                      </a:r>
                      <a:endParaRPr lang="es-CO" sz="2100" b="0" dirty="0">
                        <a:solidFill>
                          <a:srgbClr val="FFFFFF"/>
                        </a:solidFill>
                        <a:latin typeface="Calibri" panose="020F0502020204030204" pitchFamily="34" charset="0"/>
                      </a:endParaRPr>
                    </a:p>
                  </a:txBody>
                  <a:tcPr anchor="ctr">
                    <a:solidFill>
                      <a:srgbClr val="1A1F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94721793"/>
                  </a:ext>
                </a:extLst>
              </a:tr>
              <a:tr h="838200">
                <a:tc>
                  <a:txBody>
                    <a:bodyPr/>
                    <a:lstStyle/>
                    <a:p>
                      <a:r>
                        <a:rPr lang="es-MX" sz="21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Coordinar muchos componentes que hoy se llaman entre sí</a:t>
                      </a:r>
                      <a:endParaRPr lang="es-CO" sz="2100" b="1" dirty="0">
                        <a:solidFill>
                          <a:srgbClr val="FFFFFF"/>
                        </a:solidFill>
                        <a:latin typeface="Calibri" panose="020F0502020204030204" pitchFamily="34" charset="0"/>
                      </a:endParaRPr>
                    </a:p>
                  </a:txBody>
                  <a:tcPr anchor="ctr">
                    <a:solidFill>
                      <a:srgbClr val="3038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MX" sz="2100" b="0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Mediator</a:t>
                      </a:r>
                      <a:endParaRPr lang="es-CO" sz="2100" b="0" dirty="0">
                        <a:solidFill>
                          <a:srgbClr val="FFFFFF"/>
                        </a:solidFill>
                        <a:latin typeface="Calibri" panose="020F0502020204030204" pitchFamily="34" charset="0"/>
                      </a:endParaRPr>
                    </a:p>
                  </a:txBody>
                  <a:tcPr anchor="ctr">
                    <a:solidFill>
                      <a:srgbClr val="20265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7621331"/>
                  </a:ext>
                </a:extLst>
              </a:tr>
            </a:tbl>
          </a:graphicData>
        </a:graphic>
      </p:graphicFrame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5F5454D4-CD26-3A8C-F9B5-CA359EC50FC5}"/>
              </a:ext>
            </a:extLst>
          </p:cNvPr>
          <p:cNvSpPr/>
          <p:nvPr/>
        </p:nvSpPr>
        <p:spPr>
          <a:xfrm>
            <a:off x="635003" y="5232400"/>
            <a:ext cx="10758976" cy="1041400"/>
          </a:xfrm>
          <a:prstGeom prst="roundRect">
            <a:avLst>
              <a:gd name="adj" fmla="val 15000"/>
            </a:avLst>
          </a:prstGeom>
          <a:solidFill>
            <a:srgbClr val="20265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133" dirty="0">
                <a:solidFill>
                  <a:srgbClr val="FFC000"/>
                </a:solidFill>
                <a:latin typeface="Calibri" panose="020F0502020204030204" pitchFamily="34" charset="0"/>
              </a:rPr>
              <a:t>No compiten: se combinan. SOA organiza el sistema; </a:t>
            </a:r>
            <a:r>
              <a:rPr lang="es-MX" sz="2133" dirty="0" err="1">
                <a:solidFill>
                  <a:srgbClr val="FFC000"/>
                </a:solidFill>
                <a:latin typeface="Calibri" panose="020F0502020204030204" pitchFamily="34" charset="0"/>
              </a:rPr>
              <a:t>Observer</a:t>
            </a:r>
            <a:r>
              <a:rPr lang="es-MX" sz="2133" dirty="0">
                <a:solidFill>
                  <a:srgbClr val="FFC000"/>
                </a:solidFill>
                <a:latin typeface="Calibri" panose="020F0502020204030204" pitchFamily="34" charset="0"/>
              </a:rPr>
              <a:t> y Mediator organizan su código.</a:t>
            </a:r>
            <a:endParaRPr lang="es-CO" sz="2133" dirty="0">
              <a:solidFill>
                <a:srgbClr val="FFC000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403659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fade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Bjorn</Template>
  <TotalTime>71</TotalTime>
  <Words>1343</Words>
  <Application>Microsoft Office PowerPoint</Application>
  <PresentationFormat>Panorámica</PresentationFormat>
  <Paragraphs>221</Paragraphs>
  <Slides>20</Slides>
  <Notes>8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20</vt:i4>
      </vt:variant>
    </vt:vector>
  </HeadingPairs>
  <TitlesOfParts>
    <vt:vector size="26" baseType="lpstr">
      <vt:lpstr>Aptos</vt:lpstr>
      <vt:lpstr>Aptos Display</vt:lpstr>
      <vt:lpstr>Arial</vt:lpstr>
      <vt:lpstr>Calibri</vt:lpstr>
      <vt:lpstr>Segoe UI Symbol</vt:lpstr>
      <vt:lpstr>Tema de Office</vt:lpstr>
      <vt:lpstr>Arquitectura Orientada a Servicios (SOA)</vt:lpstr>
      <vt:lpstr>1. SOA: Definición</vt:lpstr>
      <vt:lpstr>2. SOA: Características</vt:lpstr>
      <vt:lpstr>3. SOA: Diagrama</vt:lpstr>
      <vt:lpstr>4. SOA: Ventajas</vt:lpstr>
      <vt:lpstr>4. SOA: Desventajas</vt:lpstr>
      <vt:lpstr>5. Tecnologías relacionadas</vt:lpstr>
      <vt:lpstr>5. Cómo encajan en una misma solución</vt:lpstr>
      <vt:lpstr>6. Demostración SOA</vt:lpstr>
      <vt:lpstr>Patrones Observer y Mediator</vt:lpstr>
      <vt:lpstr>1. Patrones: Definición</vt:lpstr>
      <vt:lpstr>2. Patrones: Características</vt:lpstr>
      <vt:lpstr>3. Patrones: Diagramas</vt:lpstr>
      <vt:lpstr>4. Observer: Ventajas y Desventajas</vt:lpstr>
      <vt:lpstr>4. Mediator: Ventajas y Desventajas</vt:lpstr>
      <vt:lpstr>4. Ideas para llevarse</vt:lpstr>
      <vt:lpstr>4. Comparativa rápida</vt:lpstr>
      <vt:lpstr>6. Demostración Observer</vt:lpstr>
      <vt:lpstr>6. Demostración Mediator</vt:lpstr>
      <vt:lpstr>7. Conclusión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SANDRO VASQUEZ</dc:creator>
  <cp:lastModifiedBy>Brandon Duvan</cp:lastModifiedBy>
  <cp:revision>7</cp:revision>
  <dcterms:created xsi:type="dcterms:W3CDTF">2026-10-15T20:46:09Z</dcterms:created>
  <dcterms:modified xsi:type="dcterms:W3CDTF">2026-10-16T03:44:23Z</dcterms:modified>
</cp:coreProperties>
</file>