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74" r:id="rId6"/>
    <p:sldId id="264" r:id="rId7"/>
    <p:sldId id="261" r:id="rId8"/>
    <p:sldId id="262" r:id="rId9"/>
    <p:sldId id="263" r:id="rId10"/>
    <p:sldId id="269" r:id="rId11"/>
    <p:sldId id="273" r:id="rId12"/>
    <p:sldId id="272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F122D"/>
    <a:srgbClr val="1A1B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1104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807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13486-1119-D441-CFFA-0D4BF48BC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5CB646-D7BA-23B8-962E-7F6C14B010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18D1F0-1B18-6E38-C383-58D2DD3608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0B9C84-F9B7-B183-D328-6FA2F1584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9353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1F4E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463040"/>
            <a:ext cx="76809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1CCAD3-7DF5-94B1-7CEF-686D535A8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3827FD4-BFE5-A255-9040-7E4D962F6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52A7-4D7D-4A5E-A016-C2965DC63AEC}" type="datetimeFigureOut">
              <a:rPr lang="es-CO" smtClean="0"/>
              <a:t>15/10/2026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09CD20F-F8E8-E721-BFDE-59B5F47CC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04BAE63-37D6-D1E1-1078-02CD54815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1186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46304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dirty="0"/>
              <a:t>Arquitectura Orientada a Servicios (SOA)</a:t>
            </a:r>
            <a:endParaRPr lang="en-US" sz="4000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DFDCA49-15E5-9528-7942-58D1A631B8E2}"/>
              </a:ext>
            </a:extLst>
          </p:cNvPr>
          <p:cNvSpPr txBox="1"/>
          <p:nvPr/>
        </p:nvSpPr>
        <p:spPr>
          <a:xfrm>
            <a:off x="607423" y="3448594"/>
            <a:ext cx="4572000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es-419" sz="1200" b="1" i="0" dirty="0">
                <a:solidFill>
                  <a:srgbClr val="1F2328"/>
                </a:solidFill>
                <a:effectLst/>
                <a:latin typeface="Mona Sans VF"/>
              </a:rPr>
              <a:t> </a:t>
            </a:r>
            <a:r>
              <a:rPr lang="es-419" sz="1200" b="1" i="0" dirty="0">
                <a:solidFill>
                  <a:schemeClr val="bg1"/>
                </a:solidFill>
                <a:effectLst/>
                <a:latin typeface="Mona Sans VF"/>
              </a:rPr>
              <a:t>Integrantes del Equipo</a:t>
            </a:r>
          </a:p>
          <a:p>
            <a:pPr marL="342900" lvl="0" indent="-34290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s-419" sz="1200" b="0" i="0" dirty="0">
                <a:solidFill>
                  <a:schemeClr val="bg1"/>
                </a:solidFill>
                <a:effectLst/>
                <a:latin typeface="Mona Sans VF"/>
              </a:rPr>
              <a:t>David Villanueva Potosí</a:t>
            </a:r>
          </a:p>
          <a:p>
            <a:pPr marL="342900" lvl="0" indent="-34290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s-419" sz="1200" b="0" i="0" dirty="0">
                <a:solidFill>
                  <a:schemeClr val="bg1"/>
                </a:solidFill>
                <a:effectLst/>
                <a:latin typeface="Mona Sans VF"/>
              </a:rPr>
              <a:t>Brandon Duván Guevara Rodríguez</a:t>
            </a:r>
          </a:p>
          <a:p>
            <a:pPr marL="342900" lvl="0" indent="-34290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s-419" sz="1200" b="0" i="0" dirty="0">
                <a:solidFill>
                  <a:schemeClr val="bg1"/>
                </a:solidFill>
                <a:effectLst/>
                <a:latin typeface="Mona Sans VF"/>
              </a:rPr>
              <a:t>Erick Santiago Vasquez Reyes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1. SOA: Definición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39319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Qué es: </a:t>
            </a:r>
            <a:r>
              <a:rPr lang="en-US" sz="1500" dirty="0" err="1">
                <a:solidFill>
                  <a:schemeClr val="tx1"/>
                </a:solidFill>
              </a:rPr>
              <a:t>estilo</a:t>
            </a:r>
            <a:r>
              <a:rPr lang="en-US" sz="1500" dirty="0">
                <a:solidFill>
                  <a:schemeClr val="tx1"/>
                </a:solidFill>
              </a:rPr>
              <a:t> de arquitectura que divide el software en servicios independientes. Cada uno hace una función de negocio y publica un contrato.</a:t>
            </a:r>
            <a:endParaRPr lang="en-US" sz="15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Metáfora: </a:t>
            </a:r>
            <a:r>
              <a:rPr lang="en-US" sz="1500" dirty="0">
                <a:solidFill>
                  <a:schemeClr val="tx1"/>
                </a:solidFill>
              </a:rPr>
              <a:t>un centro comercial; cada local hace una cosa y, si uno cierra, los demás siguen abiertos.</a:t>
            </a:r>
            <a:endParaRPr lang="en-US" sz="15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Sirve para: </a:t>
            </a:r>
            <a:r>
              <a:rPr lang="en-US" sz="1500" dirty="0" err="1">
                <a:solidFill>
                  <a:schemeClr val="tx1"/>
                </a:solidFill>
              </a:rPr>
              <a:t>integrar</a:t>
            </a:r>
            <a:r>
              <a:rPr lang="en-US" sz="1500" dirty="0">
                <a:solidFill>
                  <a:schemeClr val="tx1"/>
                </a:solidFill>
              </a:rPr>
              <a:t> sistemas viejos y nuevos, reutilizar lógica y cambiar una parte sin romper todo.</a:t>
            </a:r>
            <a:endParaRPr lang="en-US" sz="1500" dirty="0"/>
          </a:p>
        </p:txBody>
      </p:sp>
      <p:sp>
        <p:nvSpPr>
          <p:cNvPr id="4" name="Separador"/>
          <p:cNvSpPr/>
          <p:nvPr/>
        </p:nvSpPr>
        <p:spPr>
          <a:xfrm>
            <a:off x="4709160" y="1097280"/>
            <a:ext cx="0" cy="347472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5" name="Text 3"/>
          <p:cNvSpPr txBox="1"/>
          <p:nvPr/>
        </p:nvSpPr>
        <p:spPr>
          <a:xfrm>
            <a:off x="4937760" y="1051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Principios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4937760" y="1554480"/>
            <a:ext cx="3657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Contrato estándar: </a:t>
            </a:r>
            <a:r>
              <a:rPr lang="en-US" sz="1300" dirty="0">
                <a:solidFill>
                  <a:schemeClr val="tx1"/>
                </a:solidFill>
              </a:rPr>
              <a:t>describe qué ofrece.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Bajo acoplamiento: </a:t>
            </a:r>
            <a:r>
              <a:rPr lang="en-US" sz="1300" dirty="0">
                <a:solidFill>
                  <a:schemeClr val="tx1"/>
                </a:solidFill>
              </a:rPr>
              <a:t>depende del contrato, no del código.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Reutilización: </a:t>
            </a:r>
            <a:r>
              <a:rPr lang="en-US" sz="1300" dirty="0">
                <a:solidFill>
                  <a:schemeClr val="tx1"/>
                </a:solidFill>
              </a:rPr>
              <a:t>varias apps usan el mismo servicio.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Autonomía: </a:t>
            </a:r>
            <a:r>
              <a:rPr lang="en-US" sz="1300" dirty="0">
                <a:solidFill>
                  <a:schemeClr val="tx1"/>
                </a:solidFill>
              </a:rPr>
              <a:t>cada servicio controla su lógica y datos.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Abstracción: </a:t>
            </a:r>
            <a:r>
              <a:rPr lang="en-US" sz="1300" dirty="0">
                <a:solidFill>
                  <a:schemeClr val="tx1"/>
                </a:solidFill>
              </a:rPr>
              <a:t>el consumidor no ve el interior.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Composición: </a:t>
            </a:r>
            <a:r>
              <a:rPr lang="en-US" sz="1300" dirty="0">
                <a:solidFill>
                  <a:schemeClr val="tx1"/>
                </a:solidFill>
              </a:rPr>
              <a:t>servicios simples forman procesos.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2. SOA: Características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Cómo se organiza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3931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Proveedor: </a:t>
            </a:r>
            <a:r>
              <a:rPr lang="en-US" sz="1400" dirty="0">
                <a:solidFill>
                  <a:schemeClr val="tx1"/>
                </a:solidFill>
              </a:rPr>
              <a:t>implementa y publica el servicio.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Consumidor: </a:t>
            </a:r>
            <a:r>
              <a:rPr lang="en-US" sz="1400" dirty="0">
                <a:solidFill>
                  <a:schemeClr val="tx1"/>
                </a:solidFill>
              </a:rPr>
              <a:t>lo busca y lo usa (app web o móvil).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Registro: </a:t>
            </a:r>
            <a:r>
              <a:rPr lang="en-US" sz="1400" dirty="0">
                <a:solidFill>
                  <a:schemeClr val="tx1"/>
                </a:solidFill>
              </a:rPr>
              <a:t>catálogo donde se publican los contratos.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Capas: </a:t>
            </a:r>
            <a:r>
              <a:rPr lang="en-US" sz="1400" dirty="0">
                <a:solidFill>
                  <a:schemeClr val="tx1"/>
                </a:solidFill>
              </a:rPr>
              <a:t>consumidores, procesos, servicios de negocio, datos e integración (ESB, gateway, broker).</a:t>
            </a:r>
            <a:endParaRPr lang="en-US" sz="1400" dirty="0"/>
          </a:p>
        </p:txBody>
      </p:sp>
      <p:sp>
        <p:nvSpPr>
          <p:cNvPr id="5" name="Separador"/>
          <p:cNvSpPr/>
          <p:nvPr/>
        </p:nvSpPr>
        <p:spPr>
          <a:xfrm>
            <a:off x="4709160" y="1097280"/>
            <a:ext cx="0" cy="347472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6" name="Text 4"/>
          <p:cNvSpPr txBox="1"/>
          <p:nvPr/>
        </p:nvSpPr>
        <p:spPr>
          <a:xfrm>
            <a:off x="4937760" y="1051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Cómo funciona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937760" y="155448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chemeClr val="tx1"/>
                </a:solidFill>
              </a:rPr>
              <a:t>El proveedor publica su contrato.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chemeClr val="tx1"/>
                </a:solidFill>
              </a:rPr>
              <a:t>El consumidor busca el servicio.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chemeClr val="tx1"/>
                </a:solidFill>
              </a:rPr>
              <a:t>Envía un mensaje (SOAP/XML o REST/JSON) por HTTP o colas.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chemeClr val="tx1"/>
                </a:solidFill>
              </a:rPr>
              <a:t>El proveedor responde; su código interno no se ve.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38404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Además: </a:t>
            </a:r>
            <a:r>
              <a:rPr lang="en-US" sz="1400" dirty="0">
                <a:solidFill>
                  <a:schemeClr val="tx1"/>
                </a:solidFill>
              </a:rPr>
              <a:t>los servicios no guardan estado y funcionan en distintas plataformas.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3. SOA: Diagrama</a:t>
            </a:r>
            <a:endParaRPr lang="en-US" sz="3400" dirty="0"/>
          </a:p>
        </p:txBody>
      </p:sp>
      <p:sp>
        <p:nvSpPr>
          <p:cNvPr id="3" name="Registro de servicios"/>
          <p:cNvSpPr/>
          <p:nvPr/>
        </p:nvSpPr>
        <p:spPr>
          <a:xfrm>
            <a:off x="1737360" y="1371600"/>
            <a:ext cx="2560320" cy="640080"/>
          </a:xfrm>
          <a:prstGeom prst="rect">
            <a:avLst/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4" name="Text 2"/>
          <p:cNvSpPr txBox="1"/>
          <p:nvPr/>
        </p:nvSpPr>
        <p:spPr>
          <a:xfrm>
            <a:off x="1737360" y="13716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Registro de servicios</a:t>
            </a:r>
            <a:endParaRPr lang="en-US" sz="1200" dirty="0"/>
          </a:p>
        </p:txBody>
      </p:sp>
      <p:sp>
        <p:nvSpPr>
          <p:cNvPr id="5" name="Consumidor"/>
          <p:cNvSpPr/>
          <p:nvPr/>
        </p:nvSpPr>
        <p:spPr>
          <a:xfrm>
            <a:off x="548640" y="3108960"/>
            <a:ext cx="1828800" cy="73152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6" name="Text 4"/>
          <p:cNvSpPr txBox="1"/>
          <p:nvPr/>
        </p:nvSpPr>
        <p:spPr>
          <a:xfrm>
            <a:off x="548640" y="3108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Consumidor</a:t>
            </a:r>
            <a:endParaRPr lang="en-US" sz="1200" dirty="0"/>
          </a:p>
        </p:txBody>
      </p:sp>
      <p:sp>
        <p:nvSpPr>
          <p:cNvPr id="7" name="Proveedor"/>
          <p:cNvSpPr/>
          <p:nvPr/>
        </p:nvSpPr>
        <p:spPr>
          <a:xfrm>
            <a:off x="3657600" y="3108960"/>
            <a:ext cx="1828800" cy="73152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8" name="Text 6"/>
          <p:cNvSpPr txBox="1"/>
          <p:nvPr/>
        </p:nvSpPr>
        <p:spPr>
          <a:xfrm>
            <a:off x="3657600" y="3108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Proveedor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 flipV="1">
            <a:off x="1463040" y="2011680"/>
            <a:ext cx="640080" cy="109728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s-419"/>
          </a:p>
        </p:txBody>
      </p:sp>
      <p:sp>
        <p:nvSpPr>
          <p:cNvPr id="10" name="Shape 8"/>
          <p:cNvSpPr/>
          <p:nvPr/>
        </p:nvSpPr>
        <p:spPr>
          <a:xfrm>
            <a:off x="3931920" y="2011680"/>
            <a:ext cx="640080" cy="109728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s-419"/>
          </a:p>
        </p:txBody>
      </p:sp>
      <p:sp>
        <p:nvSpPr>
          <p:cNvPr id="11" name="Shape 9"/>
          <p:cNvSpPr/>
          <p:nvPr/>
        </p:nvSpPr>
        <p:spPr>
          <a:xfrm>
            <a:off x="2377440" y="3310128"/>
            <a:ext cx="128016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s-419"/>
          </a:p>
        </p:txBody>
      </p:sp>
      <p:sp>
        <p:nvSpPr>
          <p:cNvPr id="12" name="Shape 10"/>
          <p:cNvSpPr/>
          <p:nvPr/>
        </p:nvSpPr>
        <p:spPr>
          <a:xfrm>
            <a:off x="2377440" y="3657600"/>
            <a:ext cx="128016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s-419"/>
          </a:p>
        </p:txBody>
      </p:sp>
      <p:sp>
        <p:nvSpPr>
          <p:cNvPr id="13" name="Text 11"/>
          <p:cNvSpPr txBox="1"/>
          <p:nvPr/>
        </p:nvSpPr>
        <p:spPr>
          <a:xfrm>
            <a:off x="548640" y="24231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chemeClr val="tx1"/>
                </a:solidFill>
              </a:rPr>
              <a:t>2 busca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24231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1 publica contrato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30175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3 invoca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377440" y="373075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4 responde</a:t>
            </a:r>
            <a:endParaRPr lang="en-US" sz="1200" dirty="0"/>
          </a:p>
        </p:txBody>
      </p:sp>
      <p:sp>
        <p:nvSpPr>
          <p:cNvPr id="17" name="Separador"/>
          <p:cNvSpPr/>
          <p:nvPr/>
        </p:nvSpPr>
        <p:spPr>
          <a:xfrm>
            <a:off x="6126480" y="1097280"/>
            <a:ext cx="0" cy="347472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8" name="Text 16"/>
          <p:cNvSpPr txBox="1"/>
          <p:nvPr/>
        </p:nvSpPr>
        <p:spPr>
          <a:xfrm>
            <a:off x="6355080" y="1371600"/>
            <a:ext cx="2286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1 </a:t>
            </a:r>
            <a:r>
              <a:rPr lang="en-US" sz="1400" dirty="0">
                <a:solidFill>
                  <a:schemeClr val="tx1"/>
                </a:solidFill>
              </a:rPr>
              <a:t>El proveedor publica su contrato en el registro.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2 </a:t>
            </a:r>
            <a:r>
              <a:rPr lang="en-US" sz="1400" dirty="0">
                <a:solidFill>
                  <a:schemeClr val="tx1"/>
                </a:solidFill>
              </a:rPr>
              <a:t>El consumidor busca el servicio.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3 </a:t>
            </a:r>
            <a:r>
              <a:rPr lang="en-US" sz="1400" dirty="0">
                <a:solidFill>
                  <a:schemeClr val="tx1"/>
                </a:solidFill>
              </a:rPr>
              <a:t>Lo invoca con un mensaje.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4 </a:t>
            </a:r>
            <a:r>
              <a:rPr lang="en-US" sz="1400" dirty="0">
                <a:solidFill>
                  <a:schemeClr val="tx1"/>
                </a:solidFill>
              </a:rPr>
              <a:t>El proveedor responde.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5FA4C54D-F8F7-667D-27BC-8658065CB91A}"/>
              </a:ext>
            </a:extLst>
          </p:cNvPr>
          <p:cNvSpPr/>
          <p:nvPr/>
        </p:nvSpPr>
        <p:spPr>
          <a:xfrm>
            <a:off x="7620000" y="-762000"/>
            <a:ext cx="2476500" cy="24765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sz="135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7116F78-536A-8DEB-2C90-7E0E23F1D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250" y="238125"/>
            <a:ext cx="7620000" cy="666750"/>
          </a:xfrm>
        </p:spPr>
        <p:txBody>
          <a:bodyPr anchor="ctr">
            <a:normAutofit/>
          </a:bodyPr>
          <a:lstStyle/>
          <a:p>
            <a:pPr algn="l"/>
            <a:r>
              <a:rPr lang="es-MX" sz="2700" b="1" dirty="0">
                <a:solidFill>
                  <a:srgbClr val="FFFFFF"/>
                </a:solidFill>
                <a:latin typeface="Calibri" panose="020F0502020204030204" pitchFamily="34" charset="0"/>
              </a:rPr>
              <a:t>6</a:t>
            </a:r>
            <a:r>
              <a:rPr lang="es-CO" sz="2700" b="1" dirty="0">
                <a:solidFill>
                  <a:srgbClr val="FFFFFF"/>
                </a:solidFill>
                <a:latin typeface="Calibri" panose="020F0502020204030204" pitchFamily="34" charset="0"/>
              </a:rPr>
              <a:t>. Demostración SOA</a:t>
            </a:r>
          </a:p>
        </p:txBody>
      </p:sp>
      <p:sp>
        <p:nvSpPr>
          <p:cNvPr id="24" name="Rounded Rectangle 2">
            <a:extLst>
              <a:ext uri="{FF2B5EF4-FFF2-40B4-BE49-F238E27FC236}">
                <a16:creationId xmlns:a16="http://schemas.microsoft.com/office/drawing/2014/main" id="{251F3E1A-00CD-40F5-8C3B-ED106DFDCE14}"/>
              </a:ext>
            </a:extLst>
          </p:cNvPr>
          <p:cNvSpPr/>
          <p:nvPr/>
        </p:nvSpPr>
        <p:spPr>
          <a:xfrm>
            <a:off x="389113" y="904875"/>
            <a:ext cx="8278637" cy="3143250"/>
          </a:xfrm>
          <a:prstGeom prst="roundRect">
            <a:avLst>
              <a:gd name="adj" fmla="val 4067"/>
            </a:avLst>
          </a:prstGeom>
          <a:solidFill>
            <a:srgbClr val="1A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45EDA06-79F8-310E-8954-BFAD8F5E29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094" t="14697" r="6094" b="16050"/>
          <a:stretch/>
        </p:blipFill>
        <p:spPr>
          <a:xfrm>
            <a:off x="476250" y="1095375"/>
            <a:ext cx="8029575" cy="2571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1558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fade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DC3A5-6E25-0CE9-42A0-C50E0565D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62A2209-5066-A9B5-3E35-5ED7D290F26D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731520" y="146304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</a:rPr>
              <a:t>Patrones Observer y Mediator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5187989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1. </a:t>
            </a:r>
            <a:r>
              <a:rPr lang="en-US" sz="3400" b="1" dirty="0" err="1">
                <a:solidFill>
                  <a:schemeClr val="tx2"/>
                </a:solidFill>
              </a:rPr>
              <a:t>Patrones</a:t>
            </a:r>
            <a:r>
              <a:rPr lang="en-US" sz="3400" b="1" dirty="0">
                <a:solidFill>
                  <a:schemeClr val="tx2"/>
                </a:solidFill>
              </a:rPr>
              <a:t>: Definición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Observer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4846320" y="10515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Mediator</a:t>
            </a:r>
            <a:endParaRPr lang="en-US" sz="2000" dirty="0"/>
          </a:p>
        </p:txBody>
      </p:sp>
      <p:sp>
        <p:nvSpPr>
          <p:cNvPr id="5" name="Separador"/>
          <p:cNvSpPr/>
          <p:nvPr/>
        </p:nvSpPr>
        <p:spPr>
          <a:xfrm>
            <a:off x="4526280" y="1097280"/>
            <a:ext cx="0" cy="347472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6" name="Text 4"/>
          <p:cNvSpPr txBox="1"/>
          <p:nvPr/>
        </p:nvSpPr>
        <p:spPr>
          <a:xfrm>
            <a:off x="548640" y="1508760"/>
            <a:ext cx="3749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Qué es: </a:t>
            </a:r>
            <a:r>
              <a:rPr lang="en-US" sz="1400" dirty="0">
                <a:solidFill>
                  <a:schemeClr val="tx1"/>
                </a:solidFill>
              </a:rPr>
              <a:t>relación uno a muchos; si el Subject cambia, avisa a todos sus Observers.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Metáfora: </a:t>
            </a:r>
            <a:r>
              <a:rPr lang="en-US" sz="1400" dirty="0">
                <a:solidFill>
                  <a:schemeClr val="tx1"/>
                </a:solidFill>
              </a:rPr>
              <a:t>un canal de YouTube y sus suscriptores.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Sirve para: </a:t>
            </a:r>
            <a:r>
              <a:rPr lang="en-US" sz="1400" dirty="0">
                <a:solidFill>
                  <a:schemeClr val="tx1"/>
                </a:solidFill>
              </a:rPr>
              <a:t>reaccionar a cambios sin que el emisor conozca a quién avisa.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En SOA: </a:t>
            </a:r>
            <a:r>
              <a:rPr lang="en-US" sz="1400" dirty="0">
                <a:solidFill>
                  <a:schemeClr val="tx1"/>
                </a:solidFill>
              </a:rPr>
              <a:t>publish/subscribe con un broker (RabbitMQ, Kafka).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1508760"/>
            <a:ext cx="3749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Qué es: </a:t>
            </a:r>
            <a:r>
              <a:rPr lang="en-US" sz="1400" dirty="0">
                <a:solidFill>
                  <a:schemeClr val="tx1"/>
                </a:solidFill>
              </a:rPr>
              <a:t>un intermediario que centraliza la comunicación entre componentes.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Metáfora: </a:t>
            </a:r>
            <a:r>
              <a:rPr lang="en-US" sz="1400" dirty="0">
                <a:solidFill>
                  <a:schemeClr val="tx1"/>
                </a:solidFill>
              </a:rPr>
              <a:t>la torre de control de un aeropuerto.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Sirve para: </a:t>
            </a:r>
            <a:r>
              <a:rPr lang="en-US" sz="1400" dirty="0">
                <a:solidFill>
                  <a:schemeClr val="tx1"/>
                </a:solidFill>
              </a:rPr>
              <a:t>evitar una maraña de dependencias y coordinar en un solo lugar.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En SOA: </a:t>
            </a:r>
            <a:r>
              <a:rPr lang="en-US" sz="1400" dirty="0">
                <a:solidFill>
                  <a:schemeClr val="tx1"/>
                </a:solidFill>
              </a:rPr>
              <a:t>orquestador, ESB o API Gateway.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2. </a:t>
            </a:r>
            <a:r>
              <a:rPr lang="en-US" sz="3400" b="1" dirty="0" err="1">
                <a:solidFill>
                  <a:schemeClr val="tx2"/>
                </a:solidFill>
              </a:rPr>
              <a:t>Patrones</a:t>
            </a:r>
            <a:r>
              <a:rPr lang="en-US" sz="3400" b="1" dirty="0">
                <a:solidFill>
                  <a:schemeClr val="tx2"/>
                </a:solidFill>
              </a:rPr>
              <a:t>: Características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Observer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4846320" y="10515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Mediator</a:t>
            </a:r>
            <a:endParaRPr lang="en-US" sz="2000" dirty="0"/>
          </a:p>
        </p:txBody>
      </p:sp>
      <p:sp>
        <p:nvSpPr>
          <p:cNvPr id="5" name="Separador"/>
          <p:cNvSpPr/>
          <p:nvPr/>
        </p:nvSpPr>
        <p:spPr>
          <a:xfrm>
            <a:off x="4526280" y="1097280"/>
            <a:ext cx="0" cy="347472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6" name="Text 4"/>
          <p:cNvSpPr txBox="1"/>
          <p:nvPr/>
        </p:nvSpPr>
        <p:spPr>
          <a:xfrm>
            <a:off x="548640" y="1508760"/>
            <a:ext cx="3749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Componentes: </a:t>
            </a:r>
            <a:r>
              <a:rPr lang="en-US" sz="1300" dirty="0">
                <a:solidFill>
                  <a:schemeClr val="tx1"/>
                </a:solidFill>
              </a:rPr>
              <a:t>Subject, Observer, subscribe(), unsubscribe(), notify() y update().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Por dentro: </a:t>
            </a:r>
            <a:r>
              <a:rPr lang="en-US" sz="1300" dirty="0">
                <a:solidFill>
                  <a:schemeClr val="tx1"/>
                </a:solidFill>
              </a:rPr>
              <a:t>el Subject guarda una lista de observadores y la recorre al notificar: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chemeClr val="tx1"/>
                </a:solidFill>
              </a:rPr>
              <a:t>se registran con subscribe()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chemeClr val="tx1"/>
                </a:solidFill>
              </a:rPr>
              <a:t>cambia el estado y llama notify()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chemeClr val="tx1"/>
                </a:solidFill>
              </a:rPr>
              <a:t>cada uno recibe update()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En SOA: </a:t>
            </a:r>
            <a:r>
              <a:rPr lang="en-US" sz="1300" dirty="0">
                <a:solidFill>
                  <a:schemeClr val="tx1"/>
                </a:solidFill>
              </a:rPr>
              <a:t>el broker hace de lista y entrega el evento a cada suscriptor.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1508760"/>
            <a:ext cx="3749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Componentes: </a:t>
            </a:r>
            <a:r>
              <a:rPr lang="en-US" sz="1300" dirty="0">
                <a:solidFill>
                  <a:schemeClr val="tx1"/>
                </a:solidFill>
              </a:rPr>
              <a:t>interfaz Mediator, mediador concreto y Colleagues.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Por dentro: </a:t>
            </a:r>
            <a:r>
              <a:rPr lang="en-US" sz="1300" dirty="0">
                <a:solidFill>
                  <a:schemeClr val="tx1"/>
                </a:solidFill>
              </a:rPr>
              <a:t>los Colleagues solo conocen al mediador: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chemeClr val="tx1"/>
                </a:solidFill>
              </a:rPr>
              <a:t>un Colleague le avisa lo que necesita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chemeClr val="tx1"/>
                </a:solidFill>
              </a:rPr>
              <a:t>el mediador decide a quién, en qué orden y con qué reglas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chemeClr val="tx1"/>
                </a:solidFill>
              </a:rPr>
              <a:t>los demás responden al mediador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En SOA: </a:t>
            </a:r>
            <a:r>
              <a:rPr lang="en-US" sz="1300" dirty="0">
                <a:solidFill>
                  <a:schemeClr val="tx1"/>
                </a:solidFill>
              </a:rPr>
              <a:t>el ESB o gateway enruta, transforma y coordina.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3. </a:t>
            </a:r>
            <a:r>
              <a:rPr lang="en-US" sz="3400" b="1" dirty="0" err="1">
                <a:solidFill>
                  <a:schemeClr val="tx2"/>
                </a:solidFill>
              </a:rPr>
              <a:t>Patrones</a:t>
            </a:r>
            <a:r>
              <a:rPr lang="en-US" sz="3400" b="1" dirty="0">
                <a:solidFill>
                  <a:schemeClr val="tx2"/>
                </a:solidFill>
              </a:rPr>
              <a:t>: Diagramas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Observer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4846320" y="10515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Mediator</a:t>
            </a:r>
            <a:endParaRPr lang="en-US" sz="2000" dirty="0"/>
          </a:p>
        </p:txBody>
      </p:sp>
      <p:sp>
        <p:nvSpPr>
          <p:cNvPr id="5" name="Separador"/>
          <p:cNvSpPr/>
          <p:nvPr/>
        </p:nvSpPr>
        <p:spPr>
          <a:xfrm>
            <a:off x="4526280" y="1097280"/>
            <a:ext cx="0" cy="347472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6" name="Subject notify()"/>
          <p:cNvSpPr/>
          <p:nvPr/>
        </p:nvSpPr>
        <p:spPr>
          <a:xfrm>
            <a:off x="548640" y="1920240"/>
            <a:ext cx="1371600" cy="1280160"/>
          </a:xfrm>
          <a:prstGeom prst="rect">
            <a:avLst/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7" name="Text 5"/>
          <p:cNvSpPr txBox="1"/>
          <p:nvPr/>
        </p:nvSpPr>
        <p:spPr>
          <a:xfrm>
            <a:off x="548640" y="192024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Subject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notify()</a:t>
            </a:r>
            <a:endParaRPr lang="en-US" sz="1200" dirty="0"/>
          </a:p>
        </p:txBody>
      </p:sp>
      <p:sp>
        <p:nvSpPr>
          <p:cNvPr id="8" name="Observer A"/>
          <p:cNvSpPr/>
          <p:nvPr/>
        </p:nvSpPr>
        <p:spPr>
          <a:xfrm>
            <a:off x="2926080" y="1463040"/>
            <a:ext cx="1371600" cy="54864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9" name="Text 7"/>
          <p:cNvSpPr txBox="1"/>
          <p:nvPr/>
        </p:nvSpPr>
        <p:spPr>
          <a:xfrm>
            <a:off x="2926080" y="14630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Observer A</a:t>
            </a:r>
            <a:endParaRPr lang="en-US" sz="1200" dirty="0"/>
          </a:p>
        </p:txBody>
      </p:sp>
      <p:sp>
        <p:nvSpPr>
          <p:cNvPr id="10" name="Observer B"/>
          <p:cNvSpPr/>
          <p:nvPr/>
        </p:nvSpPr>
        <p:spPr>
          <a:xfrm>
            <a:off x="2926080" y="2286000"/>
            <a:ext cx="1371600" cy="54864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1" name="Text 9"/>
          <p:cNvSpPr txBox="1"/>
          <p:nvPr/>
        </p:nvSpPr>
        <p:spPr>
          <a:xfrm>
            <a:off x="2926080" y="22860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Observer B</a:t>
            </a:r>
            <a:endParaRPr lang="en-US" sz="1200" dirty="0"/>
          </a:p>
        </p:txBody>
      </p:sp>
      <p:sp>
        <p:nvSpPr>
          <p:cNvPr id="12" name="Observer C"/>
          <p:cNvSpPr/>
          <p:nvPr/>
        </p:nvSpPr>
        <p:spPr>
          <a:xfrm>
            <a:off x="2926080" y="3108960"/>
            <a:ext cx="1371600" cy="54864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3" name="Text 11"/>
          <p:cNvSpPr txBox="1"/>
          <p:nvPr/>
        </p:nvSpPr>
        <p:spPr>
          <a:xfrm>
            <a:off x="2926080" y="31089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Observer C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 flipV="1">
            <a:off x="1920240" y="1737360"/>
            <a:ext cx="1005840" cy="82296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s-419"/>
          </a:p>
        </p:txBody>
      </p:sp>
      <p:sp>
        <p:nvSpPr>
          <p:cNvPr id="15" name="Shape 13"/>
          <p:cNvSpPr/>
          <p:nvPr/>
        </p:nvSpPr>
        <p:spPr>
          <a:xfrm>
            <a:off x="1920240" y="2560320"/>
            <a:ext cx="100584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s-419"/>
          </a:p>
        </p:txBody>
      </p:sp>
      <p:sp>
        <p:nvSpPr>
          <p:cNvPr id="16" name="Shape 14"/>
          <p:cNvSpPr/>
          <p:nvPr/>
        </p:nvSpPr>
        <p:spPr>
          <a:xfrm>
            <a:off x="1920240" y="2560320"/>
            <a:ext cx="1005840" cy="82296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s-419"/>
          </a:p>
        </p:txBody>
      </p:sp>
      <p:sp>
        <p:nvSpPr>
          <p:cNvPr id="17" name="Mediator"/>
          <p:cNvSpPr/>
          <p:nvPr/>
        </p:nvSpPr>
        <p:spPr>
          <a:xfrm>
            <a:off x="5943600" y="1463040"/>
            <a:ext cx="1554480" cy="640080"/>
          </a:xfrm>
          <a:prstGeom prst="rect">
            <a:avLst/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8" name="Text 16"/>
          <p:cNvSpPr txBox="1"/>
          <p:nvPr/>
        </p:nvSpPr>
        <p:spPr>
          <a:xfrm>
            <a:off x="5943600" y="14630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Mediator</a:t>
            </a:r>
            <a:endParaRPr lang="en-US" sz="1200" dirty="0"/>
          </a:p>
        </p:txBody>
      </p:sp>
      <p:sp>
        <p:nvSpPr>
          <p:cNvPr id="19" name="Colleague A"/>
          <p:cNvSpPr/>
          <p:nvPr/>
        </p:nvSpPr>
        <p:spPr>
          <a:xfrm>
            <a:off x="4846320" y="2926080"/>
            <a:ext cx="1097280" cy="6400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0" name="Text 18"/>
          <p:cNvSpPr txBox="1"/>
          <p:nvPr/>
        </p:nvSpPr>
        <p:spPr>
          <a:xfrm>
            <a:off x="4846320" y="29260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Colleague A</a:t>
            </a:r>
            <a:endParaRPr lang="en-US" sz="1200" dirty="0"/>
          </a:p>
        </p:txBody>
      </p:sp>
      <p:sp>
        <p:nvSpPr>
          <p:cNvPr id="21" name="Colleague B"/>
          <p:cNvSpPr/>
          <p:nvPr/>
        </p:nvSpPr>
        <p:spPr>
          <a:xfrm>
            <a:off x="6172200" y="2926080"/>
            <a:ext cx="1097280" cy="6400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2" name="Text 20"/>
          <p:cNvSpPr txBox="1"/>
          <p:nvPr/>
        </p:nvSpPr>
        <p:spPr>
          <a:xfrm>
            <a:off x="6172200" y="29260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Colleague B</a:t>
            </a:r>
            <a:endParaRPr lang="en-US" sz="1200" dirty="0"/>
          </a:p>
        </p:txBody>
      </p:sp>
      <p:sp>
        <p:nvSpPr>
          <p:cNvPr id="23" name="Colleague C"/>
          <p:cNvSpPr/>
          <p:nvPr/>
        </p:nvSpPr>
        <p:spPr>
          <a:xfrm>
            <a:off x="7498080" y="2926080"/>
            <a:ext cx="1097280" cy="6400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4" name="Text 22"/>
          <p:cNvSpPr txBox="1"/>
          <p:nvPr/>
        </p:nvSpPr>
        <p:spPr>
          <a:xfrm>
            <a:off x="7498080" y="29260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Colleague C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 flipV="1">
            <a:off x="5394960" y="2103120"/>
            <a:ext cx="822960" cy="82296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s-419"/>
          </a:p>
        </p:txBody>
      </p:sp>
      <p:sp>
        <p:nvSpPr>
          <p:cNvPr id="26" name="Shape 24"/>
          <p:cNvSpPr/>
          <p:nvPr/>
        </p:nvSpPr>
        <p:spPr>
          <a:xfrm>
            <a:off x="6720840" y="2103120"/>
            <a:ext cx="0" cy="82296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s-419"/>
          </a:p>
        </p:txBody>
      </p:sp>
      <p:sp>
        <p:nvSpPr>
          <p:cNvPr id="27" name="Shape 25"/>
          <p:cNvSpPr/>
          <p:nvPr/>
        </p:nvSpPr>
        <p:spPr>
          <a:xfrm>
            <a:off x="7223760" y="2103120"/>
            <a:ext cx="822960" cy="82296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s-419"/>
          </a:p>
        </p:txBody>
      </p:sp>
      <p:sp>
        <p:nvSpPr>
          <p:cNvPr id="28" name="Text 26"/>
          <p:cNvSpPr txBox="1"/>
          <p:nvPr/>
        </p:nvSpPr>
        <p:spPr>
          <a:xfrm>
            <a:off x="548640" y="38404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El Subject avisa a todos sus Observers con notify(). En SOA, el broker entrega el evento.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846320" y="38404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Todos hablan con el Mediator, que coordina; los Colleagues no se conocen entre sí.</a:t>
            </a:r>
            <a:endParaRPr lang="en-US" sz="14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5FA4C54D-F8F7-667D-27BC-8658065CB91A}"/>
              </a:ext>
            </a:extLst>
          </p:cNvPr>
          <p:cNvSpPr/>
          <p:nvPr/>
        </p:nvSpPr>
        <p:spPr>
          <a:xfrm>
            <a:off x="7620000" y="-762000"/>
            <a:ext cx="2476500" cy="24765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sz="135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7116F78-536A-8DEB-2C90-7E0E23F1D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250" y="238125"/>
            <a:ext cx="7620000" cy="666750"/>
          </a:xfrm>
        </p:spPr>
        <p:txBody>
          <a:bodyPr anchor="ctr">
            <a:normAutofit/>
          </a:bodyPr>
          <a:lstStyle/>
          <a:p>
            <a:pPr algn="l"/>
            <a:r>
              <a:rPr lang="es-MX" sz="2700" b="1" dirty="0">
                <a:solidFill>
                  <a:srgbClr val="FFFFFF"/>
                </a:solidFill>
                <a:latin typeface="Calibri" panose="020F0502020204030204" pitchFamily="34" charset="0"/>
              </a:rPr>
              <a:t>6</a:t>
            </a:r>
            <a:r>
              <a:rPr lang="es-CO" sz="2700" b="1" dirty="0">
                <a:solidFill>
                  <a:srgbClr val="FFFFFF"/>
                </a:solidFill>
                <a:latin typeface="Calibri" panose="020F0502020204030204" pitchFamily="34" charset="0"/>
              </a:rPr>
              <a:t>. Demostración </a:t>
            </a:r>
            <a:r>
              <a:rPr lang="es-CO" sz="2700" b="1" dirty="0" err="1">
                <a:solidFill>
                  <a:srgbClr val="FFFFFF"/>
                </a:solidFill>
                <a:latin typeface="Calibri" panose="020F0502020204030204" pitchFamily="34" charset="0"/>
              </a:rPr>
              <a:t>Observer</a:t>
            </a:r>
            <a:endParaRPr lang="es-CO" sz="2700" b="1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24" name="Rounded Rectangle 2">
            <a:extLst>
              <a:ext uri="{FF2B5EF4-FFF2-40B4-BE49-F238E27FC236}">
                <a16:creationId xmlns:a16="http://schemas.microsoft.com/office/drawing/2014/main" id="{251F3E1A-00CD-40F5-8C3B-ED106DFDCE14}"/>
              </a:ext>
            </a:extLst>
          </p:cNvPr>
          <p:cNvSpPr/>
          <p:nvPr/>
        </p:nvSpPr>
        <p:spPr>
          <a:xfrm>
            <a:off x="389114" y="904875"/>
            <a:ext cx="6901148" cy="4069080"/>
          </a:xfrm>
          <a:prstGeom prst="roundRect">
            <a:avLst>
              <a:gd name="adj" fmla="val 4067"/>
            </a:avLst>
          </a:prstGeom>
          <a:solidFill>
            <a:srgbClr val="1A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D0D8BA4A-1C0B-F821-C7A1-AF3C9FED97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087" t="10007" r="7068" b="9250"/>
          <a:stretch>
            <a:fillRect/>
          </a:stretch>
        </p:blipFill>
        <p:spPr>
          <a:xfrm>
            <a:off x="554454" y="999456"/>
            <a:ext cx="6561241" cy="3974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2020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fade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5FA4C54D-F8F7-667D-27BC-8658065CB91A}"/>
              </a:ext>
            </a:extLst>
          </p:cNvPr>
          <p:cNvSpPr/>
          <p:nvPr/>
        </p:nvSpPr>
        <p:spPr>
          <a:xfrm>
            <a:off x="7620000" y="-762000"/>
            <a:ext cx="2476500" cy="24765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sz="135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7116F78-536A-8DEB-2C90-7E0E23F1D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250" y="238125"/>
            <a:ext cx="7620000" cy="666750"/>
          </a:xfrm>
        </p:spPr>
        <p:txBody>
          <a:bodyPr anchor="ctr">
            <a:normAutofit/>
          </a:bodyPr>
          <a:lstStyle/>
          <a:p>
            <a:pPr algn="l"/>
            <a:r>
              <a:rPr lang="es-MX" sz="2700" b="1" dirty="0">
                <a:solidFill>
                  <a:srgbClr val="FFFFFF"/>
                </a:solidFill>
                <a:latin typeface="Calibri" panose="020F0502020204030204" pitchFamily="34" charset="0"/>
              </a:rPr>
              <a:t>6</a:t>
            </a:r>
            <a:r>
              <a:rPr lang="es-CO" sz="2700" b="1" dirty="0">
                <a:solidFill>
                  <a:srgbClr val="FFFFFF"/>
                </a:solidFill>
                <a:latin typeface="Calibri" panose="020F0502020204030204" pitchFamily="34" charset="0"/>
              </a:rPr>
              <a:t>. Demostración Mediator</a:t>
            </a:r>
          </a:p>
        </p:txBody>
      </p:sp>
      <p:sp>
        <p:nvSpPr>
          <p:cNvPr id="24" name="Rounded Rectangle 2">
            <a:extLst>
              <a:ext uri="{FF2B5EF4-FFF2-40B4-BE49-F238E27FC236}">
                <a16:creationId xmlns:a16="http://schemas.microsoft.com/office/drawing/2014/main" id="{251F3E1A-00CD-40F5-8C3B-ED106DFDCE14}"/>
              </a:ext>
            </a:extLst>
          </p:cNvPr>
          <p:cNvSpPr/>
          <p:nvPr/>
        </p:nvSpPr>
        <p:spPr>
          <a:xfrm>
            <a:off x="389113" y="904875"/>
            <a:ext cx="7392811" cy="4069080"/>
          </a:xfrm>
          <a:prstGeom prst="roundRect">
            <a:avLst>
              <a:gd name="adj" fmla="val 4067"/>
            </a:avLst>
          </a:prstGeom>
          <a:solidFill>
            <a:srgbClr val="1A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D0D8BA4A-1C0B-F821-C7A1-AF3C9FED97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32" r="2717"/>
          <a:stretch/>
        </p:blipFill>
        <p:spPr>
          <a:xfrm>
            <a:off x="634944" y="982980"/>
            <a:ext cx="6901148" cy="3826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350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fade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6C99EE61-333B-7783-D814-D31484674B47}"/>
              </a:ext>
            </a:extLst>
          </p:cNvPr>
          <p:cNvSpPr/>
          <p:nvPr/>
        </p:nvSpPr>
        <p:spPr>
          <a:xfrm>
            <a:off x="7620000" y="-762000"/>
            <a:ext cx="2476500" cy="24765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sz="135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61CF72A-16DB-3521-6B3A-546C13096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253" y="238125"/>
            <a:ext cx="2225383" cy="666750"/>
          </a:xfrm>
        </p:spPr>
        <p:txBody>
          <a:bodyPr anchor="ctr">
            <a:normAutofit/>
          </a:bodyPr>
          <a:lstStyle/>
          <a:p>
            <a:pPr algn="l"/>
            <a:r>
              <a:rPr lang="es-MX" sz="2700" b="1" dirty="0">
                <a:solidFill>
                  <a:srgbClr val="FFFFFF"/>
                </a:solidFill>
                <a:latin typeface="Calibri" panose="020F0502020204030204" pitchFamily="34" charset="0"/>
              </a:rPr>
              <a:t>7. Conclusión</a:t>
            </a:r>
            <a:endParaRPr lang="es-CO" sz="2700" b="1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207870B7-4AD4-9A72-12C7-138960EE11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7402226"/>
              </p:ext>
            </p:extLst>
          </p:nvPr>
        </p:nvGraphicFramePr>
        <p:xfrm>
          <a:off x="476252" y="1190625"/>
          <a:ext cx="8069232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23064">
                  <a:extLst>
                    <a:ext uri="{9D8B030D-6E8A-4147-A177-3AD203B41FA5}">
                      <a16:colId xmlns:a16="http://schemas.microsoft.com/office/drawing/2014/main" val="544620253"/>
                    </a:ext>
                  </a:extLst>
                </a:gridCol>
                <a:gridCol w="1546168">
                  <a:extLst>
                    <a:ext uri="{9D8B030D-6E8A-4147-A177-3AD203B41FA5}">
                      <a16:colId xmlns:a16="http://schemas.microsoft.com/office/drawing/2014/main" val="1056622285"/>
                    </a:ext>
                  </a:extLst>
                </a:gridCol>
              </a:tblGrid>
              <a:tr h="628650">
                <a:tc>
                  <a:txBody>
                    <a:bodyPr/>
                    <a:lstStyle/>
                    <a:p>
                      <a:r>
                        <a:rPr lang="es-CO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Si necesitas</a:t>
                      </a:r>
                    </a:p>
                  </a:txBody>
                  <a:tcPr marL="68580" marR="68580" marT="34290" marB="34290" anchor="ctr">
                    <a:solidFill>
                      <a:srgbClr val="647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Usa</a:t>
                      </a:r>
                    </a:p>
                  </a:txBody>
                  <a:tcPr marL="68580" marR="68580" marT="34290" marB="34290" anchor="ctr">
                    <a:solidFill>
                      <a:srgbClr val="647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85898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lang="es-CO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Integrar sistemas o equipos independientes que escalan por separado</a:t>
                      </a:r>
                    </a:p>
                  </a:txBody>
                  <a:tcPr marL="68580" marR="68580" marT="34290" marB="34290" anchor="ctr">
                    <a:solidFill>
                      <a:srgbClr val="3038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0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SOA</a:t>
                      </a:r>
                    </a:p>
                  </a:txBody>
                  <a:tcPr marL="68580" marR="68580" marT="34290" marB="34290" anchor="ctr">
                    <a:solidFill>
                      <a:srgbClr val="20265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6793442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lang="es-MX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Que varios objetos reaccionen a un cambio de estado</a:t>
                      </a:r>
                      <a:endParaRPr lang="es-CO" sz="1600" b="1" dirty="0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68580" marR="68580" marT="34290" marB="34290" anchor="ctr">
                    <a:solidFill>
                      <a:srgbClr val="3038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600" b="0" dirty="0" err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Observer</a:t>
                      </a:r>
                      <a:endParaRPr lang="es-CO" sz="1600" b="0" dirty="0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68580" marR="68580" marT="34290" marB="34290" anchor="ctr">
                    <a:solidFill>
                      <a:srgbClr val="1A1F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4721793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r>
                        <a:rPr lang="es-MX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Coordinar muchos componentes que hoy se llaman entre sí</a:t>
                      </a:r>
                      <a:endParaRPr lang="es-CO" sz="1600" b="1" dirty="0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68580" marR="68580" marT="34290" marB="34290" anchor="ctr">
                    <a:solidFill>
                      <a:srgbClr val="3038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600" b="0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Mediator</a:t>
                      </a:r>
                      <a:endParaRPr lang="es-CO" sz="1600" b="0" dirty="0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68580" marR="68580" marT="34290" marB="34290" anchor="ctr">
                    <a:solidFill>
                      <a:srgbClr val="20265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7621331"/>
                  </a:ext>
                </a:extLst>
              </a:tr>
            </a:tbl>
          </a:graphicData>
        </a:graphic>
      </p:graphicFrame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5F5454D4-CD26-3A8C-F9B5-CA359EC50FC5}"/>
              </a:ext>
            </a:extLst>
          </p:cNvPr>
          <p:cNvSpPr/>
          <p:nvPr/>
        </p:nvSpPr>
        <p:spPr>
          <a:xfrm>
            <a:off x="476252" y="3924300"/>
            <a:ext cx="8069232" cy="781050"/>
          </a:xfrm>
          <a:prstGeom prst="roundRect">
            <a:avLst>
              <a:gd name="adj" fmla="val 15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600" dirty="0">
                <a:solidFill>
                  <a:srgbClr val="FFC000"/>
                </a:solidFill>
                <a:latin typeface="Calibri" panose="020F0502020204030204" pitchFamily="34" charset="0"/>
              </a:rPr>
              <a:t>No compiten: se combinan. SOA organiza el sistema; </a:t>
            </a:r>
            <a:r>
              <a:rPr lang="es-MX" sz="1600" dirty="0" err="1">
                <a:solidFill>
                  <a:srgbClr val="FFC000"/>
                </a:solidFill>
                <a:latin typeface="Calibri" panose="020F0502020204030204" pitchFamily="34" charset="0"/>
              </a:rPr>
              <a:t>Observer</a:t>
            </a:r>
            <a:r>
              <a:rPr lang="es-MX" sz="1600" dirty="0">
                <a:solidFill>
                  <a:srgbClr val="FFC000"/>
                </a:solidFill>
                <a:latin typeface="Calibri" panose="020F0502020204030204" pitchFamily="34" charset="0"/>
              </a:rPr>
              <a:t> y Mediator organizan su código.</a:t>
            </a:r>
            <a:endParaRPr lang="es-CO" sz="1600" dirty="0">
              <a:solidFill>
                <a:srgbClr val="FFC00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75336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theme/theme1.xml><?xml version="1.0" encoding="utf-8"?>
<a:theme xmlns:a="http://schemas.openxmlformats.org/drawingml/2006/main" name="Azul">
  <a:themeElements>
    <a:clrScheme name="Azul">
      <a:dk1>
        <a:srgbClr val="222222"/>
      </a:dk1>
      <a:lt1>
        <a:srgbClr val="FFFFFF"/>
      </a:lt1>
      <a:dk2>
        <a:srgbClr val="1F4E9C"/>
      </a:dk2>
      <a:lt2>
        <a:srgbClr val="E8F0FB"/>
      </a:lt2>
      <a:accent1>
        <a:srgbClr val="1F4E9C"/>
      </a:accent1>
      <a:accent2>
        <a:srgbClr val="4A90D9"/>
      </a:accent2>
      <a:accent3>
        <a:srgbClr val="9CC3EE"/>
      </a:accent3>
      <a:accent4>
        <a:srgbClr val="E76F51"/>
      </a:accent4>
      <a:accent5>
        <a:srgbClr val="6C8EAD"/>
      </a:accent5>
      <a:accent6>
        <a:srgbClr val="5B9E6B"/>
      </a:accent6>
      <a:hlink>
        <a:srgbClr val="1F4E9C"/>
      </a:hlink>
      <a:folHlink>
        <a:srgbClr val="6C8EAD"/>
      </a:folHlink>
    </a:clrScheme>
    <a:fontScheme name="Azu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Dark Gradient</Template>
  <TotalTime>346</TotalTime>
  <Words>693</Words>
  <Application>Microsoft Office PowerPoint</Application>
  <PresentationFormat>Presentación en pantalla (16:9)</PresentationFormat>
  <Paragraphs>110</Paragraphs>
  <Slides>12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Calibri</vt:lpstr>
      <vt:lpstr>Mona Sans VF</vt:lpstr>
      <vt:lpstr>Azul</vt:lpstr>
      <vt:lpstr>Arquitectura Orientada a Servicios (SOA)</vt:lpstr>
      <vt:lpstr>1. SOA: Definición</vt:lpstr>
      <vt:lpstr>2. SOA: Características</vt:lpstr>
      <vt:lpstr>3. SOA: Diagrama</vt:lpstr>
      <vt:lpstr>6. Demostración SOA</vt:lpstr>
      <vt:lpstr>Patrones Observer y Mediator</vt:lpstr>
      <vt:lpstr>1. Patrones: Definición</vt:lpstr>
      <vt:lpstr>2. Patrones: Características</vt:lpstr>
      <vt:lpstr>3. Patrones: Diagramas</vt:lpstr>
      <vt:lpstr>6. Demostración Observer</vt:lpstr>
      <vt:lpstr>6. Demostración Mediator</vt:lpstr>
      <vt:lpstr>7. Conclusión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SOA: patrones Observer y Mediator</dc:title>
  <dc:subject>PptxGenJS Presentation</dc:subject>
  <dc:creator>PptxGenJS</dc:creator>
  <cp:lastModifiedBy>Brandon Duvan</cp:lastModifiedBy>
  <cp:revision>8</cp:revision>
  <dcterms:created xsi:type="dcterms:W3CDTF">2026-10-14T14:14:31Z</dcterms:created>
  <dcterms:modified xsi:type="dcterms:W3CDTF">2026-10-16T01:33:09Z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c111285-cafa-4fc9-8a9a-bd902089b24f_Enabled">
    <vt:lpwstr>true</vt:lpwstr>
  </property>
  <property fmtid="{D5CDD505-2E9C-101B-9397-08002B2CF9AE}" pid="3" name="MSIP_Label_fc111285-cafa-4fc9-8a9a-bd902089b24f_SetDate">
    <vt:lpwstr>2026-10-15T13:57:14Z</vt:lpwstr>
  </property>
  <property fmtid="{D5CDD505-2E9C-101B-9397-08002B2CF9AE}" pid="4" name="MSIP_Label_fc111285-cafa-4fc9-8a9a-bd902089b24f_Method">
    <vt:lpwstr>Privileged</vt:lpwstr>
  </property>
  <property fmtid="{D5CDD505-2E9C-101B-9397-08002B2CF9AE}" pid="5" name="MSIP_Label_fc111285-cafa-4fc9-8a9a-bd902089b24f_Name">
    <vt:lpwstr>Public</vt:lpwstr>
  </property>
  <property fmtid="{D5CDD505-2E9C-101B-9397-08002B2CF9AE}" pid="6" name="MSIP_Label_fc111285-cafa-4fc9-8a9a-bd902089b24f_SiteId">
    <vt:lpwstr>cbc2c381-2f2e-4d93-91d1-506c9316ace7</vt:lpwstr>
  </property>
  <property fmtid="{D5CDD505-2E9C-101B-9397-08002B2CF9AE}" pid="7" name="MSIP_Label_fc111285-cafa-4fc9-8a9a-bd902089b24f_ActionId">
    <vt:lpwstr>467b71e2-0262-4a97-8278-39a3d845f4a1</vt:lpwstr>
  </property>
  <property fmtid="{D5CDD505-2E9C-101B-9397-08002B2CF9AE}" pid="8" name="MSIP_Label_fc111285-cafa-4fc9-8a9a-bd902089b24f_ContentBits">
    <vt:lpwstr>0</vt:lpwstr>
  </property>
  <property fmtid="{D5CDD505-2E9C-101B-9397-08002B2CF9AE}" pid="9" name="MSIP_Label_fc111285-cafa-4fc9-8a9a-bd902089b24f_Tag">
    <vt:lpwstr>10, 0, 1, 1</vt:lpwstr>
  </property>
</Properties>
</file>