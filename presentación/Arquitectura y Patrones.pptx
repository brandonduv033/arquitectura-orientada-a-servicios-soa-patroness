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892873"/>
            <a:ext cx="6096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91000" y="1927026"/>
            <a:ext cx="381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EA5E9"/>
                </a:solidFill>
                <a:latin typeface="Inter"/>
              </a:rPr>
              <a:t>FUNDAMENTOS ESTRUCTURALES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2346126"/>
            <a:ext cx="11251406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 dirty="0">
                <a:solidFill>
                  <a:srgbClr val="F8FAFC"/>
                </a:solidFill>
                <a:latin typeface="Inter"/>
              </a:rPr>
              <a:t>De </a:t>
            </a:r>
            <a:r>
              <a:rPr sz="5400" b="1" i="0" u="none" dirty="0" err="1">
                <a:solidFill>
                  <a:srgbClr val="F8FAFC"/>
                </a:solidFill>
                <a:latin typeface="Inter"/>
              </a:rPr>
              <a:t>Arquitectura</a:t>
            </a:r>
            <a:r>
              <a:rPr sz="5400" b="1" i="0" u="none" dirty="0">
                <a:solidFill>
                  <a:srgbClr val="F8FAFC"/>
                </a:solidFill>
                <a:latin typeface="Inter"/>
              </a:rPr>
              <a:t> Global a </a:t>
            </a:r>
            <a:r>
              <a:rPr sz="5400" b="1" i="0" u="none" dirty="0" err="1">
                <a:solidFill>
                  <a:srgbClr val="F8FAFC"/>
                </a:solidFill>
                <a:latin typeface="Inter"/>
              </a:rPr>
              <a:t>Patrones</a:t>
            </a:r>
            <a:r>
              <a:rPr sz="5400" b="1" i="0" u="none" dirty="0">
                <a:solidFill>
                  <a:srgbClr val="F8FAFC"/>
                </a:solidFill>
                <a:latin typeface="Inter"/>
              </a:rPr>
              <a:t> Locales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2281" y="4159448"/>
            <a:ext cx="616743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94A3B8"/>
                </a:solidFill>
                <a:latin typeface="Inter"/>
              </a:rPr>
              <a:t>Análisis técnico de SOA, Observer y Mediator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705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272" y="0"/>
            <a:ext cx="5486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1528762"/>
            <a:ext cx="72009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Jerarquía de 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452687"/>
            <a:ext cx="6858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NIVEL MACRO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90812"/>
            <a:ext cx="72009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Arquitectura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28962"/>
            <a:ext cx="55816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Cimientos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sistema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. Define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infraestructura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,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escalabilidad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comunicación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 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081462"/>
            <a:ext cx="6858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NIVEL MICRO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319587"/>
            <a:ext cx="72009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Patrones de Diseño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757737"/>
            <a:ext cx="55816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Soluciones tácticas locales. Resuelven organización de memoria y dependencias.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30971"/>
            <a:ext cx="3454449" cy="2719982"/>
          </a:xfrm>
          <a:prstGeom prst="roundRect">
            <a:avLst>
              <a:gd name="adj" fmla="val 560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530971"/>
            <a:ext cx="3454449" cy="2719982"/>
          </a:xfrm>
          <a:prstGeom prst="roundRect">
            <a:avLst>
              <a:gd name="adj" fmla="val 560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650926"/>
            <a:ext cx="3454449" cy="2480071"/>
          </a:xfrm>
          <a:prstGeom prst="roundRect">
            <a:avLst>
              <a:gd name="adj" fmla="val 61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530971"/>
            <a:ext cx="3454449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68849" y="2530971"/>
            <a:ext cx="3454449" cy="571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28099" y="2650926"/>
            <a:ext cx="3454449" cy="571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73896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49" y="3073896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99" y="3193851"/>
            <a:ext cx="3810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381000" y="762000"/>
            <a:ext cx="12954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Inter"/>
              </a:rPr>
              <a:t>Definiciones Fundamentales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45396"/>
            <a:ext cx="373386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SOA (Arquitectura)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74021"/>
            <a:ext cx="294009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Servicios independientes. Comunicación vía protocolos de red estándar.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649" y="3645396"/>
            <a:ext cx="373386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Observer (Patrón)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649" y="4074021"/>
            <a:ext cx="294009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Modelo de suscripción. Notificación automática ante cambios de estado.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899" y="3765351"/>
            <a:ext cx="373386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Mediator (Patrón)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899" y="4193976"/>
            <a:ext cx="294009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Nodo central de control. Elimina conexiones directas caóticas.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1838325"/>
            <a:ext cx="762000" cy="76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050" y="3057525"/>
            <a:ext cx="762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050" y="4276725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4550" y="2066925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1700" y="3286125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0750" y="4505325"/>
            <a:ext cx="2286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7620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Características Estructurales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850" y="1928812"/>
            <a:ext cx="9201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Despliegue Aislado (SOA)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850" y="2281237"/>
            <a:ext cx="9096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Bases de datos independientes. Contratos de interfaz agnósticos (REST/SOAP).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850" y="3148012"/>
            <a:ext cx="763845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Comportamiento Reactivo (Observer)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850" y="3500437"/>
            <a:ext cx="727471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Flujo de datos unidireccional. Relación dinámica uno-a-muchos.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850" y="4367212"/>
            <a:ext cx="852606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Encapsulamiento de Flujo (Mediator)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850" y="4719637"/>
            <a:ext cx="81200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Topología de estrella. Los componentes ignoran la existencia del resto.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43150"/>
            <a:ext cx="5181600" cy="3095625"/>
          </a:xfrm>
          <a:prstGeom prst="roundRect">
            <a:avLst>
              <a:gd name="adj" fmla="val 49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0" y="2190750"/>
            <a:ext cx="5181600" cy="3400425"/>
          </a:xfrm>
          <a:prstGeom prst="roundRect">
            <a:avLst>
              <a:gd name="adj" fmla="val 44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438400" y="3305175"/>
            <a:ext cx="1524000" cy="60960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19900" y="334327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0500" y="3714750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20100" y="3152775"/>
            <a:ext cx="1143000" cy="11430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91700" y="3714750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01300" y="334327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82075" y="4067175"/>
            <a:ext cx="19050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10600" y="444817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09775" y="4143375"/>
            <a:ext cx="19050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543050" y="4600575"/>
            <a:ext cx="952500" cy="4572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90875" y="4143375"/>
            <a:ext cx="19050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724150" y="4600575"/>
            <a:ext cx="952500" cy="4572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71975" y="4143375"/>
            <a:ext cx="19050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905250" y="4600575"/>
            <a:ext cx="952500" cy="4572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-381000" y="609600"/>
            <a:ext cx="12954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Inter"/>
              </a:rPr>
              <a:t>Modelos de Interacción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1287" y="2724150"/>
            <a:ext cx="139017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Observer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7900" y="3305175"/>
            <a:ext cx="19050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Sujeto (Estado)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6775" y="2571750"/>
            <a:ext cx="136017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Mediator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7025" y="3343275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Nodo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7225" y="3152775"/>
            <a:ext cx="142875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Mediador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58425" y="3343275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Nodo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725" y="4448175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Nodo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0175" y="4600575"/>
            <a:ext cx="12382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Obs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81275" y="4600575"/>
            <a:ext cx="12382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Obs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62375" y="4600575"/>
            <a:ext cx="12382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Obs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85925"/>
            <a:ext cx="5257800" cy="4410075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1685925"/>
            <a:ext cx="5257800" cy="4410075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166937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2166937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381000" y="762000"/>
            <a:ext cx="12954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Inter"/>
              </a:rPr>
              <a:t>Análisis Crítico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800" y="2143125"/>
            <a:ext cx="5300662" cy="2762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16A34A"/>
                </a:solidFill>
                <a:latin typeface="Inter"/>
              </a:rPr>
              <a:t>Ventajas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2800" y="2143125"/>
            <a:ext cx="5029200" cy="2762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Inter"/>
              </a:rPr>
              <a:t>Desventajas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724150"/>
            <a:ext cx="5429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SOA: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Escalabilidad técnica independiente.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152775"/>
            <a:ext cx="5429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SOA: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Tolerancia a fallos por aislamiento.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581400"/>
            <a:ext cx="5429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Observer: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Extensibilidad sin modificar el núcleo.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4010025"/>
            <a:ext cx="5429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Mediator: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Código centralizado y mantenible.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2724150"/>
            <a:ext cx="5410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SOA: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Alta latencia por tráfico de 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3152775"/>
            <a:ext cx="5410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SOA: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Complejidad de despliegue y monitoreo.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3581400"/>
            <a:ext cx="4438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Observer: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Riesgo de fugas de memoria (Memory Leaks).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4210050"/>
            <a:ext cx="5410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Mediator: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Riesgo de objeto dios (Cuello de botella).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750" y="2976562"/>
            <a:ext cx="762000" cy="76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5" y="2976562"/>
            <a:ext cx="66675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8999" y="2976562"/>
            <a:ext cx="952500" cy="76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7620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Ecosistema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42" y="4052887"/>
            <a:ext cx="453396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React.js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793" y="4481512"/>
            <a:ext cx="43180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Implementación nativa de Observer (Estados, Context API, Redux).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9091" y="4052887"/>
            <a:ext cx="453396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MySQL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7043" y="4481512"/>
            <a:ext cx="43180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Persistencia aislada. Una base de datos exclusiva por servicio SOA.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470" y="4052887"/>
            <a:ext cx="449570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Cloud &amp; DevOps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6293" y="4481512"/>
            <a:ext cx="43180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Orquestación de servicios en la red (AWS, Docker, Kubernetes).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33625"/>
            <a:ext cx="6270128" cy="3533775"/>
          </a:xfrm>
          <a:prstGeom prst="roundRect">
            <a:avLst>
              <a:gd name="adj" fmla="val 323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990600"/>
            <a:ext cx="151804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chemeClr val="tx2"/>
                </a:solidFill>
                <a:latin typeface="Inter"/>
              </a:rPr>
              <a:t>DEMOSTRACIÓN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28725"/>
            <a:ext cx="8229544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Patrón Observer en 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1" y="1828800"/>
            <a:ext cx="30251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Suscripción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reactiva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a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cambios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estado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02671" y="0"/>
            <a:ext cx="748932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12271" y="2695575"/>
            <a:ext cx="6270128" cy="2809875"/>
          </a:xfrm>
          <a:prstGeom prst="roundRect">
            <a:avLst>
              <a:gd name="adj" fmla="val 406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0267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2271" y="1352550"/>
            <a:ext cx="151804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chemeClr val="tx2"/>
                </a:solidFill>
                <a:latin typeface="Inter"/>
              </a:rPr>
              <a:t>DEMOSTRACIÓN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2271" y="1590675"/>
            <a:ext cx="6879728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Contrato REST (SOA)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12271" y="2190750"/>
            <a:ext cx="687972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Un servicio consulta a otro mediante HTTP.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40871" y="2924175"/>
            <a:ext cx="5908178" cy="22621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chemeClr val="bg1">
                    <a:lumMod val="50000"/>
                  </a:schemeClr>
                </a:solidFill>
                <a:latin typeface="Inter"/>
              </a:rPr>
              <a:t>// Servicio de </a:t>
            </a:r>
            <a:r>
              <a:rPr sz="1050" b="0" i="0" u="none" dirty="0" err="1">
                <a:solidFill>
                  <a:schemeClr val="bg1">
                    <a:lumMod val="50000"/>
                  </a:schemeClr>
                </a:solidFill>
                <a:latin typeface="Inter"/>
              </a:rPr>
              <a:t>Inventario</a:t>
            </a:r>
            <a:r>
              <a:rPr sz="1050" b="0" i="0" u="none" dirty="0">
                <a:solidFill>
                  <a:schemeClr val="bg1">
                    <a:lumMod val="50000"/>
                  </a:schemeClr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chemeClr val="bg1">
                    <a:lumMod val="50000"/>
                  </a:schemeClr>
                </a:solidFill>
                <a:latin typeface="Inter"/>
              </a:rPr>
              <a:t>llamando</a:t>
            </a:r>
            <a:r>
              <a:rPr sz="1050" b="0" i="0" u="none" dirty="0">
                <a:solidFill>
                  <a:schemeClr val="bg1">
                    <a:lumMod val="50000"/>
                  </a:schemeClr>
                </a:solidFill>
                <a:latin typeface="Inter"/>
              </a:rPr>
              <a:t> a Pagos </a:t>
            </a:r>
            <a:endParaRPr lang="es-CO" sz="1050" b="0" i="0" u="none" dirty="0">
              <a:solidFill>
                <a:schemeClr val="bg1">
                  <a:lumMod val="50000"/>
                </a:schemeClr>
              </a:solidFill>
              <a:latin typeface="Inter"/>
            </a:endParaRPr>
          </a:p>
          <a:p>
            <a:pPr algn="l"/>
            <a:r>
              <a:rPr sz="1050" b="0" i="0" u="none" dirty="0" err="1">
                <a:solidFill>
                  <a:srgbClr val="E2E8F0"/>
                </a:solidFill>
                <a:latin typeface="Inter"/>
              </a:rPr>
              <a:t>app.post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(</a:t>
            </a:r>
            <a:r>
              <a:rPr sz="1050" b="0" i="0" u="none" dirty="0">
                <a:solidFill>
                  <a:srgbClr val="98C379"/>
                </a:solidFill>
                <a:latin typeface="Inter"/>
              </a:rPr>
              <a:t>'/checkout'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, </a:t>
            </a:r>
            <a:r>
              <a:rPr sz="1050" b="0" i="0" u="none" dirty="0">
                <a:solidFill>
                  <a:srgbClr val="C678DD"/>
                </a:solidFill>
                <a:latin typeface="Inter"/>
              </a:rPr>
              <a:t>async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 (req, res) =&gt; { </a:t>
            </a:r>
            <a:endParaRPr lang="es-CO" sz="1050" b="0" i="0" u="none" dirty="0">
              <a:solidFill>
                <a:srgbClr val="E2E8F0"/>
              </a:solidFill>
              <a:latin typeface="Inter"/>
            </a:endParaRPr>
          </a:p>
          <a:p>
            <a:pPr algn="l"/>
            <a:r>
              <a:rPr lang="es-CO" sz="1050" b="0" i="0" u="none" dirty="0">
                <a:solidFill>
                  <a:srgbClr val="C678DD"/>
                </a:solidFill>
                <a:latin typeface="Inter"/>
              </a:rPr>
              <a:t>	</a:t>
            </a:r>
            <a:r>
              <a:rPr sz="1050" b="0" i="0" u="none" dirty="0">
                <a:solidFill>
                  <a:srgbClr val="C678DD"/>
                </a:solidFill>
                <a:latin typeface="Inter"/>
              </a:rPr>
              <a:t>try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 { </a:t>
            </a:r>
            <a:endParaRPr lang="es-CO" sz="1050" b="0" i="0" u="none" dirty="0">
              <a:solidFill>
                <a:srgbClr val="E2E8F0"/>
              </a:solidFill>
              <a:latin typeface="Inter"/>
            </a:endParaRPr>
          </a:p>
          <a:p>
            <a:pPr algn="l"/>
            <a:r>
              <a:rPr lang="es-CO" sz="1050" dirty="0">
                <a:solidFill>
                  <a:srgbClr val="E2E8F0"/>
                </a:solidFill>
                <a:latin typeface="Inter"/>
              </a:rPr>
              <a:t>		</a:t>
            </a:r>
            <a:r>
              <a:rPr sz="1050" b="0" i="0" u="none" dirty="0">
                <a:solidFill>
                  <a:srgbClr val="C678DD"/>
                </a:solidFill>
                <a:latin typeface="Inter"/>
              </a:rPr>
              <a:t>const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 payment = </a:t>
            </a:r>
            <a:r>
              <a:rPr sz="1050" b="0" i="0" u="none" dirty="0">
                <a:solidFill>
                  <a:srgbClr val="C678DD"/>
                </a:solidFill>
                <a:latin typeface="Inter"/>
              </a:rPr>
              <a:t>await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 fetch(</a:t>
            </a:r>
            <a:r>
              <a:rPr sz="1050" b="0" i="0" u="none" dirty="0">
                <a:solidFill>
                  <a:srgbClr val="98C379"/>
                </a:solidFill>
                <a:latin typeface="Inter"/>
              </a:rPr>
              <a:t>'http://api.pagos.local/charge'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, { </a:t>
            </a:r>
            <a:endParaRPr lang="es-CO" sz="1050" b="0" i="0" u="none" dirty="0">
              <a:solidFill>
                <a:srgbClr val="E2E8F0"/>
              </a:solidFill>
              <a:latin typeface="Inter"/>
            </a:endParaRPr>
          </a:p>
          <a:p>
            <a:pPr algn="l"/>
            <a:r>
              <a:rPr lang="es-CO" sz="1050" dirty="0">
                <a:solidFill>
                  <a:srgbClr val="E2E8F0"/>
                </a:solidFill>
                <a:latin typeface="Inter"/>
              </a:rPr>
              <a:t>		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method: </a:t>
            </a:r>
            <a:r>
              <a:rPr sz="1050" b="0" i="0" u="none" dirty="0">
                <a:solidFill>
                  <a:srgbClr val="98C379"/>
                </a:solidFill>
                <a:latin typeface="Inter"/>
              </a:rPr>
              <a:t>'POST’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, </a:t>
            </a:r>
            <a:endParaRPr lang="es-CO" sz="1050" b="0" i="0" u="none" dirty="0">
              <a:solidFill>
                <a:srgbClr val="E2E8F0"/>
              </a:solidFill>
              <a:latin typeface="Inter"/>
            </a:endParaRPr>
          </a:p>
          <a:p>
            <a:pPr algn="l"/>
            <a:r>
              <a:rPr lang="es-CO" sz="1050" dirty="0">
                <a:solidFill>
                  <a:srgbClr val="E2E8F0"/>
                </a:solidFill>
                <a:latin typeface="Inter"/>
              </a:rPr>
              <a:t>		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body: </a:t>
            </a:r>
            <a:r>
              <a:rPr sz="1050" b="0" i="0" u="none" dirty="0" err="1">
                <a:solidFill>
                  <a:srgbClr val="E5C07B"/>
                </a:solidFill>
                <a:latin typeface="Inter"/>
              </a:rPr>
              <a:t>JSON</a:t>
            </a:r>
            <a:r>
              <a:rPr sz="1050" b="0" i="0" u="none" dirty="0" err="1">
                <a:solidFill>
                  <a:srgbClr val="E2E8F0"/>
                </a:solidFill>
                <a:latin typeface="Inter"/>
              </a:rPr>
              <a:t>.stringify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(</a:t>
            </a:r>
            <a:r>
              <a:rPr sz="1050" b="0" i="0" u="none" dirty="0" err="1">
                <a:solidFill>
                  <a:srgbClr val="E2E8F0"/>
                </a:solidFill>
                <a:latin typeface="Inter"/>
              </a:rPr>
              <a:t>req.body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) </a:t>
            </a:r>
            <a:endParaRPr lang="es-CO" sz="1050" b="0" i="0" u="none" dirty="0">
              <a:solidFill>
                <a:srgbClr val="E2E8F0"/>
              </a:solidFill>
              <a:latin typeface="Inter"/>
            </a:endParaRPr>
          </a:p>
          <a:p>
            <a:pPr algn="l"/>
            <a:r>
              <a:rPr lang="es-CO" sz="1050" dirty="0">
                <a:solidFill>
                  <a:srgbClr val="E2E8F0"/>
                </a:solidFill>
                <a:latin typeface="Inter"/>
              </a:rPr>
              <a:t>	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}); </a:t>
            </a:r>
            <a:endParaRPr lang="es-CO" sz="1050" b="0" i="0" u="none" dirty="0">
              <a:solidFill>
                <a:srgbClr val="E2E8F0"/>
              </a:solidFill>
              <a:latin typeface="Inter"/>
            </a:endParaRPr>
          </a:p>
          <a:p>
            <a:pPr algn="l"/>
            <a:endParaRPr lang="es-CO" sz="1050" dirty="0">
              <a:solidFill>
                <a:srgbClr val="E2E8F0"/>
              </a:solidFill>
              <a:latin typeface="Inter"/>
            </a:endParaRPr>
          </a:p>
          <a:p>
            <a:pPr algn="l"/>
            <a:r>
              <a:rPr lang="es-CO" sz="1050" b="0" i="0" u="none" dirty="0">
                <a:solidFill>
                  <a:srgbClr val="E2E8F0"/>
                </a:solidFill>
                <a:latin typeface="Inter"/>
              </a:rPr>
              <a:t>	</a:t>
            </a:r>
            <a:r>
              <a:rPr sz="1050" b="0" i="0" u="none" dirty="0">
                <a:solidFill>
                  <a:srgbClr val="C678DD"/>
                </a:solidFill>
                <a:latin typeface="Inter"/>
              </a:rPr>
              <a:t>if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 (</a:t>
            </a:r>
            <a:r>
              <a:rPr sz="1050" b="0" i="0" u="none" dirty="0" err="1">
                <a:solidFill>
                  <a:srgbClr val="E2E8F0"/>
                </a:solidFill>
                <a:latin typeface="Inter"/>
              </a:rPr>
              <a:t>payment.ok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) </a:t>
            </a:r>
            <a:r>
              <a:rPr sz="1050" b="0" i="0" u="none" dirty="0" err="1">
                <a:solidFill>
                  <a:srgbClr val="E2E8F0"/>
                </a:solidFill>
                <a:latin typeface="Inter"/>
              </a:rPr>
              <a:t>confirmInventory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(); </a:t>
            </a:r>
            <a:endParaRPr lang="es-CO" sz="1050" b="0" i="0" u="none" dirty="0">
              <a:solidFill>
                <a:srgbClr val="E2E8F0"/>
              </a:solidFill>
              <a:latin typeface="Inter"/>
            </a:endParaRPr>
          </a:p>
          <a:p>
            <a:pPr algn="l"/>
            <a:r>
              <a:rPr lang="es-CO" sz="1050" b="0" i="0" u="none" dirty="0">
                <a:solidFill>
                  <a:srgbClr val="E2E8F0"/>
                </a:solidFill>
                <a:latin typeface="Inter"/>
              </a:rPr>
              <a:t>	</a:t>
            </a:r>
          </a:p>
          <a:p>
            <a:pPr algn="l"/>
            <a:r>
              <a:rPr lang="es-CO" sz="1050" dirty="0">
                <a:solidFill>
                  <a:srgbClr val="E2E8F0"/>
                </a:solidFill>
                <a:latin typeface="Inter"/>
              </a:rPr>
              <a:t>	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} </a:t>
            </a:r>
            <a:r>
              <a:rPr sz="1050" b="0" i="0" u="none" dirty="0">
                <a:solidFill>
                  <a:srgbClr val="C678DD"/>
                </a:solidFill>
                <a:latin typeface="Inter"/>
              </a:rPr>
              <a:t>catch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 (error) { </a:t>
            </a:r>
            <a:endParaRPr lang="es-CO" sz="1050" b="0" i="0" u="none" dirty="0">
              <a:solidFill>
                <a:srgbClr val="E2E8F0"/>
              </a:solidFill>
              <a:latin typeface="Inter"/>
            </a:endParaRPr>
          </a:p>
          <a:p>
            <a:pPr algn="l"/>
            <a:r>
              <a:rPr lang="es-CO" sz="1050" dirty="0">
                <a:solidFill>
                  <a:srgbClr val="E2E8F0"/>
                </a:solidFill>
                <a:latin typeface="Inter"/>
              </a:rPr>
              <a:t>	</a:t>
            </a:r>
            <a:r>
              <a:rPr sz="1050" b="0" i="0" u="none" dirty="0" err="1">
                <a:solidFill>
                  <a:srgbClr val="E2E8F0"/>
                </a:solidFill>
                <a:latin typeface="Inter"/>
              </a:rPr>
              <a:t>res.status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(</a:t>
            </a:r>
            <a:r>
              <a:rPr sz="1050" b="0" i="0" u="none" dirty="0">
                <a:solidFill>
                  <a:srgbClr val="D19A66"/>
                </a:solidFill>
                <a:latin typeface="Inter"/>
              </a:rPr>
              <a:t>500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).send(</a:t>
            </a:r>
            <a:r>
              <a:rPr sz="1050" b="0" i="0" u="none" dirty="0">
                <a:solidFill>
                  <a:srgbClr val="98C379"/>
                </a:solidFill>
                <a:latin typeface="Inter"/>
              </a:rPr>
              <a:t>'Servicio de </a:t>
            </a:r>
            <a:r>
              <a:rPr sz="1050" b="0" i="0" u="none" dirty="0" err="1">
                <a:solidFill>
                  <a:srgbClr val="98C379"/>
                </a:solidFill>
                <a:latin typeface="Inter"/>
              </a:rPr>
              <a:t>pagos</a:t>
            </a:r>
            <a:r>
              <a:rPr sz="1050" b="0" i="0" u="none" dirty="0">
                <a:solidFill>
                  <a:srgbClr val="98C379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98C379"/>
                </a:solidFill>
                <a:latin typeface="Inter"/>
              </a:rPr>
              <a:t>caído</a:t>
            </a:r>
            <a:r>
              <a:rPr sz="1050" b="0" i="0" u="none" dirty="0">
                <a:solidFill>
                  <a:srgbClr val="98C379"/>
                </a:solidFill>
                <a:latin typeface="Inter"/>
              </a:rPr>
              <a:t>'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); </a:t>
            </a:r>
            <a:endParaRPr lang="es-CO" sz="1050" b="0" i="0" u="none" dirty="0">
              <a:solidFill>
                <a:srgbClr val="E2E8F0"/>
              </a:solidFill>
              <a:latin typeface="Inter"/>
            </a:endParaRPr>
          </a:p>
          <a:p>
            <a:pPr algn="l"/>
            <a:r>
              <a:rPr lang="es-CO" sz="1050" dirty="0">
                <a:solidFill>
                  <a:srgbClr val="E2E8F0"/>
                </a:solidFill>
                <a:latin typeface="Inter"/>
              </a:rPr>
              <a:t>	</a:t>
            </a:r>
            <a:r>
              <a:rPr sz="1050" b="0" i="0" u="none" dirty="0">
                <a:solidFill>
                  <a:srgbClr val="E2E8F0"/>
                </a:solidFill>
                <a:latin typeface="Inter"/>
              </a:rPr>
              <a:t>} </a:t>
            </a:r>
            <a:endParaRPr lang="es-CO" sz="1050" b="0" i="0" u="none" dirty="0">
              <a:solidFill>
                <a:srgbClr val="E2E8F0"/>
              </a:solidFill>
              <a:latin typeface="Inter"/>
            </a:endParaRPr>
          </a:p>
          <a:p>
            <a:pPr algn="l"/>
            <a:r>
              <a:rPr sz="1050" b="0" i="0" u="none" dirty="0">
                <a:solidFill>
                  <a:srgbClr val="E2E8F0"/>
                </a:solidFill>
                <a:latin typeface="Inter"/>
              </a:rPr>
              <a:t>});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81000" y="762000"/>
            <a:ext cx="12954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Inter"/>
              </a:rPr>
              <a:t>Criterios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243262"/>
            <a:ext cx="4117116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Usar SOA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719512"/>
            <a:ext cx="3232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Escala empresarial, equipos de desarrollo múltiples e independientes.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48162"/>
            <a:ext cx="3921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CONTEXTO MACRO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7500" y="3243262"/>
            <a:ext cx="4117116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Usar Observer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7500" y="3719512"/>
            <a:ext cx="3232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Sistemas reactivos, interfaces de usuario dinámicas (Dashboards).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7500" y="4348162"/>
            <a:ext cx="3921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REACTIVIDAD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5400" y="3243262"/>
            <a:ext cx="3746599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Usar Mediator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5400" y="3719512"/>
            <a:ext cx="3232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Formularios complejos, flujos de chat o componentes muy interconectados.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5400" y="4348162"/>
            <a:ext cx="374659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A34A"/>
                </a:solidFill>
                <a:latin typeface="Inter"/>
              </a:rPr>
              <a:t>CONTROL DE FLUJO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390775"/>
            <a:ext cx="5334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39305" y="3371850"/>
            <a:ext cx="7113389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Inter"/>
              </a:rPr>
              <a:t>Diseño Estructurado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1312" y="4248150"/>
            <a:ext cx="64293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94A3B8"/>
                </a:solidFill>
                <a:latin typeface="Inter"/>
              </a:rPr>
              <a:t>Construyendo software escalable y mantenible.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2447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447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95462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0032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33462"/>
            <a:ext cx="8929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Inter"/>
              </a:rPr>
              <a:t>https://uptimerobot.com/knowledge-hub/wp-content/uploads/2025/02/cloud-infrastructure-components-1011x1024.png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33487"/>
            <a:ext cx="22979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uptimerobot.com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762125"/>
            <a:ext cx="10048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Inter"/>
              </a:rPr>
              <a:t>https://stack.convex.dev/_next/image?url=https%3A%2F%2Fcdn.sanity.io%2Fimages%2Fts10onj4%2Fproduction%2F60a0e6e7085c1e40e933683cfd40b7b0761c7b71-1904x1125.png&amp;w=3840&amp;q=75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114550"/>
            <a:ext cx="2333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stack.convex.dev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643187"/>
            <a:ext cx="9465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Inter"/>
              </a:rPr>
              <a:t>https://images.stockcake.com/public/b/d/f/bdf206e8-c0a2-496a-b2c8-66509cf861cc/connected-network-nodes-stockcake.jpg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843212"/>
            <a:ext cx="21193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569</Words>
  <Application>Microsoft Office PowerPoint</Application>
  <PresentationFormat>Panorámica</PresentationFormat>
  <Paragraphs>92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Inter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APRENDIZ</dc:creator>
  <cp:keywords/>
  <dc:description>generated using python-pptx</dc:description>
  <cp:lastModifiedBy>24_92101060324</cp:lastModifiedBy>
  <cp:revision>4</cp:revision>
  <dcterms:created xsi:type="dcterms:W3CDTF">2013-01-27T09:14:16Z</dcterms:created>
  <dcterms:modified xsi:type="dcterms:W3CDTF">2026-10-15T15:29:17Z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2026-10-15T14:05:15Z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c1298be6-82e8-4912-9a80-4c8d7f1dc8ac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