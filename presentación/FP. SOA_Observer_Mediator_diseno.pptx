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79" r:id="rId6"/>
    <p:sldId id="260" r:id="rId7"/>
    <p:sldId id="264" r:id="rId8"/>
    <p:sldId id="265" r:id="rId9"/>
    <p:sldId id="274" r:id="rId10"/>
    <p:sldId id="278" r:id="rId11"/>
    <p:sldId id="275" r:id="rId12"/>
    <p:sldId id="276" r:id="rId13"/>
    <p:sldId id="277" r:id="rId14"/>
    <p:sldId id="261" r:id="rId15"/>
    <p:sldId id="262" r:id="rId16"/>
    <p:sldId id="266" r:id="rId17"/>
    <p:sldId id="263" r:id="rId18"/>
    <p:sldId id="269" r:id="rId19"/>
    <p:sldId id="273" r:id="rId20"/>
    <p:sldId id="272" r:id="rId21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AE3B52-FEC4-42BC-B06A-8CABB6F8B49F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42515F-3EE2-4EA1-A46A-FD31DBD2A5F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62386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13486-1119-D441-CFFA-0D4BF48BC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5CB646-D7BA-23B8-962E-7F6C14B010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18D1F0-1B18-6E38-C383-58D2DD3608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0B9C84-F9B7-B183-D328-6FA2F1584F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9353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04E60B-7F9A-9675-77A3-DA1D44A359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11E47B4-048B-D575-500F-E04EED3A8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BC8C73-ED8F-E36F-1621-8EF758F2D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E19228-CBA9-6954-F26D-8B5BD23EC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A57172-F50B-B8B1-A5DA-ADA9BA309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00678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3ACFD7-6AD2-A602-A46A-9435F882C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E55D79-9FA4-9B5F-D253-E0554D087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53B26D-D98B-3F8C-000D-63DD181D7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736A74-6AC1-E294-E991-88CDC1619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6348FD-981D-525A-408D-9C1404A9E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3301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509089-D697-D3BB-26D3-AFA2336D1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59D6A36-205A-FB5D-B548-B7EDE1A2E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D21036-BD16-1980-F12B-A5651C052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8ED95A-AA2A-3F3D-9EB6-867F29924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F77395-094F-A6ED-6DF9-6990518E7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51089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A246E2-6E35-200B-536F-48CEA3347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66C3D7-AA58-5B9D-D448-5E570E7BD9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8A6332F-2A09-7EFA-1A50-ED290739F0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FB8E707-1FAD-25B4-577B-82A20DAC3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8051302-23AE-7AE4-76B8-F4748DD20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335BCF8-4A75-AEEA-FBE2-1D27CF336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559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48D75A-AC16-7E6D-2835-3D3031DE3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53AF6BC-8470-DB8A-74FC-96EACF046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9BFA8E6-4AFC-E70A-D731-97E2E9CE6B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23C7A58-D5B7-A757-F8BB-1888975F65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765CACA-DB87-0334-8D3A-9BE82DD78A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695F097-2B41-3575-B245-84C34C670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8BAB29F-D579-82C0-FAA5-B4FCA2484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24D4B9C-02BC-FC81-B29B-39AE41985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3777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1CCAD3-7DF5-94B1-7CEF-686D535A8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3827FD4-BFE5-A255-9040-7E4D962F6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09CD20F-F8E8-E721-BFDE-59B5F47CC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04BAE63-37D6-D1E1-1078-02CD54815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63430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A43F091-DD49-1555-4CBE-9631012F9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202E41E-F808-B0CF-C6AC-BF6719332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EDE1DA9-B9A0-718C-45A1-E06F6E33E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2805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A4256B-A11D-AB6B-9F6F-AEA69AB4B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7140BB-26F5-6153-182A-59925F4EB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3149A52-5004-F96E-1E6B-C1E0C83215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9908898-25C7-1546-7755-260C38E34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D52D588-EF59-76F1-5DA7-762F36C08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F24E04F-7265-5157-F417-1B5C63F54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91856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9A8173-07BF-A28C-F317-6D2AE79E1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D512064-7370-D1E1-5869-A4DBC9B9B8D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0554678-0F5F-37E2-EA0C-32095AB6E4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C0D2B0C-FC2D-D793-6BAE-822628476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6906E5D-BADC-8CF2-E8E3-E4A6FEB8D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CB6E8C-AA80-1244-7D73-4DBD232FF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80592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56801C-E3BC-4FBE-B0E9-207DE5A6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64D3378-7605-DD38-3B5A-891910F97C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54F3B3-5D17-CFA3-8F69-F8F1331DF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463431-DDEF-D2BE-F0B9-C08E6EA0C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CFC611-7935-435D-302C-ADD14AE37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68720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4F743C1-5A8F-685A-6BFF-01CA6974F7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78E38B-EE06-89AF-C48F-3EB6C3651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F94757-D047-CD0D-ADAB-3729E501C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DA2DB3-2E37-8A31-8092-E6FC0A66F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D99AEC-59E7-F01F-4C63-15AD4D47B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351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ORTADA">
    <p:bg>
      <p:bgPr>
        <a:solidFill>
          <a:srgbClr val="1F4E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75360" y="1950720"/>
            <a:ext cx="102412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5333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5333" dirty="0"/>
          </a:p>
        </p:txBody>
      </p:sp>
    </p:spTree>
    <p:extLst>
      <p:ext uri="{BB962C8B-B14F-4D97-AF65-F5344CB8AC3E}">
        <p14:creationId xmlns:p14="http://schemas.microsoft.com/office/powerpoint/2010/main" val="33258570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365760"/>
            <a:ext cx="10728960" cy="853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533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4533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720" y="6339840"/>
            <a:ext cx="6096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33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543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1EE551A-754E-8EBF-6A69-2FD06746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36F641-D44E-36C0-614B-4DC3307FD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97DDFE-FE1E-B9A8-24C0-00D699C048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8352A7-4D7D-4A5E-A016-C2965DC63AEC}" type="datetimeFigureOut">
              <a:rPr lang="es-CO" smtClean="0"/>
              <a:t>15/10/2026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D09D7C-0847-1FAA-8DEF-F91B45E137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92C2033-36CA-E140-26E8-1F54C7116C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C55409-EAD8-4FD9-9741-7849243000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92921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9" name="Elipse 2">
            <a:extLst>
              <a:ext uri="{FF2B5EF4-FFF2-40B4-BE49-F238E27FC236}">
                <a16:creationId xmlns:a16="http://schemas.microsoft.com/office/drawing/2014/main" id="{73E27086-79B5-6F79-3728-22245EE1FBD1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s-419" b="1" dirty="0">
                <a:solidFill>
                  <a:srgbClr val="FFFFFF"/>
                </a:solidFill>
                <a:latin typeface="Calibri"/>
              </a:rPr>
              <a:t>Arquitectura Orientada a Servicios (SOA)</a:t>
            </a:r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DFDCA49-15E5-9528-7942-58D1A631B8E2}"/>
              </a:ext>
            </a:extLst>
          </p:cNvPr>
          <p:cNvSpPr txBox="1"/>
          <p:nvPr/>
        </p:nvSpPr>
        <p:spPr>
          <a:xfrm>
            <a:off x="809897" y="4598126"/>
            <a:ext cx="60960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400"/>
              </a:spcBef>
              <a:spcAft>
                <a:spcPts val="1600"/>
              </a:spcAft>
            </a:pPr>
            <a:r>
              <a:rPr lang="es-419" sz="1600" b="1" dirty="0">
                <a:solidFill>
                  <a:srgbClr val="FFFFFF"/>
                </a:solidFill>
                <a:latin typeface="Calibri"/>
              </a:rPr>
              <a:t> Integrantes del Equipo</a:t>
            </a:r>
          </a:p>
          <a:p>
            <a:pPr marL="457189" indent="-457189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s-419" sz="1600" dirty="0">
                <a:solidFill>
                  <a:srgbClr val="BEC5E6"/>
                </a:solidFill>
                <a:latin typeface="Calibri"/>
              </a:rPr>
              <a:t>David Villanueva Potosí</a:t>
            </a:r>
          </a:p>
          <a:p>
            <a:pPr marL="457189" indent="-457189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s-419" sz="1600" dirty="0">
                <a:solidFill>
                  <a:srgbClr val="BEC5E6"/>
                </a:solidFill>
                <a:latin typeface="Calibri"/>
              </a:rPr>
              <a:t>Brandon Duván Guevara Rodríguez</a:t>
            </a:r>
          </a:p>
          <a:p>
            <a:pPr marL="457189" indent="-457189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s-419" sz="1600" dirty="0">
                <a:solidFill>
                  <a:srgbClr val="BEC5E6"/>
                </a:solidFill>
                <a:latin typeface="Calibri"/>
              </a:rPr>
              <a:t>Erick Santiago Vasquez Reyes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9" name="Elipse 2">
            <a:extLst>
              <a:ext uri="{FF2B5EF4-FFF2-40B4-BE49-F238E27FC236}">
                <a16:creationId xmlns:a16="http://schemas.microsoft.com/office/drawing/2014/main" id="{73E27086-79B5-6F79-3728-22245EE1FBD1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630936" y="320040"/>
            <a:ext cx="10158984" cy="8869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Calibri"/>
              </a:rPr>
              <a:t>1. SOA: Definición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720" y="6339840"/>
            <a:ext cx="6096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33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solidFill>
                  <a:srgbClr val="BEC5E6"/>
                </a:solidFill>
              </a:rPr>
              <a:t>2</a:t>
            </a:fld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31520" y="1584960"/>
            <a:ext cx="5242560" cy="451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333"/>
              </a:spcAft>
            </a:pPr>
            <a:r>
              <a:rPr lang="en-US" sz="2000" b="1" dirty="0">
                <a:solidFill>
                  <a:srgbClr val="FFFFFF"/>
                </a:solidFill>
                <a:latin typeface="Calibri"/>
              </a:rPr>
              <a:t>Qué es: </a:t>
            </a:r>
            <a:r>
              <a:rPr lang="en-US" sz="2000" dirty="0" err="1">
                <a:solidFill>
                  <a:srgbClr val="BEC5E6"/>
                </a:solidFill>
                <a:latin typeface="Calibri"/>
              </a:rPr>
              <a:t>estilo</a:t>
            </a:r>
            <a:r>
              <a:rPr lang="en-US" sz="2000" dirty="0">
                <a:solidFill>
                  <a:srgbClr val="BEC5E6"/>
                </a:solidFill>
                <a:latin typeface="Calibri"/>
              </a:rPr>
              <a:t> de arquitectura que divide el software en servicios independientes. Cada uno hace una función de negocio y publica un contrato.</a:t>
            </a:r>
          </a:p>
          <a:p>
            <a:pPr>
              <a:spcAft>
                <a:spcPts val="1333"/>
              </a:spcAft>
            </a:pPr>
            <a:r>
              <a:rPr lang="en-US" sz="2000" b="1" dirty="0">
                <a:solidFill>
                  <a:srgbClr val="FFFFFF"/>
                </a:solidFill>
                <a:latin typeface="Calibri"/>
              </a:rPr>
              <a:t>Metáfora: </a:t>
            </a:r>
            <a:r>
              <a:rPr lang="en-US" sz="2000" dirty="0">
                <a:solidFill>
                  <a:srgbClr val="BEC5E6"/>
                </a:solidFill>
                <a:latin typeface="Calibri"/>
              </a:rPr>
              <a:t>un centro comercial; cada local hace una cosa y, si uno cierra, los demás siguen abiertos.</a:t>
            </a:r>
          </a:p>
          <a:p>
            <a:pPr>
              <a:spcAft>
                <a:spcPts val="1333"/>
              </a:spcAft>
            </a:pPr>
            <a:r>
              <a:rPr lang="en-US" sz="2000" b="1" dirty="0">
                <a:solidFill>
                  <a:srgbClr val="FFFFFF"/>
                </a:solidFill>
                <a:latin typeface="Calibri"/>
              </a:rPr>
              <a:t>Sirve para: </a:t>
            </a:r>
            <a:r>
              <a:rPr lang="en-US" sz="2000" dirty="0" err="1">
                <a:solidFill>
                  <a:srgbClr val="BEC5E6"/>
                </a:solidFill>
                <a:latin typeface="Calibri"/>
              </a:rPr>
              <a:t>integrar</a:t>
            </a:r>
            <a:r>
              <a:rPr lang="en-US" sz="2000" dirty="0">
                <a:solidFill>
                  <a:srgbClr val="BEC5E6"/>
                </a:solidFill>
                <a:latin typeface="Calibri"/>
              </a:rPr>
              <a:t> sistemas viejos y nuevos, reutilizar lógica y cambiar una parte sin romper todo.</a:t>
            </a:r>
          </a:p>
        </p:txBody>
      </p:sp>
      <p:sp>
        <p:nvSpPr>
          <p:cNvPr id="4" name="Separador"/>
          <p:cNvSpPr/>
          <p:nvPr/>
        </p:nvSpPr>
        <p:spPr>
          <a:xfrm>
            <a:off x="6278880" y="1463040"/>
            <a:ext cx="0" cy="4632960"/>
          </a:xfrm>
          <a:prstGeom prst="line">
            <a:avLst/>
          </a:prstGeom>
          <a:noFill/>
          <a:ln w="12700">
            <a:solidFill>
              <a:srgbClr val="2B3270"/>
            </a:solidFill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5" name="Text 3"/>
          <p:cNvSpPr txBox="1"/>
          <p:nvPr/>
        </p:nvSpPr>
        <p:spPr>
          <a:xfrm>
            <a:off x="6583680" y="1402080"/>
            <a:ext cx="487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67" b="1" dirty="0">
                <a:solidFill>
                  <a:srgbClr val="F4B942"/>
                </a:solidFill>
                <a:latin typeface="Calibri"/>
              </a:rPr>
              <a:t>Principios</a:t>
            </a:r>
            <a:endParaRPr lang="en-US" sz="2667" dirty="0"/>
          </a:p>
        </p:txBody>
      </p:sp>
      <p:sp>
        <p:nvSpPr>
          <p:cNvPr id="6" name="Text 4"/>
          <p:cNvSpPr txBox="1"/>
          <p:nvPr/>
        </p:nvSpPr>
        <p:spPr>
          <a:xfrm>
            <a:off x="6583680" y="2072640"/>
            <a:ext cx="4876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</a:pPr>
            <a:r>
              <a:rPr lang="en-US" sz="1733" b="1" dirty="0">
                <a:solidFill>
                  <a:srgbClr val="FFFFFF"/>
                </a:solidFill>
                <a:latin typeface="Calibri"/>
              </a:rPr>
              <a:t>Contrato estándar: </a:t>
            </a:r>
            <a:r>
              <a:rPr lang="en-US" sz="1733" dirty="0">
                <a:solidFill>
                  <a:srgbClr val="BEC5E6"/>
                </a:solidFill>
                <a:latin typeface="Calibri"/>
              </a:rPr>
              <a:t>describe qué ofrece.</a:t>
            </a:r>
          </a:p>
          <a:p>
            <a:pPr>
              <a:spcAft>
                <a:spcPts val="800"/>
              </a:spcAft>
            </a:pPr>
            <a:r>
              <a:rPr lang="en-US" sz="1733" b="1" dirty="0">
                <a:solidFill>
                  <a:srgbClr val="FFFFFF"/>
                </a:solidFill>
                <a:latin typeface="Calibri"/>
              </a:rPr>
              <a:t>Bajo acoplamiento: </a:t>
            </a:r>
            <a:r>
              <a:rPr lang="en-US" sz="1733" dirty="0">
                <a:solidFill>
                  <a:srgbClr val="BEC5E6"/>
                </a:solidFill>
                <a:latin typeface="Calibri"/>
              </a:rPr>
              <a:t>depende del contrato, no del código.</a:t>
            </a:r>
          </a:p>
          <a:p>
            <a:pPr>
              <a:spcAft>
                <a:spcPts val="800"/>
              </a:spcAft>
            </a:pPr>
            <a:r>
              <a:rPr lang="en-US" sz="1733" b="1" dirty="0">
                <a:solidFill>
                  <a:srgbClr val="FFFFFF"/>
                </a:solidFill>
                <a:latin typeface="Calibri"/>
              </a:rPr>
              <a:t>Reutilización: </a:t>
            </a:r>
            <a:r>
              <a:rPr lang="en-US" sz="1733" dirty="0">
                <a:solidFill>
                  <a:srgbClr val="BEC5E6"/>
                </a:solidFill>
                <a:latin typeface="Calibri"/>
              </a:rPr>
              <a:t>varias apps usan el mismo servicio.</a:t>
            </a:r>
          </a:p>
          <a:p>
            <a:pPr>
              <a:spcAft>
                <a:spcPts val="800"/>
              </a:spcAft>
            </a:pPr>
            <a:r>
              <a:rPr lang="en-US" sz="1733" b="1" dirty="0">
                <a:solidFill>
                  <a:srgbClr val="FFFFFF"/>
                </a:solidFill>
                <a:latin typeface="Calibri"/>
              </a:rPr>
              <a:t>Autonomía: </a:t>
            </a:r>
            <a:r>
              <a:rPr lang="en-US" sz="1733" dirty="0">
                <a:solidFill>
                  <a:srgbClr val="BEC5E6"/>
                </a:solidFill>
                <a:latin typeface="Calibri"/>
              </a:rPr>
              <a:t>cada servicio controla su lógica y datos.</a:t>
            </a:r>
          </a:p>
          <a:p>
            <a:pPr>
              <a:spcAft>
                <a:spcPts val="800"/>
              </a:spcAft>
            </a:pPr>
            <a:r>
              <a:rPr lang="en-US" sz="1733" b="1" dirty="0">
                <a:solidFill>
                  <a:srgbClr val="FFFFFF"/>
                </a:solidFill>
                <a:latin typeface="Calibri"/>
              </a:rPr>
              <a:t>Abstracción: </a:t>
            </a:r>
            <a:r>
              <a:rPr lang="en-US" sz="1733" dirty="0">
                <a:solidFill>
                  <a:srgbClr val="BEC5E6"/>
                </a:solidFill>
                <a:latin typeface="Calibri"/>
              </a:rPr>
              <a:t>el consumidor no ve el interior.</a:t>
            </a:r>
          </a:p>
          <a:p>
            <a:pPr>
              <a:spcAft>
                <a:spcPts val="800"/>
              </a:spcAft>
            </a:pPr>
            <a:r>
              <a:rPr lang="en-US" sz="1733" b="1" dirty="0">
                <a:solidFill>
                  <a:srgbClr val="FFFFFF"/>
                </a:solidFill>
                <a:latin typeface="Calibri"/>
              </a:rPr>
              <a:t>Composición: </a:t>
            </a:r>
            <a:r>
              <a:rPr lang="en-US" sz="1733" dirty="0">
                <a:solidFill>
                  <a:srgbClr val="BEC5E6"/>
                </a:solidFill>
                <a:latin typeface="Calibri"/>
              </a:rPr>
              <a:t>servicios simples forman procesos.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9" name="Elipse 2">
            <a:extLst>
              <a:ext uri="{FF2B5EF4-FFF2-40B4-BE49-F238E27FC236}">
                <a16:creationId xmlns:a16="http://schemas.microsoft.com/office/drawing/2014/main" id="{73E27086-79B5-6F79-3728-22245EE1FBD1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630936" y="320040"/>
            <a:ext cx="10158984" cy="8869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Calibri"/>
              </a:rPr>
              <a:t>2. SOA: Características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720" y="6339840"/>
            <a:ext cx="6096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33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solidFill>
                  <a:srgbClr val="BEC5E6"/>
                </a:solidFill>
              </a:rPr>
              <a:t>3</a:t>
            </a:fld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31520" y="1402080"/>
            <a:ext cx="5242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67" b="1" dirty="0">
                <a:solidFill>
                  <a:srgbClr val="F4B942"/>
                </a:solidFill>
                <a:latin typeface="Calibri"/>
              </a:rPr>
              <a:t>Cómo se organiza</a:t>
            </a:r>
            <a:endParaRPr lang="en-US" sz="2667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011680"/>
            <a:ext cx="5242560" cy="414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rgbClr val="FFFFFF"/>
                </a:solidFill>
                <a:latin typeface="Calibri"/>
              </a:rPr>
              <a:t>Proveedor: 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implementa y publica el servicio.</a:t>
            </a:r>
          </a:p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rgbClr val="FFFFFF"/>
                </a:solidFill>
                <a:latin typeface="Calibri"/>
              </a:rPr>
              <a:t>Consumidor: 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lo busca y lo usa (app web o móvil).</a:t>
            </a:r>
          </a:p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rgbClr val="FFFFFF"/>
                </a:solidFill>
                <a:latin typeface="Calibri"/>
              </a:rPr>
              <a:t>Registro: 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catálogo donde se publican los contratos.</a:t>
            </a:r>
          </a:p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rgbClr val="FFFFFF"/>
                </a:solidFill>
                <a:latin typeface="Calibri"/>
              </a:rPr>
              <a:t>Capas: 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consumidores, procesos, servicios de negocio, datos e integración (ESB, gateway, broker).</a:t>
            </a:r>
          </a:p>
        </p:txBody>
      </p:sp>
      <p:sp>
        <p:nvSpPr>
          <p:cNvPr id="5" name="Separador"/>
          <p:cNvSpPr/>
          <p:nvPr/>
        </p:nvSpPr>
        <p:spPr>
          <a:xfrm>
            <a:off x="6278880" y="1463040"/>
            <a:ext cx="0" cy="4632960"/>
          </a:xfrm>
          <a:prstGeom prst="line">
            <a:avLst/>
          </a:prstGeom>
          <a:noFill/>
          <a:ln w="12700">
            <a:solidFill>
              <a:srgbClr val="2B3270"/>
            </a:solidFill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6" name="Text 4"/>
          <p:cNvSpPr txBox="1"/>
          <p:nvPr/>
        </p:nvSpPr>
        <p:spPr>
          <a:xfrm>
            <a:off x="6583680" y="1402080"/>
            <a:ext cx="487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67" b="1" dirty="0">
                <a:solidFill>
                  <a:srgbClr val="F4B942"/>
                </a:solidFill>
                <a:latin typeface="Calibri"/>
              </a:rPr>
              <a:t>Cómo funciona</a:t>
            </a:r>
            <a:endParaRPr lang="en-US" sz="2667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2072640"/>
            <a:ext cx="4876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spcAft>
                <a:spcPts val="1067"/>
              </a:spcAft>
              <a:buSzPct val="100000"/>
              <a:buFont typeface="+mj-lt"/>
              <a:buAutoNum type="arabicPeriod"/>
            </a:pPr>
            <a:r>
              <a:rPr lang="en-US" sz="1867" dirty="0">
                <a:solidFill>
                  <a:srgbClr val="BEC5E6"/>
                </a:solidFill>
                <a:latin typeface="Calibri"/>
              </a:rPr>
              <a:t>El proveedor publica su contrato.</a:t>
            </a:r>
          </a:p>
          <a:p>
            <a:pPr marL="457189" indent="-457189">
              <a:spcAft>
                <a:spcPts val="1067"/>
              </a:spcAft>
              <a:buSzPct val="100000"/>
              <a:buFont typeface="+mj-lt"/>
              <a:buAutoNum type="arabicPeriod"/>
            </a:pPr>
            <a:r>
              <a:rPr lang="en-US" sz="1867" dirty="0">
                <a:solidFill>
                  <a:srgbClr val="BEC5E6"/>
                </a:solidFill>
                <a:latin typeface="Calibri"/>
              </a:rPr>
              <a:t>El consumidor busca el servicio.</a:t>
            </a:r>
          </a:p>
          <a:p>
            <a:pPr marL="457189" indent="-457189">
              <a:spcAft>
                <a:spcPts val="1067"/>
              </a:spcAft>
              <a:buSzPct val="100000"/>
              <a:buFont typeface="+mj-lt"/>
              <a:buAutoNum type="arabicPeriod"/>
            </a:pPr>
            <a:r>
              <a:rPr lang="en-US" sz="1867" dirty="0">
                <a:solidFill>
                  <a:srgbClr val="BEC5E6"/>
                </a:solidFill>
                <a:latin typeface="Calibri"/>
              </a:rPr>
              <a:t>Envía un mensaje (SOAP/XML o REST/JSON) por HTTP o colas.</a:t>
            </a:r>
          </a:p>
          <a:p>
            <a:pPr marL="457189" indent="-457189">
              <a:spcAft>
                <a:spcPts val="1067"/>
              </a:spcAft>
              <a:buSzPct val="100000"/>
              <a:buFont typeface="+mj-lt"/>
              <a:buAutoNum type="arabicPeriod"/>
            </a:pPr>
            <a:r>
              <a:rPr lang="en-US" sz="1867" dirty="0">
                <a:solidFill>
                  <a:srgbClr val="BEC5E6"/>
                </a:solidFill>
                <a:latin typeface="Calibri"/>
              </a:rPr>
              <a:t>El proveedor responde; su código interno no se ve.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6583680" y="5120640"/>
            <a:ext cx="4876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67" b="1" dirty="0">
                <a:solidFill>
                  <a:srgbClr val="FFFFFF"/>
                </a:solidFill>
                <a:latin typeface="Calibri"/>
              </a:rPr>
              <a:t>Además: 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los servicios no guardan estado y funcionan en distintas plataformas.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9" name="Elipse 2">
            <a:extLst>
              <a:ext uri="{FF2B5EF4-FFF2-40B4-BE49-F238E27FC236}">
                <a16:creationId xmlns:a16="http://schemas.microsoft.com/office/drawing/2014/main" id="{73E27086-79B5-6F79-3728-22245EE1FBD1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630936" y="320040"/>
            <a:ext cx="10158984" cy="8869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Calibri"/>
              </a:rPr>
              <a:t>3. SOA: Diagrama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720" y="6339840"/>
            <a:ext cx="6096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33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solidFill>
                  <a:srgbClr val="BEC5E6"/>
                </a:solidFill>
              </a:rPr>
              <a:t>4</a:t>
            </a:fld>
            <a:endParaRPr lang="en-US"/>
          </a:p>
        </p:txBody>
      </p:sp>
      <p:sp>
        <p:nvSpPr>
          <p:cNvPr id="3" name="Registro de servicios"/>
          <p:cNvSpPr/>
          <p:nvPr/>
        </p:nvSpPr>
        <p:spPr>
          <a:xfrm>
            <a:off x="2316480" y="1828800"/>
            <a:ext cx="3413760" cy="853440"/>
          </a:xfrm>
          <a:prstGeom prst="rect">
            <a:avLst/>
          </a:prstGeom>
          <a:solidFill>
            <a:srgbClr val="6473F5"/>
          </a:solidFill>
          <a:ln w="15875">
            <a:noFill/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4" name="Text 2"/>
          <p:cNvSpPr txBox="1"/>
          <p:nvPr/>
        </p:nvSpPr>
        <p:spPr>
          <a:xfrm>
            <a:off x="2316480" y="1828800"/>
            <a:ext cx="34137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Registro de servicios</a:t>
            </a:r>
            <a:endParaRPr lang="en-US" sz="1600" dirty="0"/>
          </a:p>
        </p:txBody>
      </p:sp>
      <p:sp>
        <p:nvSpPr>
          <p:cNvPr id="5" name="Consumidor"/>
          <p:cNvSpPr/>
          <p:nvPr/>
        </p:nvSpPr>
        <p:spPr>
          <a:xfrm>
            <a:off x="731520" y="4145280"/>
            <a:ext cx="2438400" cy="975360"/>
          </a:xfrm>
          <a:prstGeom prst="rect">
            <a:avLst/>
          </a:prstGeom>
          <a:solidFill>
            <a:srgbClr val="6473F5"/>
          </a:solidFill>
          <a:ln w="15875">
            <a:noFill/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6" name="Text 4"/>
          <p:cNvSpPr txBox="1"/>
          <p:nvPr/>
        </p:nvSpPr>
        <p:spPr>
          <a:xfrm>
            <a:off x="731520" y="4145280"/>
            <a:ext cx="24384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Consumidor</a:t>
            </a:r>
            <a:endParaRPr lang="en-US" sz="1600" dirty="0"/>
          </a:p>
        </p:txBody>
      </p:sp>
      <p:sp>
        <p:nvSpPr>
          <p:cNvPr id="7" name="Proveedor"/>
          <p:cNvSpPr/>
          <p:nvPr/>
        </p:nvSpPr>
        <p:spPr>
          <a:xfrm>
            <a:off x="4876800" y="4145280"/>
            <a:ext cx="2438400" cy="975360"/>
          </a:xfrm>
          <a:prstGeom prst="rect">
            <a:avLst/>
          </a:prstGeom>
          <a:solidFill>
            <a:srgbClr val="6473F5"/>
          </a:solidFill>
          <a:ln w="15875">
            <a:noFill/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8" name="Text 6"/>
          <p:cNvSpPr txBox="1"/>
          <p:nvPr/>
        </p:nvSpPr>
        <p:spPr>
          <a:xfrm>
            <a:off x="4876800" y="4145280"/>
            <a:ext cx="24384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Proveedor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 flipV="1">
            <a:off x="1950720" y="2682240"/>
            <a:ext cx="853440" cy="1463040"/>
          </a:xfrm>
          <a:prstGeom prst="line">
            <a:avLst/>
          </a:prstGeom>
          <a:noFill/>
          <a:ln w="19050">
            <a:solidFill>
              <a:srgbClr val="BEC5E6"/>
            </a:solidFill>
            <a:prstDash val="solid"/>
            <a:tailEnd type="triangle"/>
          </a:ln>
        </p:spPr>
        <p:txBody>
          <a:bodyPr/>
          <a:lstStyle/>
          <a:p>
            <a:endParaRPr lang="es-419" sz="2400"/>
          </a:p>
        </p:txBody>
      </p:sp>
      <p:sp>
        <p:nvSpPr>
          <p:cNvPr id="10" name="Shape 8"/>
          <p:cNvSpPr/>
          <p:nvPr/>
        </p:nvSpPr>
        <p:spPr>
          <a:xfrm>
            <a:off x="5242560" y="2682240"/>
            <a:ext cx="853440" cy="1463040"/>
          </a:xfrm>
          <a:prstGeom prst="line">
            <a:avLst/>
          </a:prstGeom>
          <a:noFill/>
          <a:ln w="19050">
            <a:solidFill>
              <a:srgbClr val="BEC5E6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s-419" sz="2400"/>
          </a:p>
        </p:txBody>
      </p:sp>
      <p:sp>
        <p:nvSpPr>
          <p:cNvPr id="11" name="Shape 9"/>
          <p:cNvSpPr/>
          <p:nvPr/>
        </p:nvSpPr>
        <p:spPr>
          <a:xfrm>
            <a:off x="3169920" y="4413504"/>
            <a:ext cx="1706880" cy="0"/>
          </a:xfrm>
          <a:prstGeom prst="line">
            <a:avLst/>
          </a:prstGeom>
          <a:noFill/>
          <a:ln w="19050">
            <a:solidFill>
              <a:srgbClr val="BEC5E6"/>
            </a:solidFill>
            <a:prstDash val="solid"/>
            <a:tailEnd type="triangle"/>
          </a:ln>
        </p:spPr>
        <p:txBody>
          <a:bodyPr/>
          <a:lstStyle/>
          <a:p>
            <a:endParaRPr lang="es-419" sz="2400"/>
          </a:p>
        </p:txBody>
      </p:sp>
      <p:sp>
        <p:nvSpPr>
          <p:cNvPr id="12" name="Shape 10"/>
          <p:cNvSpPr/>
          <p:nvPr/>
        </p:nvSpPr>
        <p:spPr>
          <a:xfrm>
            <a:off x="3169920" y="4876800"/>
            <a:ext cx="1706880" cy="0"/>
          </a:xfrm>
          <a:prstGeom prst="line">
            <a:avLst/>
          </a:prstGeom>
          <a:noFill/>
          <a:ln w="19050">
            <a:solidFill>
              <a:srgbClr val="BEC5E6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s-419" sz="2400"/>
          </a:p>
        </p:txBody>
      </p:sp>
      <p:sp>
        <p:nvSpPr>
          <p:cNvPr id="13" name="Text 11"/>
          <p:cNvSpPr txBox="1"/>
          <p:nvPr/>
        </p:nvSpPr>
        <p:spPr>
          <a:xfrm>
            <a:off x="731520" y="3230880"/>
            <a:ext cx="1402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1600" dirty="0">
                <a:solidFill>
                  <a:srgbClr val="F4B942"/>
                </a:solidFill>
                <a:latin typeface="Calibri"/>
              </a:rPr>
              <a:t>2 busca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6035040" y="3230880"/>
            <a:ext cx="1950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F4B942"/>
                </a:solidFill>
                <a:latin typeface="Calibri"/>
              </a:rPr>
              <a:t>1 publica contrato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3169920" y="4023360"/>
            <a:ext cx="1706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00" dirty="0">
                <a:solidFill>
                  <a:srgbClr val="F4B942"/>
                </a:solidFill>
                <a:latin typeface="Calibri"/>
              </a:rPr>
              <a:t>3 invoca</a:t>
            </a:r>
          </a:p>
        </p:txBody>
      </p:sp>
      <p:sp>
        <p:nvSpPr>
          <p:cNvPr id="16" name="Text 14"/>
          <p:cNvSpPr txBox="1"/>
          <p:nvPr/>
        </p:nvSpPr>
        <p:spPr>
          <a:xfrm>
            <a:off x="3169920" y="4974336"/>
            <a:ext cx="1706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00" dirty="0">
                <a:solidFill>
                  <a:srgbClr val="F4B942"/>
                </a:solidFill>
                <a:latin typeface="Calibri"/>
              </a:rPr>
              <a:t>4 responde</a:t>
            </a:r>
          </a:p>
        </p:txBody>
      </p:sp>
      <p:sp>
        <p:nvSpPr>
          <p:cNvPr id="17" name="Separador"/>
          <p:cNvSpPr/>
          <p:nvPr/>
        </p:nvSpPr>
        <p:spPr>
          <a:xfrm>
            <a:off x="8168640" y="1463040"/>
            <a:ext cx="0" cy="4632960"/>
          </a:xfrm>
          <a:prstGeom prst="line">
            <a:avLst/>
          </a:prstGeom>
          <a:noFill/>
          <a:ln w="12700">
            <a:solidFill>
              <a:srgbClr val="2B3270"/>
            </a:solidFill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18" name="Text 16"/>
          <p:cNvSpPr txBox="1"/>
          <p:nvPr/>
        </p:nvSpPr>
        <p:spPr>
          <a:xfrm>
            <a:off x="8473440" y="1828800"/>
            <a:ext cx="3048000" cy="390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rgbClr val="FFFFFF"/>
                </a:solidFill>
                <a:latin typeface="Calibri"/>
              </a:rPr>
              <a:t>1 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El proveedor publica su contrato en el registro.</a:t>
            </a:r>
          </a:p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rgbClr val="FFFFFF"/>
                </a:solidFill>
                <a:latin typeface="Calibri"/>
              </a:rPr>
              <a:t>2 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El consumidor busca el servicio.</a:t>
            </a:r>
          </a:p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rgbClr val="FFFFFF"/>
                </a:solidFill>
                <a:latin typeface="Calibri"/>
              </a:rPr>
              <a:t>3 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Lo invoca con un mensaje.</a:t>
            </a:r>
          </a:p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rgbClr val="FFFFFF"/>
                </a:solidFill>
                <a:latin typeface="Calibri"/>
              </a:rPr>
              <a:t>4 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El proveedor responde.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73E27086-79B5-6F79-3728-22245EE1FBD1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4FC9324-6BCE-493A-12D3-5F293AC6D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649" y="349250"/>
            <a:ext cx="10160000" cy="889000"/>
          </a:xfrm>
        </p:spPr>
        <p:txBody>
          <a:bodyPr anchor="ctr">
            <a:normAutofit/>
          </a:bodyPr>
          <a:lstStyle/>
          <a:p>
            <a:r>
              <a:rPr lang="es-CO" sz="3600" b="1" dirty="0">
                <a:solidFill>
                  <a:srgbClr val="FFFFFF"/>
                </a:solidFill>
                <a:latin typeface="Calibri" panose="020F0502020204030204" pitchFamily="34" charset="0"/>
              </a:rPr>
              <a:t>4. SOA: ventajas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BA1A7B28-27E2-7096-1FBC-6250A82044B0}"/>
              </a:ext>
            </a:extLst>
          </p:cNvPr>
          <p:cNvSpPr/>
          <p:nvPr/>
        </p:nvSpPr>
        <p:spPr>
          <a:xfrm>
            <a:off x="635000" y="1524000"/>
            <a:ext cx="5334000" cy="1778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39EA1E8B-6A49-E4C7-6CC9-52C34567DCC5}"/>
              </a:ext>
            </a:extLst>
          </p:cNvPr>
          <p:cNvSpPr/>
          <p:nvPr/>
        </p:nvSpPr>
        <p:spPr>
          <a:xfrm>
            <a:off x="889000" y="1778000"/>
            <a:ext cx="584200" cy="584200"/>
          </a:xfrm>
          <a:prstGeom prst="ellipse">
            <a:avLst/>
          </a:prstGeom>
          <a:solidFill>
            <a:srgbClr val="2EC4A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2300" b="1">
                <a:solidFill>
                  <a:srgbClr val="FFFFFF"/>
                </a:solidFill>
                <a:latin typeface="Segoe UI Symbol" panose="020B0502040204020203" pitchFamily="34" charset="0"/>
              </a:rPr>
              <a:t>✔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BE01947-2410-16CC-ECE4-1034DB36CD79}"/>
              </a:ext>
            </a:extLst>
          </p:cNvPr>
          <p:cNvSpPr txBox="1"/>
          <p:nvPr/>
        </p:nvSpPr>
        <p:spPr>
          <a:xfrm>
            <a:off x="1676400" y="1727200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100" b="1">
                <a:solidFill>
                  <a:srgbClr val="FFFFFF"/>
                </a:solidFill>
                <a:latin typeface="Calibri" panose="020F0502020204030204" pitchFamily="34" charset="0"/>
              </a:rPr>
              <a:t>Reutilización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BE5C1B1-5949-AED3-C6C2-EE08962DC082}"/>
              </a:ext>
            </a:extLst>
          </p:cNvPr>
          <p:cNvSpPr txBox="1"/>
          <p:nvPr/>
        </p:nvSpPr>
        <p:spPr>
          <a:xfrm>
            <a:off x="1676400" y="2159000"/>
            <a:ext cx="4064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BEC5E6"/>
                </a:solidFill>
                <a:latin typeface="Calibri" panose="020F0502020204030204" pitchFamily="34" charset="0"/>
              </a:rPr>
              <a:t>Un mismo servicio lo usan varias aplicaciones, sin volver a escribir el código.</a:t>
            </a:r>
            <a:endParaRPr lang="es-CO" sz="15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E8F06F80-2031-7981-419C-E5BEE8DDDD7D}"/>
              </a:ext>
            </a:extLst>
          </p:cNvPr>
          <p:cNvSpPr/>
          <p:nvPr/>
        </p:nvSpPr>
        <p:spPr>
          <a:xfrm>
            <a:off x="6223000" y="1524000"/>
            <a:ext cx="5334000" cy="1778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3EB896B1-5D9A-81B9-31D2-BD22E740F8A9}"/>
              </a:ext>
            </a:extLst>
          </p:cNvPr>
          <p:cNvSpPr/>
          <p:nvPr/>
        </p:nvSpPr>
        <p:spPr>
          <a:xfrm>
            <a:off x="6477000" y="1778000"/>
            <a:ext cx="584200" cy="584200"/>
          </a:xfrm>
          <a:prstGeom prst="ellipse">
            <a:avLst/>
          </a:prstGeom>
          <a:solidFill>
            <a:srgbClr val="2EC4A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2300" b="1">
                <a:solidFill>
                  <a:srgbClr val="FFFFFF"/>
                </a:solidFill>
                <a:latin typeface="Segoe UI Symbol" panose="020B0502040204020203" pitchFamily="34" charset="0"/>
              </a:rPr>
              <a:t>✔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55297F9-9C29-435C-410D-ABEFC6403CB7}"/>
              </a:ext>
            </a:extLst>
          </p:cNvPr>
          <p:cNvSpPr txBox="1"/>
          <p:nvPr/>
        </p:nvSpPr>
        <p:spPr>
          <a:xfrm>
            <a:off x="7264400" y="1727200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100" b="1">
                <a:solidFill>
                  <a:srgbClr val="FFFFFF"/>
                </a:solidFill>
                <a:latin typeface="Calibri" panose="020F0502020204030204" pitchFamily="34" charset="0"/>
              </a:rPr>
              <a:t>Bajo acoplamiento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8A3ADE4-C4FA-B0ED-CFD7-6142EB5B435C}"/>
              </a:ext>
            </a:extLst>
          </p:cNvPr>
          <p:cNvSpPr txBox="1"/>
          <p:nvPr/>
        </p:nvSpPr>
        <p:spPr>
          <a:xfrm>
            <a:off x="7264400" y="2159000"/>
            <a:ext cx="4064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BEC5E6"/>
                </a:solidFill>
                <a:latin typeface="Calibri" panose="020F0502020204030204" pitchFamily="34" charset="0"/>
              </a:rPr>
              <a:t>Los servicios dependen del contrato, no del código de los demás.</a:t>
            </a:r>
            <a:endParaRPr lang="es-CO" sz="15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B156885B-435B-954B-5C0B-800A73A27E51}"/>
              </a:ext>
            </a:extLst>
          </p:cNvPr>
          <p:cNvSpPr/>
          <p:nvPr/>
        </p:nvSpPr>
        <p:spPr>
          <a:xfrm>
            <a:off x="635000" y="3492500"/>
            <a:ext cx="5334000" cy="1778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BF1672ED-A365-2CDD-2BC2-1E1A14A235D7}"/>
              </a:ext>
            </a:extLst>
          </p:cNvPr>
          <p:cNvSpPr/>
          <p:nvPr/>
        </p:nvSpPr>
        <p:spPr>
          <a:xfrm>
            <a:off x="889000" y="3746500"/>
            <a:ext cx="584200" cy="584200"/>
          </a:xfrm>
          <a:prstGeom prst="ellipse">
            <a:avLst/>
          </a:prstGeom>
          <a:solidFill>
            <a:srgbClr val="2EC4A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2300" b="1">
                <a:solidFill>
                  <a:srgbClr val="FFFFFF"/>
                </a:solidFill>
                <a:latin typeface="Segoe UI Symbol" panose="020B0502040204020203" pitchFamily="34" charset="0"/>
              </a:rPr>
              <a:t>✔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1942B85-3806-6E7E-563D-5A2CD5190C24}"/>
              </a:ext>
            </a:extLst>
          </p:cNvPr>
          <p:cNvSpPr txBox="1"/>
          <p:nvPr/>
        </p:nvSpPr>
        <p:spPr>
          <a:xfrm>
            <a:off x="1676400" y="3695700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100" b="1">
                <a:solidFill>
                  <a:srgbClr val="FFFFFF"/>
                </a:solidFill>
                <a:latin typeface="Calibri" panose="020F0502020204030204" pitchFamily="34" charset="0"/>
              </a:rPr>
              <a:t>Escalabilidad y flexibilidad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661E214-57C6-6793-3A51-E3769CBC0974}"/>
              </a:ext>
            </a:extLst>
          </p:cNvPr>
          <p:cNvSpPr txBox="1"/>
          <p:nvPr/>
        </p:nvSpPr>
        <p:spPr>
          <a:xfrm>
            <a:off x="1676400" y="4127500"/>
            <a:ext cx="4064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BEC5E6"/>
                </a:solidFill>
                <a:latin typeface="Calibri" panose="020F0502020204030204" pitchFamily="34" charset="0"/>
              </a:rPr>
              <a:t>Cada servicio crece por separado y se puede cambiar sin tocar el resto.</a:t>
            </a:r>
            <a:endParaRPr lang="es-CO" sz="15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BC47647E-07AB-D185-4A16-81A9D019AB1A}"/>
              </a:ext>
            </a:extLst>
          </p:cNvPr>
          <p:cNvSpPr/>
          <p:nvPr/>
        </p:nvSpPr>
        <p:spPr>
          <a:xfrm>
            <a:off x="6223000" y="3492500"/>
            <a:ext cx="5334000" cy="1778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311902E1-8E1D-E6A5-DB20-22E858D2FD55}"/>
              </a:ext>
            </a:extLst>
          </p:cNvPr>
          <p:cNvSpPr/>
          <p:nvPr/>
        </p:nvSpPr>
        <p:spPr>
          <a:xfrm>
            <a:off x="6477000" y="3746500"/>
            <a:ext cx="584200" cy="584200"/>
          </a:xfrm>
          <a:prstGeom prst="ellipse">
            <a:avLst/>
          </a:prstGeom>
          <a:solidFill>
            <a:srgbClr val="2EC4A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2300" b="1">
                <a:solidFill>
                  <a:srgbClr val="FFFFFF"/>
                </a:solidFill>
                <a:latin typeface="Segoe UI Symbol" panose="020B0502040204020203" pitchFamily="34" charset="0"/>
              </a:rPr>
              <a:t>✔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28081BF-5AC4-1715-0AF2-68FF9BC7596A}"/>
              </a:ext>
            </a:extLst>
          </p:cNvPr>
          <p:cNvSpPr txBox="1"/>
          <p:nvPr/>
        </p:nvSpPr>
        <p:spPr>
          <a:xfrm>
            <a:off x="7264400" y="3695700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100" b="1">
                <a:solidFill>
                  <a:srgbClr val="FFFFFF"/>
                </a:solidFill>
                <a:latin typeface="Calibri" panose="020F0502020204030204" pitchFamily="34" charset="0"/>
              </a:rPr>
              <a:t>Integración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98D59C2-0A95-7CF0-042E-E1FCDC50F697}"/>
              </a:ext>
            </a:extLst>
          </p:cNvPr>
          <p:cNvSpPr txBox="1"/>
          <p:nvPr/>
        </p:nvSpPr>
        <p:spPr>
          <a:xfrm>
            <a:off x="7264400" y="4127500"/>
            <a:ext cx="4064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BEC5E6"/>
                </a:solidFill>
                <a:latin typeface="Calibri" panose="020F0502020204030204" pitchFamily="34" charset="0"/>
              </a:rPr>
              <a:t>Conecta sistemas viejos y nuevos, incluso hechos en lenguajes distintos.</a:t>
            </a:r>
            <a:endParaRPr lang="es-CO" sz="15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BEDDBE48-E002-0A02-70EF-AEF10BEC1A4C}"/>
              </a:ext>
            </a:extLst>
          </p:cNvPr>
          <p:cNvSpPr/>
          <p:nvPr/>
        </p:nvSpPr>
        <p:spPr>
          <a:xfrm>
            <a:off x="635000" y="5524500"/>
            <a:ext cx="10922000" cy="7366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rgbClr val="F4B942"/>
                </a:solidFill>
                <a:latin typeface="Calibri" panose="020F0502020204030204" pitchFamily="34" charset="0"/>
              </a:rPr>
              <a:t>Si un servicio cambia o falla, el resto del sistema sigue funcionando.</a:t>
            </a:r>
            <a:endParaRPr lang="es-CO" dirty="0">
              <a:solidFill>
                <a:srgbClr val="F4B942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73E27086-79B5-6F79-3728-22245EE1FBD1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4FC9324-6BCE-493A-12D3-5F293AC6D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r>
              <a:rPr lang="es-CO" sz="3600" b="1" dirty="0">
                <a:solidFill>
                  <a:srgbClr val="FFFFFF"/>
                </a:solidFill>
                <a:latin typeface="Calibri" panose="020F0502020204030204" pitchFamily="34" charset="0"/>
              </a:rPr>
              <a:t>4. SOA: desventajas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BA1A7B28-27E2-7096-1FBC-6250A82044B0}"/>
              </a:ext>
            </a:extLst>
          </p:cNvPr>
          <p:cNvSpPr/>
          <p:nvPr/>
        </p:nvSpPr>
        <p:spPr>
          <a:xfrm>
            <a:off x="635000" y="1524000"/>
            <a:ext cx="5334000" cy="1778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39EA1E8B-6A49-E4C7-6CC9-52C34567DCC5}"/>
              </a:ext>
            </a:extLst>
          </p:cNvPr>
          <p:cNvSpPr/>
          <p:nvPr/>
        </p:nvSpPr>
        <p:spPr>
          <a:xfrm>
            <a:off x="889000" y="1778000"/>
            <a:ext cx="584200" cy="584200"/>
          </a:xfrm>
          <a:prstGeom prst="ellipse">
            <a:avLst/>
          </a:prstGeom>
          <a:solidFill>
            <a:srgbClr val="E85A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2300" b="1">
                <a:solidFill>
                  <a:srgbClr val="FFFFFF"/>
                </a:solidFill>
                <a:latin typeface="Segoe UI Symbol" panose="020B0502040204020203" pitchFamily="34" charset="0"/>
              </a:rPr>
              <a:t>✖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BE01947-2410-16CC-ECE4-1034DB36CD79}"/>
              </a:ext>
            </a:extLst>
          </p:cNvPr>
          <p:cNvSpPr txBox="1"/>
          <p:nvPr/>
        </p:nvSpPr>
        <p:spPr>
          <a:xfrm>
            <a:off x="1676400" y="1727200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100" b="1">
                <a:solidFill>
                  <a:srgbClr val="FFFFFF"/>
                </a:solidFill>
                <a:latin typeface="Calibri" panose="020F0502020204030204" pitchFamily="34" charset="0"/>
              </a:rPr>
              <a:t>Mayor complejidad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BE5C1B1-5949-AED3-C6C2-EE08962DC082}"/>
              </a:ext>
            </a:extLst>
          </p:cNvPr>
          <p:cNvSpPr txBox="1"/>
          <p:nvPr/>
        </p:nvSpPr>
        <p:spPr>
          <a:xfrm>
            <a:off x="1676400" y="2159000"/>
            <a:ext cx="4064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BEC5E6"/>
                </a:solidFill>
                <a:latin typeface="Calibri" panose="020F0502020204030204" pitchFamily="34" charset="0"/>
              </a:rPr>
              <a:t>Hay que diseñar, desplegar y mantener muchos servicios en lugar de una sola aplicación.</a:t>
            </a:r>
            <a:endParaRPr lang="es-CO" sz="15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E8F06F80-2031-7981-419C-E5BEE8DDDD7D}"/>
              </a:ext>
            </a:extLst>
          </p:cNvPr>
          <p:cNvSpPr/>
          <p:nvPr/>
        </p:nvSpPr>
        <p:spPr>
          <a:xfrm>
            <a:off x="6223000" y="1524000"/>
            <a:ext cx="5334000" cy="1778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3EB896B1-5D9A-81B9-31D2-BD22E740F8A9}"/>
              </a:ext>
            </a:extLst>
          </p:cNvPr>
          <p:cNvSpPr/>
          <p:nvPr/>
        </p:nvSpPr>
        <p:spPr>
          <a:xfrm>
            <a:off x="6477000" y="1778000"/>
            <a:ext cx="584200" cy="584200"/>
          </a:xfrm>
          <a:prstGeom prst="ellipse">
            <a:avLst/>
          </a:prstGeom>
          <a:solidFill>
            <a:srgbClr val="E85A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2300" b="1">
                <a:solidFill>
                  <a:srgbClr val="FFFFFF"/>
                </a:solidFill>
                <a:latin typeface="Segoe UI Symbol" panose="020B0502040204020203" pitchFamily="34" charset="0"/>
              </a:rPr>
              <a:t>✖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55297F9-9C29-435C-410D-ABEFC6403CB7}"/>
              </a:ext>
            </a:extLst>
          </p:cNvPr>
          <p:cNvSpPr txBox="1"/>
          <p:nvPr/>
        </p:nvSpPr>
        <p:spPr>
          <a:xfrm>
            <a:off x="7264400" y="1727200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100" b="1">
                <a:solidFill>
                  <a:srgbClr val="FFFFFF"/>
                </a:solidFill>
                <a:latin typeface="Calibri" panose="020F0502020204030204" pitchFamily="34" charset="0"/>
              </a:rPr>
              <a:t>Latencia de red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8A3ADE4-C4FA-B0ED-CFD7-6142EB5B435C}"/>
              </a:ext>
            </a:extLst>
          </p:cNvPr>
          <p:cNvSpPr txBox="1"/>
          <p:nvPr/>
        </p:nvSpPr>
        <p:spPr>
          <a:xfrm>
            <a:off x="7264400" y="2159000"/>
            <a:ext cx="4064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BEC5E6"/>
                </a:solidFill>
                <a:latin typeface="Calibri" panose="020F0502020204030204" pitchFamily="34" charset="0"/>
              </a:rPr>
              <a:t>Cada llamada entre servicios viaja por la red, y eso es más lento que una llamada interna.</a:t>
            </a:r>
            <a:endParaRPr lang="es-CO" sz="15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B156885B-435B-954B-5C0B-800A73A27E51}"/>
              </a:ext>
            </a:extLst>
          </p:cNvPr>
          <p:cNvSpPr/>
          <p:nvPr/>
        </p:nvSpPr>
        <p:spPr>
          <a:xfrm>
            <a:off x="635000" y="3492500"/>
            <a:ext cx="5334000" cy="1778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BF1672ED-A365-2CDD-2BC2-1E1A14A235D7}"/>
              </a:ext>
            </a:extLst>
          </p:cNvPr>
          <p:cNvSpPr/>
          <p:nvPr/>
        </p:nvSpPr>
        <p:spPr>
          <a:xfrm>
            <a:off x="889000" y="3746500"/>
            <a:ext cx="584200" cy="584200"/>
          </a:xfrm>
          <a:prstGeom prst="ellipse">
            <a:avLst/>
          </a:prstGeom>
          <a:solidFill>
            <a:srgbClr val="E85A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2300" b="1">
                <a:solidFill>
                  <a:srgbClr val="FFFFFF"/>
                </a:solidFill>
                <a:latin typeface="Segoe UI Symbol" panose="020B0502040204020203" pitchFamily="34" charset="0"/>
              </a:rPr>
              <a:t>✖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1942B85-3806-6E7E-563D-5A2CD5190C24}"/>
              </a:ext>
            </a:extLst>
          </p:cNvPr>
          <p:cNvSpPr txBox="1"/>
          <p:nvPr/>
        </p:nvSpPr>
        <p:spPr>
          <a:xfrm>
            <a:off x="1676400" y="3695700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100" b="1">
                <a:solidFill>
                  <a:srgbClr val="FFFFFF"/>
                </a:solidFill>
                <a:latin typeface="Calibri" panose="020F0502020204030204" pitchFamily="34" charset="0"/>
              </a:rPr>
              <a:t>Gobierno de contratos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661E214-57C6-6793-3A51-E3769CBC0974}"/>
              </a:ext>
            </a:extLst>
          </p:cNvPr>
          <p:cNvSpPr txBox="1"/>
          <p:nvPr/>
        </p:nvSpPr>
        <p:spPr>
          <a:xfrm>
            <a:off x="1676400" y="4127500"/>
            <a:ext cx="4064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BEC5E6"/>
                </a:solidFill>
                <a:latin typeface="Calibri" panose="020F0502020204030204" pitchFamily="34" charset="0"/>
              </a:rPr>
              <a:t>Los cambios en una API se deben versionar para no romper a quienes la consumen.</a:t>
            </a:r>
            <a:endParaRPr lang="es-CO" sz="15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BC47647E-07AB-D185-4A16-81A9D019AB1A}"/>
              </a:ext>
            </a:extLst>
          </p:cNvPr>
          <p:cNvSpPr/>
          <p:nvPr/>
        </p:nvSpPr>
        <p:spPr>
          <a:xfrm>
            <a:off x="6223000" y="3492500"/>
            <a:ext cx="5334000" cy="1778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311902E1-8E1D-E6A5-DB20-22E858D2FD55}"/>
              </a:ext>
            </a:extLst>
          </p:cNvPr>
          <p:cNvSpPr/>
          <p:nvPr/>
        </p:nvSpPr>
        <p:spPr>
          <a:xfrm>
            <a:off x="6477000" y="3746500"/>
            <a:ext cx="584200" cy="584200"/>
          </a:xfrm>
          <a:prstGeom prst="ellipse">
            <a:avLst/>
          </a:prstGeom>
          <a:solidFill>
            <a:srgbClr val="E85A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2300" b="1">
                <a:solidFill>
                  <a:srgbClr val="FFFFFF"/>
                </a:solidFill>
                <a:latin typeface="Segoe UI Symbol" panose="020B0502040204020203" pitchFamily="34" charset="0"/>
              </a:rPr>
              <a:t>✖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28081BF-5AC4-1715-0AF2-68FF9BC7596A}"/>
              </a:ext>
            </a:extLst>
          </p:cNvPr>
          <p:cNvSpPr txBox="1"/>
          <p:nvPr/>
        </p:nvSpPr>
        <p:spPr>
          <a:xfrm>
            <a:off x="7264400" y="3695700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100" b="1">
                <a:solidFill>
                  <a:srgbClr val="FFFFFF"/>
                </a:solidFill>
                <a:latin typeface="Calibri" panose="020F0502020204030204" pitchFamily="34" charset="0"/>
              </a:rPr>
              <a:t>Seguridad y monitoreo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98D59C2-0A95-7CF0-042E-E1FCDC50F697}"/>
              </a:ext>
            </a:extLst>
          </p:cNvPr>
          <p:cNvSpPr txBox="1"/>
          <p:nvPr/>
        </p:nvSpPr>
        <p:spPr>
          <a:xfrm>
            <a:off x="7264400" y="4127500"/>
            <a:ext cx="4064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BEC5E6"/>
                </a:solidFill>
                <a:latin typeface="Calibri" panose="020F0502020204030204" pitchFamily="34" charset="0"/>
              </a:rPr>
              <a:t>Hay más puntos de entrada que proteger y es más difícil seguir una petición de principio a fin.</a:t>
            </a:r>
            <a:endParaRPr lang="es-CO" sz="15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BEDDBE48-E002-0A02-70EF-AEF10BEC1A4C}"/>
              </a:ext>
            </a:extLst>
          </p:cNvPr>
          <p:cNvSpPr/>
          <p:nvPr/>
        </p:nvSpPr>
        <p:spPr>
          <a:xfrm>
            <a:off x="635000" y="5524500"/>
            <a:ext cx="10922000" cy="7366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rgbClr val="F4B942"/>
                </a:solidFill>
                <a:latin typeface="Calibri" panose="020F0502020204030204" pitchFamily="34" charset="0"/>
              </a:rPr>
              <a:t>En proyectos pequeños, SOA puede ser exagerado.</a:t>
            </a:r>
            <a:endParaRPr lang="es-CO" dirty="0">
              <a:solidFill>
                <a:srgbClr val="F4B942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856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8" grpId="0" animBg="1"/>
      <p:bldP spid="9" grpId="0" animBg="1"/>
      <p:bldP spid="10" grpId="0"/>
      <p:bldP spid="11" grpId="0"/>
      <p:bldP spid="12" grpId="0" animBg="1"/>
      <p:bldP spid="13" grpId="0" animBg="1"/>
      <p:bldP spid="14" grpId="0"/>
      <p:bldP spid="15" grpId="0"/>
      <p:bldP spid="16" grpId="0" animBg="1"/>
      <p:bldP spid="17" grpId="0" animBg="1"/>
      <p:bldP spid="18" grpId="0"/>
      <p:bldP spid="19" grpId="0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E80C4B23-6F1F-4034-F041-884DDE151CA4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5767BBE-4BC1-A828-1C2D-063335E1D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r>
              <a:rPr lang="es-CO" sz="3600" b="1" dirty="0">
                <a:solidFill>
                  <a:srgbClr val="FFFFFF"/>
                </a:solidFill>
                <a:latin typeface="Calibri" panose="020F0502020204030204" pitchFamily="34" charset="0"/>
              </a:rPr>
              <a:t>5. Tecnologías relacionadas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614D4279-19EA-87D0-2A3B-5D62843C2BC6}"/>
              </a:ext>
            </a:extLst>
          </p:cNvPr>
          <p:cNvSpPr/>
          <p:nvPr/>
        </p:nvSpPr>
        <p:spPr>
          <a:xfrm>
            <a:off x="635000" y="1524000"/>
            <a:ext cx="3429000" cy="45085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DC1138B7-D7B7-F048-6118-43614A444D87}"/>
              </a:ext>
            </a:extLst>
          </p:cNvPr>
          <p:cNvSpPr/>
          <p:nvPr/>
        </p:nvSpPr>
        <p:spPr>
          <a:xfrm>
            <a:off x="939800" y="1803400"/>
            <a:ext cx="889000" cy="889000"/>
          </a:xfrm>
          <a:prstGeom prst="ellipse">
            <a:avLst/>
          </a:prstGeom>
          <a:solidFill>
            <a:srgbClr val="6473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3500" b="1">
                <a:solidFill>
                  <a:srgbClr val="0F122D"/>
                </a:solidFill>
                <a:latin typeface="Segoe UI Symbol" panose="020B0502040204020203" pitchFamily="34" charset="0"/>
              </a:rPr>
              <a:t>⚛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8E681C8-BD47-F8C4-00F5-EECF5F928B9E}"/>
              </a:ext>
            </a:extLst>
          </p:cNvPr>
          <p:cNvSpPr txBox="1"/>
          <p:nvPr/>
        </p:nvSpPr>
        <p:spPr>
          <a:xfrm>
            <a:off x="2032000" y="1854200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600" b="1">
                <a:solidFill>
                  <a:srgbClr val="FFFFFF"/>
                </a:solidFill>
                <a:latin typeface="Calibri" panose="020F0502020204030204" pitchFamily="34" charset="0"/>
              </a:rPr>
              <a:t>React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0388281-913B-1AFA-95E2-4122613D3C0C}"/>
              </a:ext>
            </a:extLst>
          </p:cNvPr>
          <p:cNvSpPr txBox="1"/>
          <p:nvPr/>
        </p:nvSpPr>
        <p:spPr>
          <a:xfrm>
            <a:off x="2032000" y="2311400"/>
            <a:ext cx="1905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1500">
                <a:solidFill>
                  <a:srgbClr val="BEC5E6"/>
                </a:solidFill>
                <a:latin typeface="Calibri" panose="020F0502020204030204" pitchFamily="34" charset="0"/>
              </a:rPr>
              <a:t>Interfaz (cliente)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3300DFC-18A3-348F-81AD-4DBDA6F0BB65}"/>
              </a:ext>
            </a:extLst>
          </p:cNvPr>
          <p:cNvSpPr txBox="1"/>
          <p:nvPr/>
        </p:nvSpPr>
        <p:spPr>
          <a:xfrm>
            <a:off x="939800" y="3048000"/>
            <a:ext cx="2819400" cy="285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FFFFFF"/>
                </a:solidFill>
                <a:latin typeface="Calibri" panose="020F0502020204030204" pitchFamily="34" charset="0"/>
              </a:rPr>
              <a:t>Observer: el estado y los hooks (useState, useEffect) vuelven a dibujar los componentes que dependen de él.</a:t>
            </a:r>
          </a:p>
          <a:p>
            <a:pPr>
              <a:spcAft>
                <a:spcPts val="800"/>
              </a:spcAft>
            </a:pPr>
            <a:r>
              <a:rPr lang="es-ES" sz="1500">
                <a:solidFill>
                  <a:srgbClr val="FFFFFF"/>
                </a:solidFill>
                <a:latin typeface="Calibri" panose="020F0502020204030204" pitchFamily="34" charset="0"/>
              </a:rPr>
              <a:t>Mediator: Context o Redux centralizan la comunicación entre componentes.</a:t>
            </a:r>
            <a:endParaRPr lang="es-CO" sz="15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5AA080EF-82F4-A956-9F63-D72C37E0BD53}"/>
              </a:ext>
            </a:extLst>
          </p:cNvPr>
          <p:cNvSpPr/>
          <p:nvPr/>
        </p:nvSpPr>
        <p:spPr>
          <a:xfrm>
            <a:off x="4381500" y="1524000"/>
            <a:ext cx="3429000" cy="45085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A89F4CFA-1246-4957-C40A-7BCCA1D683DE}"/>
              </a:ext>
            </a:extLst>
          </p:cNvPr>
          <p:cNvSpPr/>
          <p:nvPr/>
        </p:nvSpPr>
        <p:spPr>
          <a:xfrm>
            <a:off x="4686300" y="1803400"/>
            <a:ext cx="889000" cy="889000"/>
          </a:xfrm>
          <a:prstGeom prst="ellipse">
            <a:avLst/>
          </a:prstGeom>
          <a:solidFill>
            <a:srgbClr val="F4B9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3500" b="1">
                <a:solidFill>
                  <a:srgbClr val="0F122D"/>
                </a:solidFill>
                <a:latin typeface="Calibri" panose="020F0502020204030204" pitchFamily="34" charset="0"/>
              </a:rPr>
              <a:t>DB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D21E515-0583-B822-0421-DAC125CA2CD6}"/>
              </a:ext>
            </a:extLst>
          </p:cNvPr>
          <p:cNvSpPr txBox="1"/>
          <p:nvPr/>
        </p:nvSpPr>
        <p:spPr>
          <a:xfrm>
            <a:off x="5778500" y="1854200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600" b="1">
                <a:solidFill>
                  <a:srgbClr val="FFFFFF"/>
                </a:solidFill>
                <a:latin typeface="Calibri" panose="020F0502020204030204" pitchFamily="34" charset="0"/>
              </a:rPr>
              <a:t>MySQL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65EBF4C-8852-45A7-82D2-CCD92E5D1B22}"/>
              </a:ext>
            </a:extLst>
          </p:cNvPr>
          <p:cNvSpPr txBox="1"/>
          <p:nvPr/>
        </p:nvSpPr>
        <p:spPr>
          <a:xfrm>
            <a:off x="5778500" y="2311400"/>
            <a:ext cx="1905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1500">
                <a:solidFill>
                  <a:srgbClr val="BEC5E6"/>
                </a:solidFill>
                <a:latin typeface="Calibri" panose="020F0502020204030204" pitchFamily="34" charset="0"/>
              </a:rPr>
              <a:t>Datos (persistencia)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F96EF8F-91BC-E130-C244-4A95F1C85BCC}"/>
              </a:ext>
            </a:extLst>
          </p:cNvPr>
          <p:cNvSpPr txBox="1"/>
          <p:nvPr/>
        </p:nvSpPr>
        <p:spPr>
          <a:xfrm>
            <a:off x="4686300" y="3048000"/>
            <a:ext cx="2819400" cy="285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FFFFFF"/>
                </a:solidFill>
                <a:latin typeface="Calibri" panose="020F0502020204030204" pitchFamily="34" charset="0"/>
              </a:rPr>
              <a:t>En SOA, un servicio es dueño de sus datos y los expone por una API.</a:t>
            </a:r>
          </a:p>
          <a:p>
            <a:pPr>
              <a:spcAft>
                <a:spcPts val="800"/>
              </a:spcAft>
            </a:pPr>
            <a:r>
              <a:rPr lang="es-ES" sz="1500">
                <a:solidFill>
                  <a:srgbClr val="FFFFFF"/>
                </a:solidFill>
                <a:latin typeface="Calibri" panose="020F0502020204030204" pitchFamily="34" charset="0"/>
              </a:rPr>
              <a:t>La interfaz nunca consulta la base directamente: siempre pasa por el servicio.</a:t>
            </a:r>
            <a:endParaRPr lang="es-CO" sz="15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043A1F00-8C45-EE55-3E31-8F9CB0BE8B1E}"/>
              </a:ext>
            </a:extLst>
          </p:cNvPr>
          <p:cNvSpPr/>
          <p:nvPr/>
        </p:nvSpPr>
        <p:spPr>
          <a:xfrm>
            <a:off x="8128000" y="1524000"/>
            <a:ext cx="3429000" cy="45085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177E368A-5615-D831-6BCB-CF251B0C7B07}"/>
              </a:ext>
            </a:extLst>
          </p:cNvPr>
          <p:cNvSpPr/>
          <p:nvPr/>
        </p:nvSpPr>
        <p:spPr>
          <a:xfrm>
            <a:off x="8432800" y="1803400"/>
            <a:ext cx="889000" cy="889000"/>
          </a:xfrm>
          <a:prstGeom prst="ellipse">
            <a:avLst/>
          </a:prstGeom>
          <a:solidFill>
            <a:srgbClr val="2EC4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3500" b="1">
                <a:solidFill>
                  <a:srgbClr val="0F122D"/>
                </a:solidFill>
                <a:latin typeface="Segoe UI Symbol" panose="020B0502040204020203" pitchFamily="34" charset="0"/>
              </a:rPr>
              <a:t>☁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57BC6AF-ED6D-1A8A-51C4-34A16BAB10CE}"/>
              </a:ext>
            </a:extLst>
          </p:cNvPr>
          <p:cNvSpPr txBox="1"/>
          <p:nvPr/>
        </p:nvSpPr>
        <p:spPr>
          <a:xfrm>
            <a:off x="9525000" y="1854200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600" b="1">
                <a:solidFill>
                  <a:srgbClr val="FFFFFF"/>
                </a:solidFill>
                <a:latin typeface="Calibri" panose="020F0502020204030204" pitchFamily="34" charset="0"/>
              </a:rPr>
              <a:t>Nube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A627263-B3B5-0FD4-34C7-0EA78737736A}"/>
              </a:ext>
            </a:extLst>
          </p:cNvPr>
          <p:cNvSpPr txBox="1"/>
          <p:nvPr/>
        </p:nvSpPr>
        <p:spPr>
          <a:xfrm>
            <a:off x="9525000" y="2311400"/>
            <a:ext cx="1905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1500">
                <a:solidFill>
                  <a:srgbClr val="BEC5E6"/>
                </a:solidFill>
                <a:latin typeface="Calibri" panose="020F0502020204030204" pitchFamily="34" charset="0"/>
              </a:rPr>
              <a:t>Despliegue y servicios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846604D-FD0F-0843-DF1E-BB91C66AC276}"/>
              </a:ext>
            </a:extLst>
          </p:cNvPr>
          <p:cNvSpPr txBox="1"/>
          <p:nvPr/>
        </p:nvSpPr>
        <p:spPr>
          <a:xfrm>
            <a:off x="8432800" y="3048000"/>
            <a:ext cx="2819400" cy="285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500">
                <a:solidFill>
                  <a:srgbClr val="FFFFFF"/>
                </a:solidFill>
                <a:latin typeface="Calibri" panose="020F0502020204030204" pitchFamily="34" charset="0"/>
              </a:rPr>
              <a:t>Los servicios se publican como APIs en AWS, Azure o Google Cloud y escalan por separado.</a:t>
            </a:r>
          </a:p>
          <a:p>
            <a:pPr>
              <a:spcAft>
                <a:spcPts val="800"/>
              </a:spcAft>
            </a:pPr>
            <a:r>
              <a:rPr lang="es-ES" sz="1500">
                <a:solidFill>
                  <a:srgbClr val="FFFFFF"/>
                </a:solidFill>
                <a:latin typeface="Calibri" panose="020F0502020204030204" pitchFamily="34" charset="0"/>
              </a:rPr>
              <a:t>Las colas y el pub/sub aplican la idea de Observer a gran escala.</a:t>
            </a:r>
            <a:endParaRPr lang="es-CO" sz="15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0460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8" grpId="0"/>
      <p:bldP spid="9" grpId="0" animBg="1"/>
      <p:bldP spid="10" grpId="0" animBg="1"/>
      <p:bldP spid="11" grpId="0"/>
      <p:bldP spid="12" grpId="0"/>
      <p:bldP spid="13" grpId="0"/>
      <p:bldP spid="14" grpId="0" animBg="1"/>
      <p:bldP spid="15" grpId="0" animBg="1"/>
      <p:bldP spid="16" grpId="0"/>
      <p:bldP spid="17" grpId="0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0A5DACC3-ADC3-44C7-A0A5-B2465CD50076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309FBE-B5C9-419B-9A38-E8A4478A1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r>
              <a:rPr lang="es-ES" sz="3600" b="1" dirty="0">
                <a:solidFill>
                  <a:srgbClr val="FFFFFF"/>
                </a:solidFill>
                <a:latin typeface="Calibri" panose="020F0502020204030204" pitchFamily="34" charset="0"/>
              </a:rPr>
              <a:t>5. Cómo encajan en una misma solución</a:t>
            </a:r>
            <a:endParaRPr lang="es-CO" sz="36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236F514A-4289-AF3A-B314-742C7F7361BC}"/>
              </a:ext>
            </a:extLst>
          </p:cNvPr>
          <p:cNvSpPr/>
          <p:nvPr/>
        </p:nvSpPr>
        <p:spPr>
          <a:xfrm>
            <a:off x="635000" y="1651000"/>
            <a:ext cx="3175000" cy="1397000"/>
          </a:xfrm>
          <a:prstGeom prst="roundRect">
            <a:avLst>
              <a:gd name="adj" fmla="val 15000"/>
            </a:avLst>
          </a:prstGeom>
          <a:solidFill>
            <a:srgbClr val="6473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600" b="1">
                <a:solidFill>
                  <a:srgbClr val="FFFFFF"/>
                </a:solidFill>
                <a:latin typeface="Calibri" panose="020F0502020204030204" pitchFamily="34" charset="0"/>
              </a:rPr>
              <a:t>React</a:t>
            </a:r>
          </a:p>
          <a:p>
            <a:pPr algn="ctr"/>
            <a:r>
              <a:rPr lang="es-CO" sz="1600">
                <a:solidFill>
                  <a:srgbClr val="FFFFFF"/>
                </a:solidFill>
                <a:latin typeface="Calibri" panose="020F0502020204030204" pitchFamily="34" charset="0"/>
              </a:rPr>
              <a:t>Cliente / interfaz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578C7B64-8366-7852-8AD3-EED8193A5DB2}"/>
              </a:ext>
            </a:extLst>
          </p:cNvPr>
          <p:cNvCxnSpPr/>
          <p:nvPr/>
        </p:nvCxnSpPr>
        <p:spPr>
          <a:xfrm>
            <a:off x="3860800" y="2349500"/>
            <a:ext cx="609600" cy="0"/>
          </a:xfrm>
          <a:prstGeom prst="straightConnector1">
            <a:avLst/>
          </a:prstGeom>
          <a:ln w="44450">
            <a:solidFill>
              <a:srgbClr val="BEC5E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4AB96D22-C8C8-4FE3-F583-95C73A7EC5D9}"/>
              </a:ext>
            </a:extLst>
          </p:cNvPr>
          <p:cNvSpPr/>
          <p:nvPr/>
        </p:nvSpPr>
        <p:spPr>
          <a:xfrm>
            <a:off x="4508500" y="1651000"/>
            <a:ext cx="3175000" cy="1397000"/>
          </a:xfrm>
          <a:prstGeom prst="roundRect">
            <a:avLst>
              <a:gd name="adj" fmla="val 15000"/>
            </a:avLst>
          </a:prstGeom>
          <a:solidFill>
            <a:srgbClr val="2EC4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600" b="1">
                <a:solidFill>
                  <a:srgbClr val="0F122D"/>
                </a:solidFill>
                <a:latin typeface="Calibri" panose="020F0502020204030204" pitchFamily="34" charset="0"/>
              </a:rPr>
              <a:t>Servicio SOA</a:t>
            </a:r>
          </a:p>
          <a:p>
            <a:pPr algn="ctr"/>
            <a:r>
              <a:rPr lang="es-CO" sz="1600">
                <a:solidFill>
                  <a:srgbClr val="0F122D"/>
                </a:solidFill>
                <a:latin typeface="Calibri" panose="020F0502020204030204" pitchFamily="34" charset="0"/>
              </a:rPr>
              <a:t>API REST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D171037A-7C8F-3489-9A02-F339B129E5BD}"/>
              </a:ext>
            </a:extLst>
          </p:cNvPr>
          <p:cNvCxnSpPr/>
          <p:nvPr/>
        </p:nvCxnSpPr>
        <p:spPr>
          <a:xfrm>
            <a:off x="7734300" y="2349500"/>
            <a:ext cx="609600" cy="0"/>
          </a:xfrm>
          <a:prstGeom prst="straightConnector1">
            <a:avLst/>
          </a:prstGeom>
          <a:ln w="44450">
            <a:solidFill>
              <a:srgbClr val="BEC5E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152B9E29-ABCF-15BA-2244-B5D65CBD1480}"/>
              </a:ext>
            </a:extLst>
          </p:cNvPr>
          <p:cNvSpPr/>
          <p:nvPr/>
        </p:nvSpPr>
        <p:spPr>
          <a:xfrm>
            <a:off x="8382000" y="1651000"/>
            <a:ext cx="3175000" cy="1397000"/>
          </a:xfrm>
          <a:prstGeom prst="roundRect">
            <a:avLst>
              <a:gd name="adj" fmla="val 15000"/>
            </a:avLst>
          </a:prstGeom>
          <a:solidFill>
            <a:srgbClr val="F4B9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600" b="1">
                <a:solidFill>
                  <a:srgbClr val="0F122D"/>
                </a:solidFill>
                <a:latin typeface="Calibri" panose="020F0502020204030204" pitchFamily="34" charset="0"/>
              </a:rPr>
              <a:t>MySQL</a:t>
            </a:r>
          </a:p>
          <a:p>
            <a:pPr algn="ctr"/>
            <a:r>
              <a:rPr lang="es-CO" sz="1600">
                <a:solidFill>
                  <a:srgbClr val="0F122D"/>
                </a:solidFill>
                <a:latin typeface="Calibri" panose="020F0502020204030204" pitchFamily="34" charset="0"/>
              </a:rPr>
              <a:t>Base de datos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4E5ED2E-A6AD-1C19-73A3-03C9C1829F3E}"/>
              </a:ext>
            </a:extLst>
          </p:cNvPr>
          <p:cNvSpPr txBox="1"/>
          <p:nvPr/>
        </p:nvSpPr>
        <p:spPr>
          <a:xfrm>
            <a:off x="635000" y="3276600"/>
            <a:ext cx="3175000" cy="1397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600">
                <a:solidFill>
                  <a:srgbClr val="BEC5E6"/>
                </a:solidFill>
                <a:latin typeface="Calibri" panose="020F0502020204030204" pitchFamily="34" charset="0"/>
              </a:rPr>
              <a:t>Observer: los componentes se suscriben al estado y se actualizan solos.</a:t>
            </a:r>
            <a:endParaRPr lang="es-CO" sz="16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BEB5CF0-33C1-5D5C-5EBC-7F41CD370A65}"/>
              </a:ext>
            </a:extLst>
          </p:cNvPr>
          <p:cNvSpPr txBox="1"/>
          <p:nvPr/>
        </p:nvSpPr>
        <p:spPr>
          <a:xfrm>
            <a:off x="4508500" y="3276600"/>
            <a:ext cx="3175000" cy="1397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600">
                <a:solidFill>
                  <a:srgbClr val="BEC5E6"/>
                </a:solidFill>
                <a:latin typeface="Calibri" panose="020F0502020204030204" pitchFamily="34" charset="0"/>
              </a:rPr>
              <a:t>Expone operaciones por contrato y hace de intermediario entre la interfaz y los datos.</a:t>
            </a:r>
            <a:endParaRPr lang="es-CO" sz="16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5D40A74-5E04-E55C-98A2-3C7BFCDF4045}"/>
              </a:ext>
            </a:extLst>
          </p:cNvPr>
          <p:cNvSpPr txBox="1"/>
          <p:nvPr/>
        </p:nvSpPr>
        <p:spPr>
          <a:xfrm>
            <a:off x="8382000" y="3276600"/>
            <a:ext cx="3175000" cy="1397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600">
                <a:solidFill>
                  <a:srgbClr val="BEC5E6"/>
                </a:solidFill>
                <a:latin typeface="Calibri" panose="020F0502020204030204" pitchFamily="34" charset="0"/>
              </a:rPr>
              <a:t>Guarda la información; solo el servicio dueño de los datos accede a ella.</a:t>
            </a:r>
            <a:endParaRPr lang="es-CO" sz="1600">
              <a:solidFill>
                <a:srgbClr val="BEC5E6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8B0FFB1E-ABC2-DBC6-638E-D7F6672F2A99}"/>
              </a:ext>
            </a:extLst>
          </p:cNvPr>
          <p:cNvSpPr/>
          <p:nvPr/>
        </p:nvSpPr>
        <p:spPr>
          <a:xfrm>
            <a:off x="635000" y="5016500"/>
            <a:ext cx="10922000" cy="12065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rgbClr val="FFFFFF"/>
                </a:solidFill>
                <a:latin typeface="Calibri" panose="020F0502020204030204" pitchFamily="34" charset="0"/>
              </a:rPr>
              <a:t>Nube: aloja los servicios, los escala por separado y ofrece colas de mensajes (pub/sub) para notificar eventos entre ellos.</a:t>
            </a:r>
            <a:endParaRPr lang="es-CO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787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9" grpId="0"/>
      <p:bldP spid="10" grpId="0"/>
      <p:bldP spid="11" grpId="0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5FA4C54D-F8F7-667D-27BC-8658065CB91A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7116F78-536A-8DEB-2C90-7E0E23F1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pPr algn="l"/>
            <a:r>
              <a:rPr lang="es-MX" sz="3600" b="1" dirty="0">
                <a:latin typeface="Calibri" panose="020F0502020204030204" pitchFamily="34" charset="0"/>
              </a:rPr>
              <a:t>6</a:t>
            </a:r>
            <a:r>
              <a:rPr lang="es-CO" sz="3600" b="1" dirty="0">
                <a:latin typeface="Calibri" panose="020F0502020204030204" pitchFamily="34" charset="0"/>
              </a:rPr>
              <a:t>. Demostración SOA</a:t>
            </a:r>
          </a:p>
        </p:txBody>
      </p:sp>
      <p:sp>
        <p:nvSpPr>
          <p:cNvPr id="24" name="Rounded Rectangle 2">
            <a:extLst>
              <a:ext uri="{FF2B5EF4-FFF2-40B4-BE49-F238E27FC236}">
                <a16:creationId xmlns:a16="http://schemas.microsoft.com/office/drawing/2014/main" id="{251F3E1A-00CD-40F5-8C3B-ED106DFDCE14}"/>
              </a:ext>
            </a:extLst>
          </p:cNvPr>
          <p:cNvSpPr/>
          <p:nvPr/>
        </p:nvSpPr>
        <p:spPr>
          <a:xfrm>
            <a:off x="518818" y="1206500"/>
            <a:ext cx="11038183" cy="4191000"/>
          </a:xfrm>
          <a:prstGeom prst="roundRect">
            <a:avLst>
              <a:gd name="adj" fmla="val 4067"/>
            </a:avLst>
          </a:prstGeom>
          <a:solidFill>
            <a:srgbClr val="1A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45EDA06-79F8-310E-8954-BFAD8F5E29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94" t="14697" r="6094" b="16050"/>
          <a:stretch/>
        </p:blipFill>
        <p:spPr>
          <a:xfrm>
            <a:off x="635001" y="1460500"/>
            <a:ext cx="107061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15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0DC3A5-6E25-0CE9-42A0-C50E0565D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9" name="Elipse 2">
            <a:extLst>
              <a:ext uri="{FF2B5EF4-FFF2-40B4-BE49-F238E27FC236}">
                <a16:creationId xmlns:a16="http://schemas.microsoft.com/office/drawing/2014/main" id="{73E27086-79B5-6F79-3728-22245EE1FBD1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62A2209-5066-A9B5-3E35-5ED7D290F26D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975360" y="2514600"/>
            <a:ext cx="10241280" cy="1828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Calibri"/>
              </a:rPr>
              <a:t>Patrones </a:t>
            </a:r>
            <a:r>
              <a:rPr lang="en-US" dirty="0">
                <a:solidFill>
                  <a:srgbClr val="FFFFFF"/>
                </a:solidFill>
                <a:latin typeface="Calibri"/>
              </a:rPr>
              <a:t>de Diseño:</a:t>
            </a:r>
            <a:br>
              <a:rPr lang="en-US" dirty="0">
                <a:solidFill>
                  <a:srgbClr val="FFFFFF"/>
                </a:solidFill>
                <a:latin typeface="Calibri"/>
              </a:rPr>
            </a:br>
            <a:r>
              <a:rPr lang="en-US" dirty="0">
                <a:solidFill>
                  <a:srgbClr val="FFFFFF"/>
                </a:solidFill>
                <a:latin typeface="Calibri"/>
              </a:rPr>
              <a:t>                            </a:t>
            </a:r>
            <a:r>
              <a:rPr lang="en-US" b="1" dirty="0">
                <a:solidFill>
                  <a:srgbClr val="FFFFFF"/>
                </a:solidFill>
                <a:latin typeface="Calibri"/>
              </a:rPr>
              <a:t>Observer y Mediator</a:t>
            </a:r>
          </a:p>
        </p:txBody>
      </p:sp>
    </p:spTree>
    <p:extLst>
      <p:ext uri="{BB962C8B-B14F-4D97-AF65-F5344CB8AC3E}">
        <p14:creationId xmlns:p14="http://schemas.microsoft.com/office/powerpoint/2010/main" val="1518798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9" name="Elipse 2">
            <a:extLst>
              <a:ext uri="{FF2B5EF4-FFF2-40B4-BE49-F238E27FC236}">
                <a16:creationId xmlns:a16="http://schemas.microsoft.com/office/drawing/2014/main" id="{73E27086-79B5-6F79-3728-22245EE1FBD1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630936" y="320040"/>
            <a:ext cx="10158984" cy="8869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Calibri"/>
              </a:rPr>
              <a:t>1. Patrones: Definición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720" y="6339840"/>
            <a:ext cx="6096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33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solidFill>
                  <a:srgbClr val="BEC5E6"/>
                </a:solidFill>
              </a:rPr>
              <a:t>11</a:t>
            </a:fld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31520" y="1402080"/>
            <a:ext cx="4998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67" b="1" dirty="0">
                <a:solidFill>
                  <a:srgbClr val="F4B942"/>
                </a:solidFill>
                <a:latin typeface="Calibri"/>
              </a:rPr>
              <a:t>Observer</a:t>
            </a:r>
            <a:endParaRPr lang="en-US" sz="2667" dirty="0"/>
          </a:p>
        </p:txBody>
      </p:sp>
      <p:sp>
        <p:nvSpPr>
          <p:cNvPr id="4" name="Text 2"/>
          <p:cNvSpPr txBox="1"/>
          <p:nvPr/>
        </p:nvSpPr>
        <p:spPr>
          <a:xfrm>
            <a:off x="6461760" y="1402080"/>
            <a:ext cx="4998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67" b="1" dirty="0">
                <a:solidFill>
                  <a:srgbClr val="F4B942"/>
                </a:solidFill>
                <a:latin typeface="Calibri"/>
              </a:rPr>
              <a:t>Mediator</a:t>
            </a:r>
            <a:endParaRPr lang="en-US" sz="2667" dirty="0"/>
          </a:p>
        </p:txBody>
      </p:sp>
      <p:sp>
        <p:nvSpPr>
          <p:cNvPr id="5" name="Separador"/>
          <p:cNvSpPr/>
          <p:nvPr/>
        </p:nvSpPr>
        <p:spPr>
          <a:xfrm>
            <a:off x="6035040" y="1463040"/>
            <a:ext cx="0" cy="4632960"/>
          </a:xfrm>
          <a:prstGeom prst="line">
            <a:avLst/>
          </a:prstGeom>
          <a:noFill/>
          <a:ln w="12700">
            <a:solidFill>
              <a:srgbClr val="2B3270"/>
            </a:solidFill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4998720" cy="414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rgbClr val="FFFFFF"/>
                </a:solidFill>
                <a:latin typeface="Calibri"/>
              </a:rPr>
              <a:t>Qué es: 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relación uno a muchos; si el Subject cambia, avisa a todos sus Observers.</a:t>
            </a:r>
          </a:p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rgbClr val="FFFFFF"/>
                </a:solidFill>
                <a:latin typeface="Calibri"/>
              </a:rPr>
              <a:t>Metáfora: 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un canal de YouTube y sus suscriptores.</a:t>
            </a:r>
          </a:p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rgbClr val="FFFFFF"/>
                </a:solidFill>
                <a:latin typeface="Calibri"/>
              </a:rPr>
              <a:t>Sirve para: 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reaccionar a cambios sin que el emisor conozca a quién avisa.</a:t>
            </a:r>
          </a:p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rgbClr val="FFFFFF"/>
                </a:solidFill>
                <a:latin typeface="Calibri"/>
              </a:rPr>
              <a:t>En SOA: 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publish/subscribe con un broker (RabbitMQ, Kafka).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6461760" y="2011680"/>
            <a:ext cx="4998720" cy="414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rgbClr val="FFFFFF"/>
                </a:solidFill>
                <a:latin typeface="Calibri"/>
              </a:rPr>
              <a:t>Qué es: 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un intermediario que centraliza la comunicación entre componentes.</a:t>
            </a:r>
          </a:p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rgbClr val="FFFFFF"/>
                </a:solidFill>
                <a:latin typeface="Calibri"/>
              </a:rPr>
              <a:t>Metáfora: 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la torre de control de un aeropuerto.</a:t>
            </a:r>
          </a:p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rgbClr val="FFFFFF"/>
                </a:solidFill>
                <a:latin typeface="Calibri"/>
              </a:rPr>
              <a:t>Sirve para: 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evitar una maraña de dependencias y coordinar en un solo lugar.</a:t>
            </a:r>
          </a:p>
          <a:p>
            <a:pPr>
              <a:spcAft>
                <a:spcPts val="1067"/>
              </a:spcAft>
            </a:pPr>
            <a:r>
              <a:rPr lang="en-US" sz="1867" b="1" dirty="0">
                <a:solidFill>
                  <a:srgbClr val="FFFFFF"/>
                </a:solidFill>
                <a:latin typeface="Calibri"/>
              </a:rPr>
              <a:t>En SOA: </a:t>
            </a:r>
            <a:r>
              <a:rPr lang="en-US" sz="1867" dirty="0">
                <a:solidFill>
                  <a:srgbClr val="BEC5E6"/>
                </a:solidFill>
                <a:latin typeface="Calibri"/>
              </a:rPr>
              <a:t>orquestador, ESB o API Gateway.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9" name="Elipse 2">
            <a:extLst>
              <a:ext uri="{FF2B5EF4-FFF2-40B4-BE49-F238E27FC236}">
                <a16:creationId xmlns:a16="http://schemas.microsoft.com/office/drawing/2014/main" id="{73E27086-79B5-6F79-3728-22245EE1FBD1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630936" y="320040"/>
            <a:ext cx="10158984" cy="8869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Calibri"/>
              </a:rPr>
              <a:t>2. Patrones: Características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720" y="6339840"/>
            <a:ext cx="6096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33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solidFill>
                  <a:srgbClr val="BEC5E6"/>
                </a:solidFill>
              </a:rPr>
              <a:t>12</a:t>
            </a:fld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31520" y="1402080"/>
            <a:ext cx="4998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67" b="1" dirty="0">
                <a:solidFill>
                  <a:srgbClr val="F4B942"/>
                </a:solidFill>
                <a:latin typeface="Calibri"/>
              </a:rPr>
              <a:t>Observer</a:t>
            </a:r>
            <a:endParaRPr lang="en-US" sz="2667" dirty="0"/>
          </a:p>
        </p:txBody>
      </p:sp>
      <p:sp>
        <p:nvSpPr>
          <p:cNvPr id="4" name="Text 2"/>
          <p:cNvSpPr txBox="1"/>
          <p:nvPr/>
        </p:nvSpPr>
        <p:spPr>
          <a:xfrm>
            <a:off x="6461760" y="1402080"/>
            <a:ext cx="4998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67" b="1" dirty="0">
                <a:solidFill>
                  <a:srgbClr val="F4B942"/>
                </a:solidFill>
                <a:latin typeface="Calibri"/>
              </a:rPr>
              <a:t>Mediator</a:t>
            </a:r>
            <a:endParaRPr lang="en-US" sz="2667" dirty="0"/>
          </a:p>
        </p:txBody>
      </p:sp>
      <p:sp>
        <p:nvSpPr>
          <p:cNvPr id="5" name="Separador"/>
          <p:cNvSpPr/>
          <p:nvPr/>
        </p:nvSpPr>
        <p:spPr>
          <a:xfrm>
            <a:off x="6035040" y="1463040"/>
            <a:ext cx="0" cy="4632960"/>
          </a:xfrm>
          <a:prstGeom prst="line">
            <a:avLst/>
          </a:prstGeom>
          <a:noFill/>
          <a:ln w="12700">
            <a:solidFill>
              <a:srgbClr val="2B3270"/>
            </a:solidFill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4998720" cy="414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67"/>
              </a:spcAft>
            </a:pPr>
            <a:r>
              <a:rPr lang="en-US" sz="1733" b="1" dirty="0">
                <a:solidFill>
                  <a:srgbClr val="FFFFFF"/>
                </a:solidFill>
                <a:latin typeface="Calibri"/>
              </a:rPr>
              <a:t>Componentes: </a:t>
            </a:r>
            <a:r>
              <a:rPr lang="en-US" sz="1733" dirty="0">
                <a:solidFill>
                  <a:srgbClr val="BEC5E6"/>
                </a:solidFill>
                <a:latin typeface="Calibri"/>
              </a:rPr>
              <a:t>Subject, Observer, subscribe(), unsubscribe(), notify() y update().</a:t>
            </a:r>
          </a:p>
          <a:p>
            <a:pPr>
              <a:spcAft>
                <a:spcPts val="667"/>
              </a:spcAft>
            </a:pPr>
            <a:r>
              <a:rPr lang="en-US" sz="1733" b="1" dirty="0">
                <a:solidFill>
                  <a:srgbClr val="FFFFFF"/>
                </a:solidFill>
                <a:latin typeface="Calibri"/>
              </a:rPr>
              <a:t>Por dentro: </a:t>
            </a:r>
            <a:r>
              <a:rPr lang="en-US" sz="1733" dirty="0">
                <a:solidFill>
                  <a:srgbClr val="BEC5E6"/>
                </a:solidFill>
                <a:latin typeface="Calibri"/>
              </a:rPr>
              <a:t>el Subject guarda una lista de observadores y la recorre al notificar:</a:t>
            </a:r>
          </a:p>
          <a:p>
            <a:pPr marL="457189" indent="-457189">
              <a:spcAft>
                <a:spcPts val="667"/>
              </a:spcAft>
              <a:buSzPct val="100000"/>
              <a:buFont typeface="+mj-lt"/>
              <a:buAutoNum type="arabicPeriod"/>
            </a:pPr>
            <a:r>
              <a:rPr lang="en-US" sz="1733" dirty="0">
                <a:solidFill>
                  <a:srgbClr val="BEC5E6"/>
                </a:solidFill>
                <a:latin typeface="Calibri"/>
              </a:rPr>
              <a:t>se registran con subscribe()</a:t>
            </a:r>
          </a:p>
          <a:p>
            <a:pPr marL="457189" indent="-457189">
              <a:spcAft>
                <a:spcPts val="667"/>
              </a:spcAft>
              <a:buSzPct val="100000"/>
              <a:buFont typeface="+mj-lt"/>
              <a:buAutoNum type="arabicPeriod"/>
            </a:pPr>
            <a:r>
              <a:rPr lang="en-US" sz="1733" dirty="0">
                <a:solidFill>
                  <a:srgbClr val="BEC5E6"/>
                </a:solidFill>
                <a:latin typeface="Calibri"/>
              </a:rPr>
              <a:t>cambia el estado y llama notify()</a:t>
            </a:r>
          </a:p>
          <a:p>
            <a:pPr marL="457189" indent="-457189">
              <a:spcAft>
                <a:spcPts val="667"/>
              </a:spcAft>
              <a:buSzPct val="100000"/>
              <a:buFont typeface="+mj-lt"/>
              <a:buAutoNum type="arabicPeriod"/>
            </a:pPr>
            <a:r>
              <a:rPr lang="en-US" sz="1733" dirty="0">
                <a:solidFill>
                  <a:srgbClr val="BEC5E6"/>
                </a:solidFill>
                <a:latin typeface="Calibri"/>
              </a:rPr>
              <a:t>cada uno recibe update()</a:t>
            </a:r>
          </a:p>
          <a:p>
            <a:pPr>
              <a:spcAft>
                <a:spcPts val="667"/>
              </a:spcAft>
            </a:pPr>
            <a:endParaRPr lang="en-US" sz="1733" dirty="0"/>
          </a:p>
          <a:p>
            <a:pPr>
              <a:spcAft>
                <a:spcPts val="667"/>
              </a:spcAft>
            </a:pPr>
            <a:r>
              <a:rPr lang="en-US" sz="1733" b="1" dirty="0">
                <a:solidFill>
                  <a:srgbClr val="FFFFFF"/>
                </a:solidFill>
                <a:latin typeface="Calibri"/>
              </a:rPr>
              <a:t>En SOA: </a:t>
            </a:r>
            <a:r>
              <a:rPr lang="en-US" sz="1733" dirty="0">
                <a:solidFill>
                  <a:srgbClr val="BEC5E6"/>
                </a:solidFill>
                <a:latin typeface="Calibri"/>
              </a:rPr>
              <a:t>el broker hace de lista y entrega el evento a cada suscriptor.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6461760" y="2011680"/>
            <a:ext cx="4998720" cy="414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67"/>
              </a:spcAft>
            </a:pPr>
            <a:r>
              <a:rPr lang="en-US" sz="1733" b="1" dirty="0">
                <a:solidFill>
                  <a:srgbClr val="FFFFFF"/>
                </a:solidFill>
                <a:latin typeface="Calibri"/>
              </a:rPr>
              <a:t>Componentes: </a:t>
            </a:r>
            <a:r>
              <a:rPr lang="en-US" sz="1733" dirty="0">
                <a:solidFill>
                  <a:srgbClr val="BEC5E6"/>
                </a:solidFill>
                <a:latin typeface="Calibri"/>
              </a:rPr>
              <a:t>interfaz Mediator, mediador concreto y Colleagues.</a:t>
            </a:r>
          </a:p>
          <a:p>
            <a:pPr>
              <a:spcAft>
                <a:spcPts val="667"/>
              </a:spcAft>
            </a:pPr>
            <a:r>
              <a:rPr lang="en-US" sz="1733" b="1" dirty="0">
                <a:solidFill>
                  <a:srgbClr val="FFFFFF"/>
                </a:solidFill>
                <a:latin typeface="Calibri"/>
              </a:rPr>
              <a:t>Por dentro: </a:t>
            </a:r>
            <a:r>
              <a:rPr lang="en-US" sz="1733" dirty="0">
                <a:solidFill>
                  <a:srgbClr val="BEC5E6"/>
                </a:solidFill>
                <a:latin typeface="Calibri"/>
              </a:rPr>
              <a:t>los Colleagues solo conocen al mediador:</a:t>
            </a:r>
          </a:p>
          <a:p>
            <a:pPr marL="457189" indent="-457189">
              <a:spcAft>
                <a:spcPts val="667"/>
              </a:spcAft>
              <a:buSzPct val="100000"/>
              <a:buFont typeface="+mj-lt"/>
              <a:buAutoNum type="arabicPeriod"/>
            </a:pPr>
            <a:r>
              <a:rPr lang="en-US" sz="1733" dirty="0">
                <a:solidFill>
                  <a:srgbClr val="BEC5E6"/>
                </a:solidFill>
                <a:latin typeface="Calibri"/>
              </a:rPr>
              <a:t>un Colleague le avisa lo que necesita</a:t>
            </a:r>
          </a:p>
          <a:p>
            <a:pPr marL="457189" indent="-457189">
              <a:spcAft>
                <a:spcPts val="667"/>
              </a:spcAft>
              <a:buSzPct val="100000"/>
              <a:buFont typeface="+mj-lt"/>
              <a:buAutoNum type="arabicPeriod"/>
            </a:pPr>
            <a:r>
              <a:rPr lang="en-US" sz="1733" dirty="0">
                <a:solidFill>
                  <a:srgbClr val="BEC5E6"/>
                </a:solidFill>
                <a:latin typeface="Calibri"/>
              </a:rPr>
              <a:t>el mediador decide a quién, en qué orden y con qué reglas</a:t>
            </a:r>
          </a:p>
          <a:p>
            <a:pPr marL="457189" indent="-457189">
              <a:spcAft>
                <a:spcPts val="667"/>
              </a:spcAft>
              <a:buSzPct val="100000"/>
              <a:buFont typeface="+mj-lt"/>
              <a:buAutoNum type="arabicPeriod"/>
            </a:pPr>
            <a:r>
              <a:rPr lang="en-US" sz="1733" dirty="0">
                <a:solidFill>
                  <a:srgbClr val="BEC5E6"/>
                </a:solidFill>
                <a:latin typeface="Calibri"/>
              </a:rPr>
              <a:t>los demás responden al mediador</a:t>
            </a:r>
          </a:p>
          <a:p>
            <a:pPr>
              <a:spcAft>
                <a:spcPts val="667"/>
              </a:spcAft>
            </a:pPr>
            <a:endParaRPr lang="en-US" sz="1733" dirty="0"/>
          </a:p>
          <a:p>
            <a:pPr>
              <a:spcAft>
                <a:spcPts val="667"/>
              </a:spcAft>
            </a:pPr>
            <a:r>
              <a:rPr lang="en-US" sz="1733" b="1" dirty="0">
                <a:solidFill>
                  <a:srgbClr val="FFFFFF"/>
                </a:solidFill>
                <a:latin typeface="Calibri"/>
              </a:rPr>
              <a:t>En SOA: </a:t>
            </a:r>
            <a:r>
              <a:rPr lang="en-US" sz="1733" dirty="0">
                <a:solidFill>
                  <a:srgbClr val="BEC5E6"/>
                </a:solidFill>
                <a:latin typeface="Calibri"/>
              </a:rPr>
              <a:t>el ESB o gateway enruta, transforma y coordina.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9" name="Elipse 2">
            <a:extLst>
              <a:ext uri="{FF2B5EF4-FFF2-40B4-BE49-F238E27FC236}">
                <a16:creationId xmlns:a16="http://schemas.microsoft.com/office/drawing/2014/main" id="{73E27086-79B5-6F79-3728-22245EE1FBD1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630936" y="320040"/>
            <a:ext cx="10158984" cy="8869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Calibri"/>
              </a:rPr>
              <a:t>3. Patrones: Diagramas</a:t>
            </a:r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720" y="6339840"/>
            <a:ext cx="6096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33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solidFill>
                  <a:srgbClr val="BEC5E6"/>
                </a:solidFill>
              </a:rPr>
              <a:t>13</a:t>
            </a:fld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31520" y="1402080"/>
            <a:ext cx="4998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67" b="1" dirty="0">
                <a:solidFill>
                  <a:srgbClr val="F4B942"/>
                </a:solidFill>
                <a:latin typeface="Calibri"/>
              </a:rPr>
              <a:t>Observer</a:t>
            </a:r>
            <a:endParaRPr lang="en-US" sz="2667" dirty="0"/>
          </a:p>
        </p:txBody>
      </p:sp>
      <p:sp>
        <p:nvSpPr>
          <p:cNvPr id="4" name="Text 2"/>
          <p:cNvSpPr txBox="1"/>
          <p:nvPr/>
        </p:nvSpPr>
        <p:spPr>
          <a:xfrm>
            <a:off x="6461760" y="1402080"/>
            <a:ext cx="4998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67" b="1" dirty="0">
                <a:solidFill>
                  <a:srgbClr val="F4B942"/>
                </a:solidFill>
                <a:latin typeface="Calibri"/>
              </a:rPr>
              <a:t>Mediator</a:t>
            </a:r>
            <a:endParaRPr lang="en-US" sz="2667" dirty="0"/>
          </a:p>
        </p:txBody>
      </p:sp>
      <p:sp>
        <p:nvSpPr>
          <p:cNvPr id="5" name="Separador"/>
          <p:cNvSpPr/>
          <p:nvPr/>
        </p:nvSpPr>
        <p:spPr>
          <a:xfrm>
            <a:off x="6035040" y="1463040"/>
            <a:ext cx="0" cy="4632960"/>
          </a:xfrm>
          <a:prstGeom prst="line">
            <a:avLst/>
          </a:prstGeom>
          <a:noFill/>
          <a:ln w="12700">
            <a:solidFill>
              <a:srgbClr val="2B3270"/>
            </a:solidFill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6" name="Subject notify()"/>
          <p:cNvSpPr/>
          <p:nvPr/>
        </p:nvSpPr>
        <p:spPr>
          <a:xfrm>
            <a:off x="731520" y="2560320"/>
            <a:ext cx="1828800" cy="1706880"/>
          </a:xfrm>
          <a:prstGeom prst="rect">
            <a:avLst/>
          </a:prstGeom>
          <a:solidFill>
            <a:srgbClr val="6473F5"/>
          </a:solidFill>
          <a:ln w="15875">
            <a:noFill/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7" name="Text 5"/>
          <p:cNvSpPr txBox="1"/>
          <p:nvPr/>
        </p:nvSpPr>
        <p:spPr>
          <a:xfrm>
            <a:off x="731520" y="2560320"/>
            <a:ext cx="1828800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Subject</a:t>
            </a:r>
            <a:endParaRPr lang="en-US" sz="1600" dirty="0"/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notify()</a:t>
            </a:r>
            <a:endParaRPr lang="en-US" sz="1600" dirty="0"/>
          </a:p>
        </p:txBody>
      </p:sp>
      <p:sp>
        <p:nvSpPr>
          <p:cNvPr id="8" name="Observer A"/>
          <p:cNvSpPr/>
          <p:nvPr/>
        </p:nvSpPr>
        <p:spPr>
          <a:xfrm>
            <a:off x="3901440" y="1950720"/>
            <a:ext cx="1828800" cy="731520"/>
          </a:xfrm>
          <a:prstGeom prst="rect">
            <a:avLst/>
          </a:prstGeom>
          <a:solidFill>
            <a:srgbClr val="6473F5"/>
          </a:solidFill>
          <a:ln w="15875">
            <a:noFill/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9" name="Text 7"/>
          <p:cNvSpPr txBox="1"/>
          <p:nvPr/>
        </p:nvSpPr>
        <p:spPr>
          <a:xfrm>
            <a:off x="3901440" y="1950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Observer A</a:t>
            </a:r>
            <a:endParaRPr lang="en-US" sz="1600" dirty="0"/>
          </a:p>
        </p:txBody>
      </p:sp>
      <p:sp>
        <p:nvSpPr>
          <p:cNvPr id="10" name="Observer B"/>
          <p:cNvSpPr/>
          <p:nvPr/>
        </p:nvSpPr>
        <p:spPr>
          <a:xfrm>
            <a:off x="3901440" y="3048000"/>
            <a:ext cx="1828800" cy="731520"/>
          </a:xfrm>
          <a:prstGeom prst="rect">
            <a:avLst/>
          </a:prstGeom>
          <a:solidFill>
            <a:srgbClr val="6473F5"/>
          </a:solidFill>
          <a:ln w="15875">
            <a:noFill/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11" name="Text 9"/>
          <p:cNvSpPr txBox="1"/>
          <p:nvPr/>
        </p:nvSpPr>
        <p:spPr>
          <a:xfrm>
            <a:off x="3901440" y="3048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Observer B</a:t>
            </a:r>
            <a:endParaRPr lang="en-US" sz="1600" dirty="0"/>
          </a:p>
        </p:txBody>
      </p:sp>
      <p:sp>
        <p:nvSpPr>
          <p:cNvPr id="12" name="Observer C"/>
          <p:cNvSpPr/>
          <p:nvPr/>
        </p:nvSpPr>
        <p:spPr>
          <a:xfrm>
            <a:off x="3901440" y="4145280"/>
            <a:ext cx="1828800" cy="731520"/>
          </a:xfrm>
          <a:prstGeom prst="rect">
            <a:avLst/>
          </a:prstGeom>
          <a:solidFill>
            <a:srgbClr val="6473F5"/>
          </a:solidFill>
          <a:ln w="15875">
            <a:noFill/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13" name="Text 11"/>
          <p:cNvSpPr txBox="1"/>
          <p:nvPr/>
        </p:nvSpPr>
        <p:spPr>
          <a:xfrm>
            <a:off x="3901440" y="4145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Observer C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 flipV="1">
            <a:off x="2560320" y="2316480"/>
            <a:ext cx="1341120" cy="1097280"/>
          </a:xfrm>
          <a:prstGeom prst="line">
            <a:avLst/>
          </a:prstGeom>
          <a:noFill/>
          <a:ln w="19050">
            <a:solidFill>
              <a:srgbClr val="BEC5E6"/>
            </a:solidFill>
            <a:prstDash val="solid"/>
            <a:tailEnd type="triangle"/>
          </a:ln>
        </p:spPr>
        <p:txBody>
          <a:bodyPr/>
          <a:lstStyle/>
          <a:p>
            <a:endParaRPr lang="es-419" sz="2400"/>
          </a:p>
        </p:txBody>
      </p:sp>
      <p:sp>
        <p:nvSpPr>
          <p:cNvPr id="15" name="Shape 13"/>
          <p:cNvSpPr/>
          <p:nvPr/>
        </p:nvSpPr>
        <p:spPr>
          <a:xfrm>
            <a:off x="2560320" y="3413760"/>
            <a:ext cx="1341120" cy="0"/>
          </a:xfrm>
          <a:prstGeom prst="line">
            <a:avLst/>
          </a:prstGeom>
          <a:noFill/>
          <a:ln w="19050">
            <a:solidFill>
              <a:srgbClr val="BEC5E6"/>
            </a:solidFill>
            <a:prstDash val="solid"/>
            <a:tailEnd type="triangle"/>
          </a:ln>
        </p:spPr>
        <p:txBody>
          <a:bodyPr/>
          <a:lstStyle/>
          <a:p>
            <a:endParaRPr lang="es-419" sz="2400"/>
          </a:p>
        </p:txBody>
      </p:sp>
      <p:sp>
        <p:nvSpPr>
          <p:cNvPr id="16" name="Shape 14"/>
          <p:cNvSpPr/>
          <p:nvPr/>
        </p:nvSpPr>
        <p:spPr>
          <a:xfrm>
            <a:off x="2560320" y="3413760"/>
            <a:ext cx="1341120" cy="1097280"/>
          </a:xfrm>
          <a:prstGeom prst="line">
            <a:avLst/>
          </a:prstGeom>
          <a:noFill/>
          <a:ln w="19050">
            <a:solidFill>
              <a:srgbClr val="BEC5E6"/>
            </a:solidFill>
            <a:prstDash val="solid"/>
            <a:tailEnd type="triangle"/>
          </a:ln>
        </p:spPr>
        <p:txBody>
          <a:bodyPr/>
          <a:lstStyle/>
          <a:p>
            <a:endParaRPr lang="es-419" sz="2400"/>
          </a:p>
        </p:txBody>
      </p:sp>
      <p:sp>
        <p:nvSpPr>
          <p:cNvPr id="17" name="Mediator"/>
          <p:cNvSpPr/>
          <p:nvPr/>
        </p:nvSpPr>
        <p:spPr>
          <a:xfrm>
            <a:off x="7924800" y="1950720"/>
            <a:ext cx="2072640" cy="853440"/>
          </a:xfrm>
          <a:prstGeom prst="rect">
            <a:avLst/>
          </a:prstGeom>
          <a:solidFill>
            <a:srgbClr val="6473F5"/>
          </a:solidFill>
          <a:ln w="15875">
            <a:noFill/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18" name="Text 16"/>
          <p:cNvSpPr txBox="1"/>
          <p:nvPr/>
        </p:nvSpPr>
        <p:spPr>
          <a:xfrm>
            <a:off x="7924800" y="1950720"/>
            <a:ext cx="20726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Mediator</a:t>
            </a:r>
            <a:endParaRPr lang="en-US" sz="1600" dirty="0"/>
          </a:p>
        </p:txBody>
      </p:sp>
      <p:sp>
        <p:nvSpPr>
          <p:cNvPr id="19" name="Colleague A"/>
          <p:cNvSpPr/>
          <p:nvPr/>
        </p:nvSpPr>
        <p:spPr>
          <a:xfrm>
            <a:off x="6461760" y="3901440"/>
            <a:ext cx="1463040" cy="853440"/>
          </a:xfrm>
          <a:prstGeom prst="rect">
            <a:avLst/>
          </a:prstGeom>
          <a:solidFill>
            <a:srgbClr val="6473F5"/>
          </a:solidFill>
          <a:ln w="15875">
            <a:noFill/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20" name="Text 18"/>
          <p:cNvSpPr txBox="1"/>
          <p:nvPr/>
        </p:nvSpPr>
        <p:spPr>
          <a:xfrm>
            <a:off x="6461760" y="3901440"/>
            <a:ext cx="14630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Colleague A</a:t>
            </a:r>
            <a:endParaRPr lang="en-US" sz="1600" dirty="0"/>
          </a:p>
        </p:txBody>
      </p:sp>
      <p:sp>
        <p:nvSpPr>
          <p:cNvPr id="21" name="Colleague B"/>
          <p:cNvSpPr/>
          <p:nvPr/>
        </p:nvSpPr>
        <p:spPr>
          <a:xfrm>
            <a:off x="8229600" y="3901440"/>
            <a:ext cx="1463040" cy="853440"/>
          </a:xfrm>
          <a:prstGeom prst="rect">
            <a:avLst/>
          </a:prstGeom>
          <a:solidFill>
            <a:srgbClr val="6473F5"/>
          </a:solidFill>
          <a:ln w="15875">
            <a:noFill/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22" name="Text 20"/>
          <p:cNvSpPr txBox="1"/>
          <p:nvPr/>
        </p:nvSpPr>
        <p:spPr>
          <a:xfrm>
            <a:off x="8229600" y="3901440"/>
            <a:ext cx="14630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Colleague B</a:t>
            </a:r>
            <a:endParaRPr lang="en-US" sz="1600" dirty="0"/>
          </a:p>
        </p:txBody>
      </p:sp>
      <p:sp>
        <p:nvSpPr>
          <p:cNvPr id="23" name="Colleague C"/>
          <p:cNvSpPr/>
          <p:nvPr/>
        </p:nvSpPr>
        <p:spPr>
          <a:xfrm>
            <a:off x="9997440" y="3901440"/>
            <a:ext cx="1463040" cy="853440"/>
          </a:xfrm>
          <a:prstGeom prst="rect">
            <a:avLst/>
          </a:prstGeom>
          <a:solidFill>
            <a:srgbClr val="6473F5"/>
          </a:solidFill>
          <a:ln w="15875">
            <a:noFill/>
            <a:prstDash val="solid"/>
          </a:ln>
        </p:spPr>
        <p:txBody>
          <a:bodyPr/>
          <a:lstStyle/>
          <a:p>
            <a:endParaRPr lang="es-419" sz="2400"/>
          </a:p>
        </p:txBody>
      </p:sp>
      <p:sp>
        <p:nvSpPr>
          <p:cNvPr id="24" name="Text 22"/>
          <p:cNvSpPr txBox="1"/>
          <p:nvPr/>
        </p:nvSpPr>
        <p:spPr>
          <a:xfrm>
            <a:off x="9997440" y="3901440"/>
            <a:ext cx="14630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Colleague C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 flipV="1">
            <a:off x="7193280" y="2804160"/>
            <a:ext cx="1097280" cy="1097280"/>
          </a:xfrm>
          <a:prstGeom prst="line">
            <a:avLst/>
          </a:prstGeom>
          <a:noFill/>
          <a:ln w="19050">
            <a:solidFill>
              <a:srgbClr val="BEC5E6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s-419" sz="2400"/>
          </a:p>
        </p:txBody>
      </p:sp>
      <p:sp>
        <p:nvSpPr>
          <p:cNvPr id="26" name="Shape 24"/>
          <p:cNvSpPr/>
          <p:nvPr/>
        </p:nvSpPr>
        <p:spPr>
          <a:xfrm>
            <a:off x="8961120" y="2804160"/>
            <a:ext cx="0" cy="1097280"/>
          </a:xfrm>
          <a:prstGeom prst="line">
            <a:avLst/>
          </a:prstGeom>
          <a:noFill/>
          <a:ln w="19050">
            <a:solidFill>
              <a:srgbClr val="BEC5E6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s-419" sz="2400"/>
          </a:p>
        </p:txBody>
      </p:sp>
      <p:sp>
        <p:nvSpPr>
          <p:cNvPr id="27" name="Shape 25"/>
          <p:cNvSpPr/>
          <p:nvPr/>
        </p:nvSpPr>
        <p:spPr>
          <a:xfrm>
            <a:off x="9631680" y="2804160"/>
            <a:ext cx="1097280" cy="1097280"/>
          </a:xfrm>
          <a:prstGeom prst="line">
            <a:avLst/>
          </a:prstGeom>
          <a:noFill/>
          <a:ln w="19050">
            <a:solidFill>
              <a:srgbClr val="BEC5E6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s-419" sz="2400"/>
          </a:p>
        </p:txBody>
      </p:sp>
      <p:sp>
        <p:nvSpPr>
          <p:cNvPr id="28" name="Text 26"/>
          <p:cNvSpPr txBox="1"/>
          <p:nvPr/>
        </p:nvSpPr>
        <p:spPr>
          <a:xfrm>
            <a:off x="731520" y="5120640"/>
            <a:ext cx="499872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67" dirty="0">
                <a:solidFill>
                  <a:srgbClr val="BEC5E6"/>
                </a:solidFill>
                <a:latin typeface="Calibri"/>
              </a:rPr>
              <a:t>El Subject avisa a todos sus Observers con notify(). En SOA, el broker entrega el evento.</a:t>
            </a:r>
          </a:p>
        </p:txBody>
      </p:sp>
      <p:sp>
        <p:nvSpPr>
          <p:cNvPr id="29" name="Text 27"/>
          <p:cNvSpPr txBox="1"/>
          <p:nvPr/>
        </p:nvSpPr>
        <p:spPr>
          <a:xfrm>
            <a:off x="6461760" y="5120640"/>
            <a:ext cx="499872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67" dirty="0">
                <a:solidFill>
                  <a:srgbClr val="BEC5E6"/>
                </a:solidFill>
                <a:latin typeface="Calibri"/>
              </a:rPr>
              <a:t>Todos hablan con el Mediator, que coordina; los Colleagues no se conocen entre sí.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FE7D64DB-C5FD-D992-F020-91F87E5C8482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413750F-AC17-AF7B-C66B-9B3777908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r>
              <a:rPr lang="es-CO" sz="3600" b="1" dirty="0">
                <a:solidFill>
                  <a:srgbClr val="FFFFFF"/>
                </a:solidFill>
                <a:latin typeface="Calibri" panose="020F0502020204030204" pitchFamily="34" charset="0"/>
              </a:rPr>
              <a:t>4. </a:t>
            </a:r>
            <a:r>
              <a:rPr lang="es-CO" sz="3600" b="1" dirty="0" err="1">
                <a:solidFill>
                  <a:srgbClr val="FFFFFF"/>
                </a:solidFill>
                <a:latin typeface="Calibri" panose="020F0502020204030204" pitchFamily="34" charset="0"/>
              </a:rPr>
              <a:t>Observer</a:t>
            </a:r>
            <a:r>
              <a:rPr lang="es-CO" sz="3600" b="1" dirty="0">
                <a:solidFill>
                  <a:srgbClr val="FFFFFF"/>
                </a:solidFill>
                <a:latin typeface="Calibri" panose="020F0502020204030204" pitchFamily="34" charset="0"/>
              </a:rPr>
              <a:t>: ventajas y desventajas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8EDD861F-87A0-68C5-E3EB-742B2E52E244}"/>
              </a:ext>
            </a:extLst>
          </p:cNvPr>
          <p:cNvSpPr/>
          <p:nvPr/>
        </p:nvSpPr>
        <p:spPr>
          <a:xfrm>
            <a:off x="762000" y="3111500"/>
            <a:ext cx="1651000" cy="1651000"/>
          </a:xfrm>
          <a:prstGeom prst="ellipse">
            <a:avLst/>
          </a:prstGeom>
          <a:solidFill>
            <a:srgbClr val="2EC4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b="1">
                <a:solidFill>
                  <a:srgbClr val="0F122D"/>
                </a:solidFill>
                <a:latin typeface="Calibri" panose="020F0502020204030204" pitchFamily="34" charset="0"/>
              </a:rPr>
              <a:t>Sujeto</a:t>
            </a:r>
          </a:p>
          <a:p>
            <a:pPr algn="ctr"/>
            <a:r>
              <a:rPr lang="es-CO" sz="1600">
                <a:solidFill>
                  <a:srgbClr val="0F122D"/>
                </a:solidFill>
                <a:latin typeface="Calibri" panose="020F0502020204030204" pitchFamily="34" charset="0"/>
              </a:rPr>
              <a:t>notifica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BC01D2D4-D3BE-42B8-B953-AE1DD8CCFB69}"/>
              </a:ext>
            </a:extLst>
          </p:cNvPr>
          <p:cNvCxnSpPr/>
          <p:nvPr/>
        </p:nvCxnSpPr>
        <p:spPr>
          <a:xfrm flipV="1">
            <a:off x="2438400" y="2127250"/>
            <a:ext cx="1701800" cy="1809750"/>
          </a:xfrm>
          <a:prstGeom prst="straightConnector1">
            <a:avLst/>
          </a:prstGeom>
          <a:ln w="44450">
            <a:solidFill>
              <a:srgbClr val="BEC5E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64853A48-A215-D8B8-E7C0-9228774DD494}"/>
              </a:ext>
            </a:extLst>
          </p:cNvPr>
          <p:cNvSpPr/>
          <p:nvPr/>
        </p:nvSpPr>
        <p:spPr>
          <a:xfrm>
            <a:off x="4191000" y="1778000"/>
            <a:ext cx="1778000" cy="6985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>
                <a:solidFill>
                  <a:srgbClr val="FFFFFF"/>
                </a:solidFill>
                <a:latin typeface="Calibri" panose="020F0502020204030204" pitchFamily="34" charset="0"/>
              </a:rPr>
              <a:t>Observador A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0D9E3C50-0309-2C0E-1C81-9544E702937F}"/>
              </a:ext>
            </a:extLst>
          </p:cNvPr>
          <p:cNvCxnSpPr/>
          <p:nvPr/>
        </p:nvCxnSpPr>
        <p:spPr>
          <a:xfrm>
            <a:off x="2438400" y="3937000"/>
            <a:ext cx="1701800" cy="6350"/>
          </a:xfrm>
          <a:prstGeom prst="straightConnector1">
            <a:avLst/>
          </a:prstGeom>
          <a:ln w="44450">
            <a:solidFill>
              <a:srgbClr val="BEC5E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E84780C4-F831-34CE-F3B0-9C034A3EBA03}"/>
              </a:ext>
            </a:extLst>
          </p:cNvPr>
          <p:cNvSpPr/>
          <p:nvPr/>
        </p:nvSpPr>
        <p:spPr>
          <a:xfrm>
            <a:off x="4191000" y="3594100"/>
            <a:ext cx="1778000" cy="6985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>
                <a:solidFill>
                  <a:srgbClr val="FFFFFF"/>
                </a:solidFill>
                <a:latin typeface="Calibri" panose="020F0502020204030204" pitchFamily="34" charset="0"/>
              </a:rPr>
              <a:t>Observador B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9B3426D6-F236-00D4-D35D-43B760688F9C}"/>
              </a:ext>
            </a:extLst>
          </p:cNvPr>
          <p:cNvCxnSpPr/>
          <p:nvPr/>
        </p:nvCxnSpPr>
        <p:spPr>
          <a:xfrm>
            <a:off x="2438400" y="3937000"/>
            <a:ext cx="1701800" cy="1822450"/>
          </a:xfrm>
          <a:prstGeom prst="straightConnector1">
            <a:avLst/>
          </a:prstGeom>
          <a:ln w="44450">
            <a:solidFill>
              <a:srgbClr val="BEC5E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396B2B95-BB0D-FB09-B1FA-C3D25DD06C48}"/>
              </a:ext>
            </a:extLst>
          </p:cNvPr>
          <p:cNvSpPr/>
          <p:nvPr/>
        </p:nvSpPr>
        <p:spPr>
          <a:xfrm>
            <a:off x="4191000" y="5410200"/>
            <a:ext cx="1778000" cy="6985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>
                <a:solidFill>
                  <a:srgbClr val="FFFFFF"/>
                </a:solidFill>
                <a:latin typeface="Calibri" panose="020F0502020204030204" pitchFamily="34" charset="0"/>
              </a:rPr>
              <a:t>Observador C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BD9A5083-F9DB-98FF-C9DA-2A60CDC8B45B}"/>
              </a:ext>
            </a:extLst>
          </p:cNvPr>
          <p:cNvSpPr/>
          <p:nvPr/>
        </p:nvSpPr>
        <p:spPr>
          <a:xfrm>
            <a:off x="6350000" y="1587500"/>
            <a:ext cx="5207000" cy="20955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62A1560-1CE9-C4F5-81DF-74AAE2610360}"/>
              </a:ext>
            </a:extLst>
          </p:cNvPr>
          <p:cNvSpPr txBox="1"/>
          <p:nvPr/>
        </p:nvSpPr>
        <p:spPr>
          <a:xfrm>
            <a:off x="6629400" y="1765300"/>
            <a:ext cx="46482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200" b="1">
                <a:solidFill>
                  <a:srgbClr val="34C78C"/>
                </a:solidFill>
                <a:latin typeface="Calibri" panose="020F0502020204030204" pitchFamily="34" charset="0"/>
              </a:rPr>
              <a:t>Ventajas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7224748-5BDF-EE20-EAFE-51A5697998CD}"/>
              </a:ext>
            </a:extLst>
          </p:cNvPr>
          <p:cNvSpPr txBox="1"/>
          <p:nvPr/>
        </p:nvSpPr>
        <p:spPr>
          <a:xfrm>
            <a:off x="6629400" y="2247900"/>
            <a:ext cx="4648200" cy="1308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03200" indent="-203200">
              <a:spcAft>
                <a:spcPts val="800"/>
              </a:spcAft>
              <a:buFont typeface="+mj-lt"/>
              <a:buChar char="•"/>
            </a:pPr>
            <a:r>
              <a:rPr lang="es-ES" sz="1600">
                <a:solidFill>
                  <a:srgbClr val="FFFFFF"/>
                </a:solidFill>
                <a:latin typeface="Calibri" panose="020F0502020204030204" pitchFamily="34" charset="0"/>
              </a:rPr>
              <a:t>Emisor y receptores desacoplados: se agregan suscriptores sin tocar al sujeto.</a:t>
            </a:r>
          </a:p>
          <a:p>
            <a:pPr marL="203200" indent="-203200">
              <a:spcAft>
                <a:spcPts val="800"/>
              </a:spcAft>
              <a:buFont typeface="+mj-lt"/>
              <a:buChar char="•"/>
            </a:pPr>
            <a:r>
              <a:rPr lang="es-ES" sz="1600">
                <a:solidFill>
                  <a:srgbClr val="FFFFFF"/>
                </a:solidFill>
                <a:latin typeface="Calibri" panose="020F0502020204030204" pitchFamily="34" charset="0"/>
              </a:rPr>
              <a:t>Actualiza varias vistas a la vez y en tiempo real.</a:t>
            </a:r>
            <a:endParaRPr lang="es-CO" sz="16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EC7D73DA-3F39-E11B-6AE5-687EB1CE5CF7}"/>
              </a:ext>
            </a:extLst>
          </p:cNvPr>
          <p:cNvSpPr/>
          <p:nvPr/>
        </p:nvSpPr>
        <p:spPr>
          <a:xfrm>
            <a:off x="6350000" y="3937000"/>
            <a:ext cx="5207000" cy="20955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F139612-C27A-1D3B-A912-644D2160E1FD}"/>
              </a:ext>
            </a:extLst>
          </p:cNvPr>
          <p:cNvSpPr txBox="1"/>
          <p:nvPr/>
        </p:nvSpPr>
        <p:spPr>
          <a:xfrm>
            <a:off x="6629400" y="4114800"/>
            <a:ext cx="46482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200" b="1">
                <a:solidFill>
                  <a:srgbClr val="E85A64"/>
                </a:solidFill>
                <a:latin typeface="Calibri" panose="020F0502020204030204" pitchFamily="34" charset="0"/>
              </a:rPr>
              <a:t>Desventajas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27D2E8A-C202-D3C0-742F-9226CAB1C31E}"/>
              </a:ext>
            </a:extLst>
          </p:cNvPr>
          <p:cNvSpPr txBox="1"/>
          <p:nvPr/>
        </p:nvSpPr>
        <p:spPr>
          <a:xfrm>
            <a:off x="6629400" y="4597400"/>
            <a:ext cx="4648200" cy="1308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03200" indent="-203200">
              <a:spcAft>
                <a:spcPts val="800"/>
              </a:spcAft>
              <a:buFont typeface="+mj-lt"/>
              <a:buChar char="•"/>
            </a:pPr>
            <a:r>
              <a:rPr lang="es-ES" sz="1600">
                <a:solidFill>
                  <a:srgbClr val="FFFFFF"/>
                </a:solidFill>
                <a:latin typeface="Calibri" panose="020F0502020204030204" pitchFamily="34" charset="0"/>
              </a:rPr>
              <a:t>Cascadas de actualizaciones difíciles de depurar.</a:t>
            </a:r>
          </a:p>
          <a:p>
            <a:pPr marL="203200" indent="-203200">
              <a:spcAft>
                <a:spcPts val="800"/>
              </a:spcAft>
              <a:buFont typeface="+mj-lt"/>
              <a:buChar char="•"/>
            </a:pPr>
            <a:r>
              <a:rPr lang="es-ES" sz="1600">
                <a:solidFill>
                  <a:srgbClr val="FFFFFF"/>
                </a:solidFill>
                <a:latin typeface="Calibri" panose="020F0502020204030204" pitchFamily="34" charset="0"/>
              </a:rPr>
              <a:t>Fugas de memoria si no se cancela la suscripción.</a:t>
            </a:r>
            <a:endParaRPr lang="es-CO" sz="16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16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  <p:bldP spid="11" grpId="0" animBg="1"/>
      <p:bldP spid="12" grpId="0"/>
      <p:bldP spid="13" grpId="0"/>
      <p:bldP spid="14" grpId="0" animBg="1"/>
      <p:bldP spid="15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124E5171-9A47-00D2-BC96-A5901261BD97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4E2CCA1-EE14-3AA7-0338-0E7A1EBC3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r>
              <a:rPr lang="es-CO" sz="3600" b="1" dirty="0">
                <a:solidFill>
                  <a:srgbClr val="FFFFFF"/>
                </a:solidFill>
                <a:latin typeface="Calibri" panose="020F0502020204030204" pitchFamily="34" charset="0"/>
              </a:rPr>
              <a:t>4. Mediator: ventajas y desventajas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8D35FC00-2D69-BA40-5AF6-3EB49BF70765}"/>
              </a:ext>
            </a:extLst>
          </p:cNvPr>
          <p:cNvCxnSpPr/>
          <p:nvPr/>
        </p:nvCxnSpPr>
        <p:spPr>
          <a:xfrm>
            <a:off x="1460500" y="2127250"/>
            <a:ext cx="1841500" cy="1809750"/>
          </a:xfrm>
          <a:prstGeom prst="straightConnector1">
            <a:avLst/>
          </a:prstGeom>
          <a:ln w="44450">
            <a:solidFill>
              <a:srgbClr val="BEC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B6F9A43D-A78E-46F8-4D99-233FB6D7B4C7}"/>
              </a:ext>
            </a:extLst>
          </p:cNvPr>
          <p:cNvSpPr/>
          <p:nvPr/>
        </p:nvSpPr>
        <p:spPr>
          <a:xfrm>
            <a:off x="635000" y="1778000"/>
            <a:ext cx="1651000" cy="6985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>
                <a:solidFill>
                  <a:srgbClr val="FFFFFF"/>
                </a:solidFill>
                <a:latin typeface="Calibri" panose="020F0502020204030204" pitchFamily="34" charset="0"/>
              </a:rPr>
              <a:t>Módulo A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4622BE67-A102-5766-0653-7885AB6FC0B1}"/>
              </a:ext>
            </a:extLst>
          </p:cNvPr>
          <p:cNvCxnSpPr/>
          <p:nvPr/>
        </p:nvCxnSpPr>
        <p:spPr>
          <a:xfrm flipH="1">
            <a:off x="3302000" y="2127250"/>
            <a:ext cx="1841500" cy="1809750"/>
          </a:xfrm>
          <a:prstGeom prst="straightConnector1">
            <a:avLst/>
          </a:prstGeom>
          <a:ln w="44450">
            <a:solidFill>
              <a:srgbClr val="BEC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DD57798C-B2F3-C974-6B8D-E86890C979F1}"/>
              </a:ext>
            </a:extLst>
          </p:cNvPr>
          <p:cNvSpPr/>
          <p:nvPr/>
        </p:nvSpPr>
        <p:spPr>
          <a:xfrm>
            <a:off x="4318000" y="1778000"/>
            <a:ext cx="1651000" cy="6985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>
                <a:solidFill>
                  <a:srgbClr val="FFFFFF"/>
                </a:solidFill>
                <a:latin typeface="Calibri" panose="020F0502020204030204" pitchFamily="34" charset="0"/>
              </a:rPr>
              <a:t>Módulo B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C5A47055-3FB2-98F5-3A20-AF2F8E43F394}"/>
              </a:ext>
            </a:extLst>
          </p:cNvPr>
          <p:cNvCxnSpPr/>
          <p:nvPr/>
        </p:nvCxnSpPr>
        <p:spPr>
          <a:xfrm flipV="1">
            <a:off x="1460500" y="3937000"/>
            <a:ext cx="1841500" cy="1822450"/>
          </a:xfrm>
          <a:prstGeom prst="straightConnector1">
            <a:avLst/>
          </a:prstGeom>
          <a:ln w="44450">
            <a:solidFill>
              <a:srgbClr val="BEC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647A118F-4E72-24A0-5009-6E64F780C260}"/>
              </a:ext>
            </a:extLst>
          </p:cNvPr>
          <p:cNvSpPr/>
          <p:nvPr/>
        </p:nvSpPr>
        <p:spPr>
          <a:xfrm>
            <a:off x="635000" y="5410200"/>
            <a:ext cx="1651000" cy="6985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>
                <a:solidFill>
                  <a:srgbClr val="FFFFFF"/>
                </a:solidFill>
                <a:latin typeface="Calibri" panose="020F0502020204030204" pitchFamily="34" charset="0"/>
              </a:rPr>
              <a:t>Módulo C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E1A67FA3-0C71-0048-B14C-188C6D930DF0}"/>
              </a:ext>
            </a:extLst>
          </p:cNvPr>
          <p:cNvCxnSpPr/>
          <p:nvPr/>
        </p:nvCxnSpPr>
        <p:spPr>
          <a:xfrm flipH="1" flipV="1">
            <a:off x="3302000" y="3937000"/>
            <a:ext cx="1841500" cy="1822450"/>
          </a:xfrm>
          <a:prstGeom prst="straightConnector1">
            <a:avLst/>
          </a:prstGeom>
          <a:ln w="44450">
            <a:solidFill>
              <a:srgbClr val="BEC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A3E2112E-BBE0-FDAD-4BE6-8A6824E0DA6D}"/>
              </a:ext>
            </a:extLst>
          </p:cNvPr>
          <p:cNvSpPr/>
          <p:nvPr/>
        </p:nvSpPr>
        <p:spPr>
          <a:xfrm>
            <a:off x="4318000" y="5410200"/>
            <a:ext cx="1651000" cy="698500"/>
          </a:xfrm>
          <a:prstGeom prst="roundRect">
            <a:avLst>
              <a:gd name="adj" fmla="val 15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>
                <a:solidFill>
                  <a:srgbClr val="FFFFFF"/>
                </a:solidFill>
                <a:latin typeface="Calibri" panose="020F0502020204030204" pitchFamily="34" charset="0"/>
              </a:rPr>
              <a:t>Módulo D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DA5A1FE7-9DC0-7A73-0EBC-ED9FC6FD4189}"/>
              </a:ext>
            </a:extLst>
          </p:cNvPr>
          <p:cNvSpPr/>
          <p:nvPr/>
        </p:nvSpPr>
        <p:spPr>
          <a:xfrm>
            <a:off x="2476500" y="3111500"/>
            <a:ext cx="1651000" cy="1651000"/>
          </a:xfrm>
          <a:prstGeom prst="ellipse">
            <a:avLst/>
          </a:prstGeom>
          <a:solidFill>
            <a:srgbClr val="F4B9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200" b="1">
                <a:solidFill>
                  <a:srgbClr val="0F122D"/>
                </a:solidFill>
                <a:latin typeface="Calibri" panose="020F0502020204030204" pitchFamily="34" charset="0"/>
              </a:rPr>
              <a:t>Mediador</a:t>
            </a:r>
          </a:p>
          <a:p>
            <a:pPr algn="ctr"/>
            <a:r>
              <a:rPr lang="es-CO" sz="1600">
                <a:solidFill>
                  <a:srgbClr val="0F122D"/>
                </a:solidFill>
                <a:latin typeface="Calibri" panose="020F0502020204030204" pitchFamily="34" charset="0"/>
              </a:rPr>
              <a:t>coordina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3BE20CED-622E-DDA1-8F8F-89319FFA3CEA}"/>
              </a:ext>
            </a:extLst>
          </p:cNvPr>
          <p:cNvSpPr/>
          <p:nvPr/>
        </p:nvSpPr>
        <p:spPr>
          <a:xfrm>
            <a:off x="6350000" y="1587500"/>
            <a:ext cx="5207000" cy="20955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5770670-3A97-5DF3-1CFE-D198891BD127}"/>
              </a:ext>
            </a:extLst>
          </p:cNvPr>
          <p:cNvSpPr txBox="1"/>
          <p:nvPr/>
        </p:nvSpPr>
        <p:spPr>
          <a:xfrm>
            <a:off x="6629400" y="1765300"/>
            <a:ext cx="46482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200" b="1">
                <a:solidFill>
                  <a:srgbClr val="34C78C"/>
                </a:solidFill>
                <a:latin typeface="Calibri" panose="020F0502020204030204" pitchFamily="34" charset="0"/>
              </a:rPr>
              <a:t>Ventajas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FF76C9D-FA8A-9CF3-6342-CBF05CA36FDC}"/>
              </a:ext>
            </a:extLst>
          </p:cNvPr>
          <p:cNvSpPr txBox="1"/>
          <p:nvPr/>
        </p:nvSpPr>
        <p:spPr>
          <a:xfrm>
            <a:off x="6629400" y="2247900"/>
            <a:ext cx="4648200" cy="1308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03200" indent="-203200">
              <a:spcAft>
                <a:spcPts val="800"/>
              </a:spcAft>
              <a:buFont typeface="+mj-lt"/>
              <a:buChar char="•"/>
            </a:pPr>
            <a:r>
              <a:rPr lang="es-ES" sz="1600">
                <a:solidFill>
                  <a:srgbClr val="FFFFFF"/>
                </a:solidFill>
                <a:latin typeface="Calibri" panose="020F0502020204030204" pitchFamily="34" charset="0"/>
              </a:rPr>
              <a:t>Los módulos solo conocen al mediador, no entre sí: menos dependencias.</a:t>
            </a:r>
          </a:p>
          <a:p>
            <a:pPr marL="203200" indent="-203200">
              <a:spcAft>
                <a:spcPts val="800"/>
              </a:spcAft>
              <a:buFont typeface="+mj-lt"/>
              <a:buChar char="•"/>
            </a:pPr>
            <a:r>
              <a:rPr lang="es-ES" sz="1600">
                <a:solidFill>
                  <a:srgbClr val="FFFFFF"/>
                </a:solidFill>
                <a:latin typeface="Calibri" panose="020F0502020204030204" pitchFamily="34" charset="0"/>
              </a:rPr>
              <a:t>El código queda más ordenado y fácil de mantener.</a:t>
            </a:r>
            <a:endParaRPr lang="es-CO" sz="16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7A9D1DF3-6723-F41D-2470-F72DC7420D9A}"/>
              </a:ext>
            </a:extLst>
          </p:cNvPr>
          <p:cNvSpPr/>
          <p:nvPr/>
        </p:nvSpPr>
        <p:spPr>
          <a:xfrm>
            <a:off x="6350000" y="3937000"/>
            <a:ext cx="5207000" cy="20955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912B45F-6587-AE11-FDB3-2D0E275D192E}"/>
              </a:ext>
            </a:extLst>
          </p:cNvPr>
          <p:cNvSpPr txBox="1"/>
          <p:nvPr/>
        </p:nvSpPr>
        <p:spPr>
          <a:xfrm>
            <a:off x="6629400" y="4114800"/>
            <a:ext cx="46482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200" b="1">
                <a:solidFill>
                  <a:srgbClr val="E85A64"/>
                </a:solidFill>
                <a:latin typeface="Calibri" panose="020F0502020204030204" pitchFamily="34" charset="0"/>
              </a:rPr>
              <a:t>Desventajas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9CD9A07-A7A9-9740-C01A-D27118F435DC}"/>
              </a:ext>
            </a:extLst>
          </p:cNvPr>
          <p:cNvSpPr txBox="1"/>
          <p:nvPr/>
        </p:nvSpPr>
        <p:spPr>
          <a:xfrm>
            <a:off x="6629400" y="4597400"/>
            <a:ext cx="4648200" cy="1308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03200" indent="-203200">
              <a:spcAft>
                <a:spcPts val="800"/>
              </a:spcAft>
              <a:buFont typeface="+mj-lt"/>
              <a:buChar char="•"/>
            </a:pPr>
            <a:r>
              <a:rPr lang="es-ES" sz="1600">
                <a:solidFill>
                  <a:srgbClr val="FFFFFF"/>
                </a:solidFill>
                <a:latin typeface="Calibri" panose="020F0502020204030204" pitchFamily="34" charset="0"/>
              </a:rPr>
              <a:t>El mediador puede crecer hasta volverse un 'objeto Dios'.</a:t>
            </a:r>
          </a:p>
          <a:p>
            <a:pPr marL="203200" indent="-203200">
              <a:spcAft>
                <a:spcPts val="800"/>
              </a:spcAft>
              <a:buFont typeface="+mj-lt"/>
              <a:buChar char="•"/>
            </a:pPr>
            <a:r>
              <a:rPr lang="es-ES" sz="1600">
                <a:solidFill>
                  <a:srgbClr val="FFFFFF"/>
                </a:solidFill>
                <a:latin typeface="Calibri" panose="020F0502020204030204" pitchFamily="34" charset="0"/>
              </a:rPr>
              <a:t>Si falla, se cae toda la comunicación entre componentes.</a:t>
            </a:r>
            <a:endParaRPr lang="es-CO" sz="16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5468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 animBg="1"/>
      <p:bldP spid="4" grpId="0" animBg="1"/>
      <p:bldP spid="13" grpId="0" animBg="1"/>
      <p:bldP spid="14" grpId="0"/>
      <p:bldP spid="15" grpId="0"/>
      <p:bldP spid="16" grpId="0" animBg="1"/>
      <p:bldP spid="17" grpId="0"/>
      <p:bldP spid="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DC6E74A2-15A2-7A09-D535-1AEE4D0C23F0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C8B15EA-5FC4-E87E-3FC9-72F1208C3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r>
              <a:rPr lang="es-CO" sz="3600" b="1" dirty="0">
                <a:solidFill>
                  <a:srgbClr val="FFFFFF"/>
                </a:solidFill>
                <a:latin typeface="Calibri" panose="020F0502020204030204" pitchFamily="34" charset="0"/>
              </a:rPr>
              <a:t>Ideas para llevarse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379093D-A92A-233B-EC9F-563C0D8AFE41}"/>
              </a:ext>
            </a:extLst>
          </p:cNvPr>
          <p:cNvSpPr/>
          <p:nvPr/>
        </p:nvSpPr>
        <p:spPr>
          <a:xfrm>
            <a:off x="635000" y="1587500"/>
            <a:ext cx="10922000" cy="1397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5B7E2722-1169-4AC8-3AA5-D00F918595F4}"/>
              </a:ext>
            </a:extLst>
          </p:cNvPr>
          <p:cNvSpPr/>
          <p:nvPr/>
        </p:nvSpPr>
        <p:spPr>
          <a:xfrm>
            <a:off x="939800" y="1879600"/>
            <a:ext cx="812800" cy="812800"/>
          </a:xfrm>
          <a:prstGeom prst="ellipse">
            <a:avLst/>
          </a:prstGeom>
          <a:solidFill>
            <a:srgbClr val="6473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3200" b="1">
                <a:solidFill>
                  <a:srgbClr val="0F122D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E1E8651-9D4A-FA26-4675-C8536845F09D}"/>
              </a:ext>
            </a:extLst>
          </p:cNvPr>
          <p:cNvSpPr txBox="1"/>
          <p:nvPr/>
        </p:nvSpPr>
        <p:spPr>
          <a:xfrm>
            <a:off x="2159000" y="1765300"/>
            <a:ext cx="9017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400" b="1">
                <a:solidFill>
                  <a:srgbClr val="6473F5"/>
                </a:solidFill>
                <a:latin typeface="Calibri" panose="020F0502020204030204" pitchFamily="34" charset="0"/>
              </a:rPr>
              <a:t>SOA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8DF59AA-2BC4-061E-8741-DD1C2E9CC32D}"/>
              </a:ext>
            </a:extLst>
          </p:cNvPr>
          <p:cNvSpPr txBox="1"/>
          <p:nvPr/>
        </p:nvSpPr>
        <p:spPr>
          <a:xfrm>
            <a:off x="2159000" y="2247900"/>
            <a:ext cx="90170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700">
                <a:solidFill>
                  <a:srgbClr val="FFFFFF"/>
                </a:solidFill>
                <a:latin typeface="Calibri" panose="020F0502020204030204" pitchFamily="34" charset="0"/>
              </a:rPr>
              <a:t>Gana escalabilidad y reutilización, a cambio de más complejidad. Ideal para sistemas grandes y distribuidos.</a:t>
            </a:r>
            <a:endParaRPr lang="es-CO" sz="17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0315C65E-C7DB-07FB-DC85-7206FC5174FF}"/>
              </a:ext>
            </a:extLst>
          </p:cNvPr>
          <p:cNvSpPr/>
          <p:nvPr/>
        </p:nvSpPr>
        <p:spPr>
          <a:xfrm>
            <a:off x="635000" y="3175000"/>
            <a:ext cx="10922000" cy="1397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1B178F55-7EE2-998B-6AA5-B7153C64079C}"/>
              </a:ext>
            </a:extLst>
          </p:cNvPr>
          <p:cNvSpPr/>
          <p:nvPr/>
        </p:nvSpPr>
        <p:spPr>
          <a:xfrm>
            <a:off x="939800" y="3467100"/>
            <a:ext cx="812800" cy="812800"/>
          </a:xfrm>
          <a:prstGeom prst="ellipse">
            <a:avLst/>
          </a:prstGeom>
          <a:solidFill>
            <a:srgbClr val="2EC4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3200" b="1">
                <a:solidFill>
                  <a:srgbClr val="0F122D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165BA00-118E-2DE5-6408-59E49BC1C938}"/>
              </a:ext>
            </a:extLst>
          </p:cNvPr>
          <p:cNvSpPr txBox="1"/>
          <p:nvPr/>
        </p:nvSpPr>
        <p:spPr>
          <a:xfrm>
            <a:off x="2159000" y="3352800"/>
            <a:ext cx="9017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CO" sz="2400" b="1">
                <a:solidFill>
                  <a:srgbClr val="2EC4B6"/>
                </a:solidFill>
                <a:latin typeface="Calibri" panose="020F0502020204030204" pitchFamily="34" charset="0"/>
              </a:rPr>
              <a:t>Observer y Mediator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049EC52-B406-7EDF-50CE-F9CC184176F0}"/>
              </a:ext>
            </a:extLst>
          </p:cNvPr>
          <p:cNvSpPr txBox="1"/>
          <p:nvPr/>
        </p:nvSpPr>
        <p:spPr>
          <a:xfrm>
            <a:off x="2159000" y="3835400"/>
            <a:ext cx="90170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700">
                <a:solidFill>
                  <a:srgbClr val="FFFFFF"/>
                </a:solidFill>
                <a:latin typeface="Calibri" panose="020F0502020204030204" pitchFamily="34" charset="0"/>
              </a:rPr>
              <a:t>Resuelven problemas distintos: Observer reparte los cambios a muchos; Mediator centraliza la comunicación entre muchos.</a:t>
            </a:r>
            <a:endParaRPr lang="es-CO" sz="17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E5C0A7CF-0BDF-3E04-9ACF-2279A5738D00}"/>
              </a:ext>
            </a:extLst>
          </p:cNvPr>
          <p:cNvSpPr/>
          <p:nvPr/>
        </p:nvSpPr>
        <p:spPr>
          <a:xfrm>
            <a:off x="635000" y="4762500"/>
            <a:ext cx="10922000" cy="1397000"/>
          </a:xfrm>
          <a:prstGeom prst="roundRect">
            <a:avLst>
              <a:gd name="adj" fmla="val 8000"/>
            </a:avLst>
          </a:prstGeom>
          <a:solidFill>
            <a:srgbClr val="2026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09260B3C-6A65-7775-5C1E-ADD3394EE6C7}"/>
              </a:ext>
            </a:extLst>
          </p:cNvPr>
          <p:cNvSpPr/>
          <p:nvPr/>
        </p:nvSpPr>
        <p:spPr>
          <a:xfrm>
            <a:off x="939800" y="5054600"/>
            <a:ext cx="812800" cy="812800"/>
          </a:xfrm>
          <a:prstGeom prst="ellipse">
            <a:avLst/>
          </a:prstGeom>
          <a:solidFill>
            <a:srgbClr val="F4B9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s-CO" sz="3200" b="1">
                <a:solidFill>
                  <a:srgbClr val="0F122D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A2EFF35-D13A-3D84-51FA-8EE7B28102D9}"/>
              </a:ext>
            </a:extLst>
          </p:cNvPr>
          <p:cNvSpPr txBox="1"/>
          <p:nvPr/>
        </p:nvSpPr>
        <p:spPr>
          <a:xfrm>
            <a:off x="2159000" y="4940300"/>
            <a:ext cx="9017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2400" b="1">
                <a:solidFill>
                  <a:srgbClr val="F4B942"/>
                </a:solidFill>
                <a:latin typeface="Calibri" panose="020F0502020204030204" pitchFamily="34" charset="0"/>
              </a:rPr>
              <a:t>React, MySQL y la nube</a:t>
            </a:r>
            <a:endParaRPr lang="es-CO" sz="2400" b="1">
              <a:solidFill>
                <a:srgbClr val="F4B942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34464E2-2191-FC33-E98A-EFFB2C42E8F8}"/>
              </a:ext>
            </a:extLst>
          </p:cNvPr>
          <p:cNvSpPr txBox="1"/>
          <p:nvPr/>
        </p:nvSpPr>
        <p:spPr>
          <a:xfrm>
            <a:off x="2159000" y="5422900"/>
            <a:ext cx="90170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s-ES" sz="1700">
                <a:solidFill>
                  <a:srgbClr val="FFFFFF"/>
                </a:solidFill>
                <a:latin typeface="Calibri" panose="020F0502020204030204" pitchFamily="34" charset="0"/>
              </a:rPr>
              <a:t>Se combinan bien: interfaz reactiva, servicios por contrato y datos persistentes, todo desplegado y escalable en la nube.</a:t>
            </a:r>
            <a:endParaRPr lang="es-CO" sz="17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05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8" grpId="0" animBg="1"/>
      <p:bldP spid="9" grpId="0" animBg="1"/>
      <p:bldP spid="10" grpId="0"/>
      <p:bldP spid="11" grpId="0"/>
      <p:bldP spid="12" grpId="0" animBg="1"/>
      <p:bldP spid="13" grpId="0" animBg="1"/>
      <p:bldP spid="14" grpId="0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6C99EE61-333B-7783-D814-D31484674B47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61CF72A-16DB-3521-6B3A-546C13096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r>
              <a:rPr lang="es-CO" sz="3600" b="1">
                <a:solidFill>
                  <a:srgbClr val="FFFFFF"/>
                </a:solidFill>
                <a:latin typeface="Calibri" panose="020F0502020204030204" pitchFamily="34" charset="0"/>
              </a:rPr>
              <a:t>Comparativa rápida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207870B7-4AD4-9A72-12C7-138960EE11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011983"/>
              </p:ext>
            </p:extLst>
          </p:nvPr>
        </p:nvGraphicFramePr>
        <p:xfrm>
          <a:off x="635000" y="1587500"/>
          <a:ext cx="109220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544620253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1056622285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805990068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724004222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r>
                        <a:rPr lang="es-CO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Criterio</a:t>
                      </a:r>
                    </a:p>
                  </a:txBody>
                  <a:tcPr anchor="ctr">
                    <a:solidFill>
                      <a:srgbClr val="647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SOA</a:t>
                      </a:r>
                    </a:p>
                  </a:txBody>
                  <a:tcPr anchor="ctr">
                    <a:solidFill>
                      <a:srgbClr val="647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Observer</a:t>
                      </a:r>
                    </a:p>
                  </a:txBody>
                  <a:tcPr anchor="ctr">
                    <a:solidFill>
                      <a:srgbClr val="647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Mediator</a:t>
                      </a:r>
                    </a:p>
                  </a:txBody>
                  <a:tcPr anchor="ctr">
                    <a:solidFill>
                      <a:srgbClr val="647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5898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s-CO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Tipo</a:t>
                      </a:r>
                    </a:p>
                  </a:txBody>
                  <a:tcPr anchor="ctr">
                    <a:solidFill>
                      <a:srgbClr val="3038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Arquitectura</a:t>
                      </a:r>
                    </a:p>
                  </a:txBody>
                  <a:tcPr anchor="ctr">
                    <a:solidFill>
                      <a:srgbClr val="2026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Patrón de diseño</a:t>
                      </a:r>
                    </a:p>
                  </a:txBody>
                  <a:tcPr anchor="ctr">
                    <a:solidFill>
                      <a:srgbClr val="2026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Patrón de diseño</a:t>
                      </a:r>
                    </a:p>
                  </a:txBody>
                  <a:tcPr anchor="ctr">
                    <a:solidFill>
                      <a:srgbClr val="2026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79344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s-CO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Comunicación</a:t>
                      </a:r>
                    </a:p>
                  </a:txBody>
                  <a:tcPr anchor="ctr">
                    <a:solidFill>
                      <a:srgbClr val="3038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Servicios por red (HTTP, mensajes)</a:t>
                      </a:r>
                      <a:endParaRPr lang="es-CO" sz="1600" b="0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1A1F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Uno a muchos</a:t>
                      </a:r>
                    </a:p>
                  </a:txBody>
                  <a:tcPr anchor="ctr">
                    <a:solidFill>
                      <a:srgbClr val="1A1F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Muchos a muchos, a través de un centro</a:t>
                      </a:r>
                      <a:endParaRPr lang="es-CO" sz="1600" b="0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1A1F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472179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s-CO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Acoplamiento</a:t>
                      </a:r>
                    </a:p>
                  </a:txBody>
                  <a:tcPr anchor="ctr">
                    <a:solidFill>
                      <a:srgbClr val="3038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Bajo, por contratos</a:t>
                      </a:r>
                    </a:p>
                  </a:txBody>
                  <a:tcPr anchor="ctr">
                    <a:solidFill>
                      <a:srgbClr val="2026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Bajo, por suscripción</a:t>
                      </a:r>
                    </a:p>
                  </a:txBody>
                  <a:tcPr anchor="ctr">
                    <a:solidFill>
                      <a:srgbClr val="2026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Bajo entre componentes</a:t>
                      </a:r>
                    </a:p>
                  </a:txBody>
                  <a:tcPr anchor="ctr">
                    <a:solidFill>
                      <a:srgbClr val="2026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62133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s-CO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Riesgo principal</a:t>
                      </a:r>
                    </a:p>
                  </a:txBody>
                  <a:tcPr anchor="ctr">
                    <a:solidFill>
                      <a:srgbClr val="3038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Complejidad y latencia</a:t>
                      </a:r>
                    </a:p>
                  </a:txBody>
                  <a:tcPr anchor="ctr">
                    <a:solidFill>
                      <a:srgbClr val="1A1F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Cascadas y fugas de memoria</a:t>
                      </a:r>
                      <a:endParaRPr lang="es-CO" sz="1600" b="0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1A1F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Mediador sobrecargado</a:t>
                      </a:r>
                    </a:p>
                  </a:txBody>
                  <a:tcPr anchor="ctr">
                    <a:solidFill>
                      <a:srgbClr val="1A1F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1005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7533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5FA4C54D-F8F7-667D-27BC-8658065CB91A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7116F78-536A-8DEB-2C90-7E0E23F1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pPr algn="l"/>
            <a:r>
              <a:rPr lang="es-MX" sz="3600" b="1" dirty="0">
                <a:latin typeface="Calibri" panose="020F0502020204030204" pitchFamily="34" charset="0"/>
              </a:rPr>
              <a:t>6</a:t>
            </a:r>
            <a:r>
              <a:rPr lang="es-CO" sz="3600" b="1" dirty="0">
                <a:latin typeface="Calibri" panose="020F0502020204030204" pitchFamily="34" charset="0"/>
              </a:rPr>
              <a:t>. Demostración </a:t>
            </a:r>
            <a:r>
              <a:rPr lang="es-CO" sz="3600" b="1" dirty="0" err="1">
                <a:latin typeface="Calibri" panose="020F0502020204030204" pitchFamily="34" charset="0"/>
              </a:rPr>
              <a:t>Observer</a:t>
            </a:r>
            <a:endParaRPr lang="es-CO" sz="3600" b="1" dirty="0">
              <a:latin typeface="Calibri" panose="020F0502020204030204" pitchFamily="34" charset="0"/>
            </a:endParaRPr>
          </a:p>
        </p:txBody>
      </p:sp>
      <p:sp>
        <p:nvSpPr>
          <p:cNvPr id="24" name="Rounded Rectangle 2">
            <a:extLst>
              <a:ext uri="{FF2B5EF4-FFF2-40B4-BE49-F238E27FC236}">
                <a16:creationId xmlns:a16="http://schemas.microsoft.com/office/drawing/2014/main" id="{251F3E1A-00CD-40F5-8C3B-ED106DFDCE14}"/>
              </a:ext>
            </a:extLst>
          </p:cNvPr>
          <p:cNvSpPr/>
          <p:nvPr/>
        </p:nvSpPr>
        <p:spPr>
          <a:xfrm>
            <a:off x="518819" y="1206500"/>
            <a:ext cx="9201531" cy="5425440"/>
          </a:xfrm>
          <a:prstGeom prst="roundRect">
            <a:avLst>
              <a:gd name="adj" fmla="val 4067"/>
            </a:avLst>
          </a:prstGeom>
          <a:solidFill>
            <a:srgbClr val="1A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D0D8BA4A-1C0B-F821-C7A1-AF3C9FED97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87" t="10007" r="7068" b="9250"/>
          <a:stretch>
            <a:fillRect/>
          </a:stretch>
        </p:blipFill>
        <p:spPr>
          <a:xfrm>
            <a:off x="739273" y="1332609"/>
            <a:ext cx="8748321" cy="529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202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5FA4C54D-F8F7-667D-27BC-8658065CB91A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7116F78-536A-8DEB-2C90-7E0E23F1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17500"/>
            <a:ext cx="10160000" cy="889000"/>
          </a:xfrm>
        </p:spPr>
        <p:txBody>
          <a:bodyPr anchor="ctr">
            <a:normAutofit/>
          </a:bodyPr>
          <a:lstStyle/>
          <a:p>
            <a:pPr algn="l"/>
            <a:r>
              <a:rPr lang="es-MX" sz="3600" b="1" dirty="0">
                <a:latin typeface="Calibri" panose="020F0502020204030204" pitchFamily="34" charset="0"/>
              </a:rPr>
              <a:t>6</a:t>
            </a:r>
            <a:r>
              <a:rPr lang="es-CO" sz="3600" b="1" dirty="0">
                <a:latin typeface="Calibri" panose="020F0502020204030204" pitchFamily="34" charset="0"/>
              </a:rPr>
              <a:t>. Demostración Mediator</a:t>
            </a:r>
          </a:p>
        </p:txBody>
      </p:sp>
      <p:sp>
        <p:nvSpPr>
          <p:cNvPr id="24" name="Rounded Rectangle 2">
            <a:extLst>
              <a:ext uri="{FF2B5EF4-FFF2-40B4-BE49-F238E27FC236}">
                <a16:creationId xmlns:a16="http://schemas.microsoft.com/office/drawing/2014/main" id="{251F3E1A-00CD-40F5-8C3B-ED106DFDCE14}"/>
              </a:ext>
            </a:extLst>
          </p:cNvPr>
          <p:cNvSpPr/>
          <p:nvPr/>
        </p:nvSpPr>
        <p:spPr>
          <a:xfrm>
            <a:off x="518818" y="1206500"/>
            <a:ext cx="9857081" cy="5425440"/>
          </a:xfrm>
          <a:prstGeom prst="roundRect">
            <a:avLst>
              <a:gd name="adj" fmla="val 4067"/>
            </a:avLst>
          </a:prstGeom>
          <a:solidFill>
            <a:srgbClr val="1A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dirty="0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D0D8BA4A-1C0B-F821-C7A1-AF3C9FED97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32" r="2717"/>
          <a:stretch/>
        </p:blipFill>
        <p:spPr>
          <a:xfrm>
            <a:off x="846592" y="1310641"/>
            <a:ext cx="9201531" cy="510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35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6C99EE61-333B-7783-D814-D31484674B47}"/>
              </a:ext>
            </a:extLst>
          </p:cNvPr>
          <p:cNvSpPr/>
          <p:nvPr/>
        </p:nvSpPr>
        <p:spPr>
          <a:xfrm>
            <a:off x="10160000" y="-1016000"/>
            <a:ext cx="3302000" cy="3302000"/>
          </a:xfrm>
          <a:prstGeom prst="ellipse">
            <a:avLst/>
          </a:prstGeom>
          <a:solidFill>
            <a:srgbClr val="6473F5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61CF72A-16DB-3521-6B3A-546C13096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5" y="317500"/>
            <a:ext cx="2967177" cy="889000"/>
          </a:xfrm>
        </p:spPr>
        <p:txBody>
          <a:bodyPr anchor="ctr">
            <a:normAutofit/>
          </a:bodyPr>
          <a:lstStyle/>
          <a:p>
            <a:pPr algn="l"/>
            <a:r>
              <a:rPr lang="es-MX" sz="3600" b="1" dirty="0">
                <a:latin typeface="Calibri" panose="020F0502020204030204" pitchFamily="34" charset="0"/>
              </a:rPr>
              <a:t>7. Conclusión</a:t>
            </a:r>
            <a:endParaRPr lang="es-CO" sz="3600" b="1" dirty="0">
              <a:latin typeface="Calibri" panose="020F0502020204030204" pitchFamily="34" charset="0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207870B7-4AD4-9A72-12C7-138960EE11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2160270"/>
              </p:ext>
            </p:extLst>
          </p:nvPr>
        </p:nvGraphicFramePr>
        <p:xfrm>
          <a:off x="635003" y="1587500"/>
          <a:ext cx="10758976" cy="3352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697419">
                  <a:extLst>
                    <a:ext uri="{9D8B030D-6E8A-4147-A177-3AD203B41FA5}">
                      <a16:colId xmlns:a16="http://schemas.microsoft.com/office/drawing/2014/main" val="544620253"/>
                    </a:ext>
                  </a:extLst>
                </a:gridCol>
                <a:gridCol w="2061557">
                  <a:extLst>
                    <a:ext uri="{9D8B030D-6E8A-4147-A177-3AD203B41FA5}">
                      <a16:colId xmlns:a16="http://schemas.microsoft.com/office/drawing/2014/main" val="1056622285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r>
                        <a:rPr lang="es-CO" sz="2100" b="1" dirty="0">
                          <a:solidFill>
                            <a:srgbClr val="FFFFFF"/>
                          </a:solidFill>
                        </a:rPr>
                        <a:t>Si necesitas</a:t>
                      </a:r>
                      <a:endParaRPr lang="es-CO" sz="21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O" sz="2100" b="1" dirty="0">
                          <a:solidFill>
                            <a:srgbClr val="FFFFFF"/>
                          </a:solidFill>
                        </a:rPr>
                        <a:t>Usa</a:t>
                      </a:r>
                      <a:endParaRPr lang="es-CO" sz="21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85898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s-CO" sz="2100" b="1" dirty="0">
                          <a:solidFill>
                            <a:schemeClr val="tx1"/>
                          </a:solidFill>
                        </a:rPr>
                        <a:t>Integrar sistemas o equipos independientes que escalan por separado</a:t>
                      </a:r>
                      <a:endParaRPr lang="es-CO" sz="21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O" sz="2100" b="0" dirty="0">
                          <a:solidFill>
                            <a:schemeClr val="tx1"/>
                          </a:solidFill>
                        </a:rPr>
                        <a:t>SOA</a:t>
                      </a:r>
                      <a:endParaRPr lang="es-CO" sz="21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679344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s-MX" sz="2100" b="1" dirty="0">
                          <a:solidFill>
                            <a:schemeClr val="tx1"/>
                          </a:solidFill>
                        </a:rPr>
                        <a:t>Que varios objetos reaccionen a un cambio de estado</a:t>
                      </a:r>
                      <a:endParaRPr lang="es-CO" sz="21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2100" b="0" dirty="0" err="1">
                          <a:solidFill>
                            <a:schemeClr val="tx1"/>
                          </a:solidFill>
                        </a:rPr>
                        <a:t>Observer</a:t>
                      </a:r>
                      <a:endParaRPr lang="es-CO" sz="21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472179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s-MX" sz="2100" b="1" dirty="0">
                          <a:solidFill>
                            <a:schemeClr val="tx1"/>
                          </a:solidFill>
                        </a:rPr>
                        <a:t>Coordinar muchos componentes que hoy se llaman entre sí</a:t>
                      </a:r>
                      <a:endParaRPr lang="es-CO" sz="21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2100" b="0" dirty="0">
                          <a:solidFill>
                            <a:schemeClr val="tx1"/>
                          </a:solidFill>
                        </a:rPr>
                        <a:t>Mediator</a:t>
                      </a:r>
                      <a:endParaRPr lang="es-CO" sz="21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7621331"/>
                  </a:ext>
                </a:extLst>
              </a:tr>
            </a:tbl>
          </a:graphicData>
        </a:graphic>
      </p:graphicFrame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5F5454D4-CD26-3A8C-F9B5-CA359EC50FC5}"/>
              </a:ext>
            </a:extLst>
          </p:cNvPr>
          <p:cNvSpPr/>
          <p:nvPr/>
        </p:nvSpPr>
        <p:spPr>
          <a:xfrm>
            <a:off x="635003" y="5232400"/>
            <a:ext cx="10758976" cy="1041400"/>
          </a:xfrm>
          <a:prstGeom prst="roundRect">
            <a:avLst>
              <a:gd name="adj" fmla="val 15000"/>
            </a:avLst>
          </a:prstGeom>
          <a:solidFill>
            <a:schemeClr val="tx1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2133" dirty="0">
                <a:solidFill>
                  <a:srgbClr val="FFC000"/>
                </a:solidFill>
                <a:latin typeface="Calibri" panose="020F0502020204030204" pitchFamily="34" charset="0"/>
              </a:rPr>
              <a:t>No compiten: se combinan. SOA organiza el sistema; </a:t>
            </a:r>
            <a:r>
              <a:rPr lang="es-MX" sz="2133" dirty="0" err="1">
                <a:solidFill>
                  <a:srgbClr val="FFC000"/>
                </a:solidFill>
                <a:latin typeface="Calibri" panose="020F0502020204030204" pitchFamily="34" charset="0"/>
              </a:rPr>
              <a:t>Observer</a:t>
            </a:r>
            <a:r>
              <a:rPr lang="es-MX" sz="2133" dirty="0">
                <a:solidFill>
                  <a:srgbClr val="FFC000"/>
                </a:solidFill>
                <a:latin typeface="Calibri" panose="020F0502020204030204" pitchFamily="34" charset="0"/>
              </a:rPr>
              <a:t> y Mediator organizan su código.</a:t>
            </a:r>
            <a:endParaRPr lang="es-CO" sz="2133" dirty="0">
              <a:solidFill>
                <a:srgbClr val="FFC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365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41</TotalTime>
  <Words>1344</Words>
  <Application>Microsoft Office PowerPoint</Application>
  <PresentationFormat>Panorámica</PresentationFormat>
  <Paragraphs>221</Paragraphs>
  <Slides>20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Segoe UI Symbol</vt:lpstr>
      <vt:lpstr>Tema de Office</vt:lpstr>
      <vt:lpstr>Arquitectura Orientada a Servicios (SOA)</vt:lpstr>
      <vt:lpstr>1. SOA: Definición</vt:lpstr>
      <vt:lpstr>2. SOA: Características</vt:lpstr>
      <vt:lpstr>3. SOA: Diagrama</vt:lpstr>
      <vt:lpstr>4. SOA: ventajas</vt:lpstr>
      <vt:lpstr>4. SOA: desventajas</vt:lpstr>
      <vt:lpstr>5. Tecnologías relacionadas</vt:lpstr>
      <vt:lpstr>5. Cómo encajan en una misma solución</vt:lpstr>
      <vt:lpstr>6. Demostración SOA</vt:lpstr>
      <vt:lpstr>Patrones de Diseño:                             Observer y Mediator</vt:lpstr>
      <vt:lpstr>1. Patrones: Definición</vt:lpstr>
      <vt:lpstr>2. Patrones: Características</vt:lpstr>
      <vt:lpstr>3. Patrones: Diagramas</vt:lpstr>
      <vt:lpstr>4. Observer: ventajas y desventajas</vt:lpstr>
      <vt:lpstr>4. Mediator: ventajas y desventajas</vt:lpstr>
      <vt:lpstr>Ideas para llevarse</vt:lpstr>
      <vt:lpstr>Comparativa rápida</vt:lpstr>
      <vt:lpstr>6. Demostración Observer</vt:lpstr>
      <vt:lpstr>6. Demostración Mediator</vt:lpstr>
      <vt:lpstr>7. Conclusión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SANDRO VASQUEZ</dc:creator>
  <cp:lastModifiedBy>DAVID  VILLANUEVA POTOSI</cp:lastModifiedBy>
  <cp:revision>5</cp:revision>
  <dcterms:created xsi:type="dcterms:W3CDTF">2026-10-15T20:46:09Z</dcterms:created>
  <dcterms:modified xsi:type="dcterms:W3CDTF">2026-10-16T03:12:12Z</dcterms:modified>
</cp:coreProperties>
</file>