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3486-1119-D441-CFFA-0D4BF48B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CB646-D7BA-23B8-962E-7F6C14B0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D1F0-1B18-6E38-C383-58D2DD360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B9C84-F9B7-B183-D328-6FA2F158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0075-447D-901C-3244-0184D75E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2AF39-7543-FABF-C5B2-CA77E7BD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4CDED-CAF2-CA79-EE74-FC222499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1497-A489-EC0A-9F54-0D0AD37C8B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5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dirty="0"/>
              <a:t>Arquitectura Orientada a Servicios (SOA)</a:t>
            </a:r>
            <a:endParaRPr lang="en-US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FDCA49-15E5-9528-7942-58D1A631B8E2}"/>
              </a:ext>
            </a:extLst>
          </p:cNvPr>
          <p:cNvSpPr txBox="1"/>
          <p:nvPr/>
        </p:nvSpPr>
        <p:spPr>
          <a:xfrm>
            <a:off x="607423" y="3448594"/>
            <a:ext cx="457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s-419" sz="1200" b="1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es-419" sz="1200" b="1" i="0" dirty="0">
                <a:solidFill>
                  <a:schemeClr val="bg1"/>
                </a:solidFill>
                <a:effectLst/>
                <a:latin typeface="Mona Sans VF"/>
              </a:rPr>
              <a:t>Integrantes del Equipo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David Villanueva Potosí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Brandon Duván Guevara Rodríguez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SOA: Definición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Qué es: </a:t>
            </a:r>
            <a:r>
              <a:rPr lang="en-US" sz="1500" dirty="0" err="1">
                <a:solidFill>
                  <a:schemeClr val="tx1"/>
                </a:solidFill>
              </a:rPr>
              <a:t>estilo</a:t>
            </a:r>
            <a:r>
              <a:rPr lang="en-US" sz="1500" dirty="0">
                <a:solidFill>
                  <a:schemeClr val="tx1"/>
                </a:solidFill>
              </a:rPr>
              <a:t> de arquitectura que divide el software en servicios independientes. Cada uno hace una función de negocio y publica un contrato.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Metáfora: </a:t>
            </a:r>
            <a:r>
              <a:rPr lang="en-US" sz="1500" dirty="0">
                <a:solidFill>
                  <a:schemeClr val="tx1"/>
                </a:solidFill>
              </a:rPr>
              <a:t>un centro comercial; cada local hace una cosa y, si uno cierra, los demás siguen abiertos.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Sirve para: </a:t>
            </a:r>
            <a:r>
              <a:rPr lang="en-US" sz="1500" dirty="0" err="1">
                <a:solidFill>
                  <a:schemeClr val="tx1"/>
                </a:solidFill>
              </a:rPr>
              <a:t>integrar</a:t>
            </a:r>
            <a:r>
              <a:rPr lang="en-US" sz="1500" dirty="0">
                <a:solidFill>
                  <a:schemeClr val="tx1"/>
                </a:solidFill>
              </a:rPr>
              <a:t> sistemas viejos y nuevos, reutilizar lógica y cambiar una parte sin romper todo.</a:t>
            </a:r>
            <a:endParaRPr lang="en-US" sz="1500" dirty="0"/>
          </a:p>
        </p:txBody>
      </p:sp>
      <p:sp>
        <p:nvSpPr>
          <p:cNvPr id="4" name="Separador"/>
          <p:cNvSpPr/>
          <p:nvPr/>
        </p:nvSpPr>
        <p:spPr>
          <a:xfrm>
            <a:off x="470916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Principios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Contrato estándar: </a:t>
            </a:r>
            <a:r>
              <a:rPr lang="en-US" sz="1300" dirty="0">
                <a:solidFill>
                  <a:schemeClr val="tx1"/>
                </a:solidFill>
              </a:rPr>
              <a:t>describe qué ofrece.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Bajo acoplamiento: </a:t>
            </a:r>
            <a:r>
              <a:rPr lang="en-US" sz="1300" dirty="0">
                <a:solidFill>
                  <a:schemeClr val="tx1"/>
                </a:solidFill>
              </a:rPr>
              <a:t>depende del contrato, no del código.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Reutilización: </a:t>
            </a:r>
            <a:r>
              <a:rPr lang="en-US" sz="1300" dirty="0">
                <a:solidFill>
                  <a:schemeClr val="tx1"/>
                </a:solidFill>
              </a:rPr>
              <a:t>varias apps usan el mismo servicio.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Autonomía: </a:t>
            </a:r>
            <a:r>
              <a:rPr lang="en-US" sz="1300" dirty="0">
                <a:solidFill>
                  <a:schemeClr val="tx1"/>
                </a:solidFill>
              </a:rPr>
              <a:t>cada servicio controla su lógica y datos.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Abstracción: </a:t>
            </a:r>
            <a:r>
              <a:rPr lang="en-US" sz="1300" dirty="0">
                <a:solidFill>
                  <a:schemeClr val="tx1"/>
                </a:solidFill>
              </a:rPr>
              <a:t>el consumidor no ve el interior.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Composición: </a:t>
            </a:r>
            <a:r>
              <a:rPr lang="en-US" sz="1300" dirty="0">
                <a:solidFill>
                  <a:schemeClr val="tx1"/>
                </a:solidFill>
              </a:rPr>
              <a:t>servicios simples forman procesos.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SOA: Características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se organiza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Proveedor: </a:t>
            </a:r>
            <a:r>
              <a:rPr lang="en-US" sz="1400" dirty="0">
                <a:solidFill>
                  <a:schemeClr val="tx1"/>
                </a:solidFill>
              </a:rPr>
              <a:t>implementa y publica el servicio.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Consumidor: </a:t>
            </a:r>
            <a:r>
              <a:rPr lang="en-US" sz="1400" dirty="0">
                <a:solidFill>
                  <a:schemeClr val="tx1"/>
                </a:solidFill>
              </a:rPr>
              <a:t>lo busca y lo usa (app web o móvil).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Registro: </a:t>
            </a:r>
            <a:r>
              <a:rPr lang="en-US" sz="1400" dirty="0">
                <a:solidFill>
                  <a:schemeClr val="tx1"/>
                </a:solidFill>
              </a:rPr>
              <a:t>catálogo donde se publican los contratos.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Capas: </a:t>
            </a:r>
            <a:r>
              <a:rPr lang="en-US" sz="1400" dirty="0">
                <a:solidFill>
                  <a:schemeClr val="tx1"/>
                </a:solidFill>
              </a:rPr>
              <a:t>consumidores, procesos, servicios de negocio, datos e integración (ESB, gateway, broker).</a:t>
            </a:r>
            <a:endParaRPr lang="en-US" sz="1400" dirty="0"/>
          </a:p>
        </p:txBody>
      </p:sp>
      <p:sp>
        <p:nvSpPr>
          <p:cNvPr id="5" name="Separador"/>
          <p:cNvSpPr/>
          <p:nvPr/>
        </p:nvSpPr>
        <p:spPr>
          <a:xfrm>
            <a:off x="470916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funciona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proveedor publica su contrato.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consumidor busca el servicio.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Envía un mensaje (SOAP/XML o REST/JSON) por HTTP o colas.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proveedor responde; su código interno no se ve.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Además: </a:t>
            </a:r>
            <a:r>
              <a:rPr lang="en-US" sz="1400" dirty="0">
                <a:solidFill>
                  <a:schemeClr val="tx1"/>
                </a:solidFill>
              </a:rPr>
              <a:t>los servicios no guardan estado y funcionan en distintas plataformas.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SOA: Diagrama</a:t>
            </a:r>
            <a:endParaRPr lang="en-US" sz="3400" dirty="0"/>
          </a:p>
        </p:txBody>
      </p:sp>
      <p:sp>
        <p:nvSpPr>
          <p:cNvPr id="3" name="Registro de servicios"/>
          <p:cNvSpPr/>
          <p:nvPr/>
        </p:nvSpPr>
        <p:spPr>
          <a:xfrm>
            <a:off x="1737360" y="1371600"/>
            <a:ext cx="2560320" cy="6400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173736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Registro de servicios</a:t>
            </a:r>
            <a:endParaRPr lang="en-US" sz="1200" dirty="0"/>
          </a:p>
        </p:txBody>
      </p:sp>
      <p:sp>
        <p:nvSpPr>
          <p:cNvPr id="5" name="Consumidor"/>
          <p:cNvSpPr/>
          <p:nvPr/>
        </p:nvSpPr>
        <p:spPr>
          <a:xfrm>
            <a:off x="548640" y="31089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Consumidor</a:t>
            </a:r>
            <a:endParaRPr lang="en-US" sz="1200" dirty="0"/>
          </a:p>
        </p:txBody>
      </p:sp>
      <p:sp>
        <p:nvSpPr>
          <p:cNvPr id="7" name="Proveedor"/>
          <p:cNvSpPr/>
          <p:nvPr/>
        </p:nvSpPr>
        <p:spPr>
          <a:xfrm>
            <a:off x="3657600" y="31089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365760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Proveedor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V="1">
            <a:off x="1463040" y="2011680"/>
            <a:ext cx="64008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64008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2377440" y="3310128"/>
            <a:ext cx="12801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2377440" y="3657600"/>
            <a:ext cx="12801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 txBox="1"/>
          <p:nvPr/>
        </p:nvSpPr>
        <p:spPr>
          <a:xfrm>
            <a:off x="548640" y="24231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2 busca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23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1 publica contrato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3 invoca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730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4 responde</a:t>
            </a:r>
            <a:endParaRPr lang="en-US" sz="1200" dirty="0"/>
          </a:p>
        </p:txBody>
      </p:sp>
      <p:sp>
        <p:nvSpPr>
          <p:cNvPr id="17" name="Separador"/>
          <p:cNvSpPr/>
          <p:nvPr/>
        </p:nvSpPr>
        <p:spPr>
          <a:xfrm>
            <a:off x="61264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 txBox="1"/>
          <p:nvPr/>
        </p:nvSpPr>
        <p:spPr>
          <a:xfrm>
            <a:off x="6355080" y="137160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 </a:t>
            </a:r>
            <a:r>
              <a:rPr lang="en-US" sz="1400" dirty="0">
                <a:solidFill>
                  <a:schemeClr val="tx1"/>
                </a:solidFill>
              </a:rPr>
              <a:t>El proveedor publica su contrato en el registro.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 </a:t>
            </a:r>
            <a:r>
              <a:rPr lang="en-US" sz="1400" dirty="0">
                <a:solidFill>
                  <a:schemeClr val="tx1"/>
                </a:solidFill>
              </a:rPr>
              <a:t>El consumidor busca el servicio.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3 </a:t>
            </a:r>
            <a:r>
              <a:rPr lang="en-US" sz="1400" dirty="0">
                <a:solidFill>
                  <a:schemeClr val="tx1"/>
                </a:solidFill>
              </a:rPr>
              <a:t>Lo invoca con un mensaje.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4 </a:t>
            </a:r>
            <a:r>
              <a:rPr lang="en-US" sz="1400" dirty="0">
                <a:solidFill>
                  <a:schemeClr val="tx1"/>
                </a:solidFill>
              </a:rPr>
              <a:t>El proveedor responde.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C3A5-6E25-0CE9-42A0-C50E0565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2A2209-5066-A9B5-3E35-5ED7D290F26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Patrones Observer y Mediator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1879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Patrones: Definición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Mediator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Qué es: </a:t>
            </a:r>
            <a:r>
              <a:rPr lang="en-US" sz="1400" dirty="0">
                <a:solidFill>
                  <a:schemeClr val="tx1"/>
                </a:solidFill>
              </a:rPr>
              <a:t>relación uno a muchos; si el Subject cambia, avisa a todos sus Observers.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Metáfora: </a:t>
            </a:r>
            <a:r>
              <a:rPr lang="en-US" sz="1400" dirty="0">
                <a:solidFill>
                  <a:schemeClr val="tx1"/>
                </a:solidFill>
              </a:rPr>
              <a:t>un canal de YouTube y sus suscriptores.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Sirve para: </a:t>
            </a:r>
            <a:r>
              <a:rPr lang="en-US" sz="1400" dirty="0">
                <a:solidFill>
                  <a:schemeClr val="tx1"/>
                </a:solidFill>
              </a:rPr>
              <a:t>reaccionar a cambios sin que el emisor conozca a quién avisa.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 SOA: </a:t>
            </a:r>
            <a:r>
              <a:rPr lang="en-US" sz="1400" dirty="0">
                <a:solidFill>
                  <a:schemeClr val="tx1"/>
                </a:solidFill>
              </a:rPr>
              <a:t>publish/subscribe con un broker (RabbitMQ, Kafka).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Qué es: </a:t>
            </a:r>
            <a:r>
              <a:rPr lang="en-US" sz="1400" dirty="0">
                <a:solidFill>
                  <a:schemeClr val="tx1"/>
                </a:solidFill>
              </a:rPr>
              <a:t>un intermediario que centraliza la comunicación entre componentes.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Metáfora: </a:t>
            </a:r>
            <a:r>
              <a:rPr lang="en-US" sz="1400" dirty="0">
                <a:solidFill>
                  <a:schemeClr val="tx1"/>
                </a:solidFill>
              </a:rPr>
              <a:t>la torre de control de un aeropuerto.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Sirve para: </a:t>
            </a:r>
            <a:r>
              <a:rPr lang="en-US" sz="1400" dirty="0">
                <a:solidFill>
                  <a:schemeClr val="tx1"/>
                </a:solidFill>
              </a:rPr>
              <a:t>evitar una maraña de dependencias y coordinar en un solo lugar.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 SOA: </a:t>
            </a:r>
            <a:r>
              <a:rPr lang="en-US" sz="1400" dirty="0">
                <a:solidFill>
                  <a:schemeClr val="tx1"/>
                </a:solidFill>
              </a:rPr>
              <a:t>orquestador, ESB o API Gateway.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Patrones: Características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Mediator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Componentes: </a:t>
            </a:r>
            <a:r>
              <a:rPr lang="en-US" sz="1300" dirty="0">
                <a:solidFill>
                  <a:schemeClr val="tx1"/>
                </a:solidFill>
              </a:rPr>
              <a:t>Subject, Observer, subscribe(), unsubscribe(), notify() y update().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Por dentro: </a:t>
            </a:r>
            <a:r>
              <a:rPr lang="en-US" sz="1300" dirty="0">
                <a:solidFill>
                  <a:schemeClr val="tx1"/>
                </a:solidFill>
              </a:rPr>
              <a:t>el Subject guarda una lista de observadores y la recorre al notificar: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se registran con subscribe()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cambia el estado y llama notify()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cada uno recibe update()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 SOA: </a:t>
            </a:r>
            <a:r>
              <a:rPr lang="en-US" sz="1300" dirty="0">
                <a:solidFill>
                  <a:schemeClr val="tx1"/>
                </a:solidFill>
              </a:rPr>
              <a:t>el broker hace de lista y entrega el evento a cada suscriptor.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Componentes: </a:t>
            </a:r>
            <a:r>
              <a:rPr lang="en-US" sz="1300" dirty="0">
                <a:solidFill>
                  <a:schemeClr val="tx1"/>
                </a:solidFill>
              </a:rPr>
              <a:t>interfaz Mediator, mediador concreto y Colleagues.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Por dentro: </a:t>
            </a:r>
            <a:r>
              <a:rPr lang="en-US" sz="1300" dirty="0">
                <a:solidFill>
                  <a:schemeClr val="tx1"/>
                </a:solidFill>
              </a:rPr>
              <a:t>los Colleagues solo conocen al mediador: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un Colleague le avisa lo que necesita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el mediador decide a quién, en qué orden y con qué reglas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los demás responden al mediador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 SOA: </a:t>
            </a:r>
            <a:r>
              <a:rPr lang="en-US" sz="1300" dirty="0">
                <a:solidFill>
                  <a:schemeClr val="tx1"/>
                </a:solidFill>
              </a:rPr>
              <a:t>el ESB o gateway enruta, transforma y coordina.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Patrones: Diagramas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Mediator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ubject notify()"/>
          <p:cNvSpPr/>
          <p:nvPr/>
        </p:nvSpPr>
        <p:spPr>
          <a:xfrm>
            <a:off x="548640" y="1920240"/>
            <a:ext cx="1371600" cy="128016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Subject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notify()</a:t>
            </a:r>
            <a:endParaRPr lang="en-US" sz="1200" dirty="0"/>
          </a:p>
        </p:txBody>
      </p:sp>
      <p:sp>
        <p:nvSpPr>
          <p:cNvPr id="8" name="Observer A"/>
          <p:cNvSpPr/>
          <p:nvPr/>
        </p:nvSpPr>
        <p:spPr>
          <a:xfrm>
            <a:off x="2926080" y="1463040"/>
            <a:ext cx="13716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 txBox="1"/>
          <p:nvPr/>
        </p:nvSpPr>
        <p:spPr>
          <a:xfrm>
            <a:off x="292608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Observer A</a:t>
            </a:r>
            <a:endParaRPr lang="en-US" sz="1200" dirty="0"/>
          </a:p>
        </p:txBody>
      </p:sp>
      <p:sp>
        <p:nvSpPr>
          <p:cNvPr id="10" name="Observer B"/>
          <p:cNvSpPr/>
          <p:nvPr/>
        </p:nvSpPr>
        <p:spPr>
          <a:xfrm>
            <a:off x="2926080" y="2286000"/>
            <a:ext cx="13716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 txBox="1"/>
          <p:nvPr/>
        </p:nvSpPr>
        <p:spPr>
          <a:xfrm>
            <a:off x="29260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Observer B</a:t>
            </a:r>
            <a:endParaRPr lang="en-US" sz="1200" dirty="0"/>
          </a:p>
        </p:txBody>
      </p:sp>
      <p:sp>
        <p:nvSpPr>
          <p:cNvPr id="12" name="Observer C"/>
          <p:cNvSpPr/>
          <p:nvPr/>
        </p:nvSpPr>
        <p:spPr>
          <a:xfrm>
            <a:off x="2926080" y="3108960"/>
            <a:ext cx="13716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 txBox="1"/>
          <p:nvPr/>
        </p:nvSpPr>
        <p:spPr>
          <a:xfrm>
            <a:off x="292608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Observer 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1920240" y="1737360"/>
            <a:ext cx="100584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1920240" y="2560320"/>
            <a:ext cx="10058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6" name="Shape 14"/>
          <p:cNvSpPr/>
          <p:nvPr/>
        </p:nvSpPr>
        <p:spPr>
          <a:xfrm>
            <a:off x="1920240" y="2560320"/>
            <a:ext cx="100584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7" name="Mediator"/>
          <p:cNvSpPr/>
          <p:nvPr/>
        </p:nvSpPr>
        <p:spPr>
          <a:xfrm>
            <a:off x="5943600" y="1463040"/>
            <a:ext cx="1554480" cy="6400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 txBox="1"/>
          <p:nvPr/>
        </p:nvSpPr>
        <p:spPr>
          <a:xfrm>
            <a:off x="59436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Mediator</a:t>
            </a:r>
            <a:endParaRPr lang="en-US" sz="1200" dirty="0"/>
          </a:p>
        </p:txBody>
      </p:sp>
      <p:sp>
        <p:nvSpPr>
          <p:cNvPr id="19" name="Colleague A"/>
          <p:cNvSpPr/>
          <p:nvPr/>
        </p:nvSpPr>
        <p:spPr>
          <a:xfrm>
            <a:off x="4846320" y="2926080"/>
            <a:ext cx="10972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 txBox="1"/>
          <p:nvPr/>
        </p:nvSpPr>
        <p:spPr>
          <a:xfrm>
            <a:off x="48463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Colleague A</a:t>
            </a:r>
            <a:endParaRPr lang="en-US" sz="1200" dirty="0"/>
          </a:p>
        </p:txBody>
      </p:sp>
      <p:sp>
        <p:nvSpPr>
          <p:cNvPr id="21" name="Colleague B"/>
          <p:cNvSpPr/>
          <p:nvPr/>
        </p:nvSpPr>
        <p:spPr>
          <a:xfrm>
            <a:off x="6172200" y="2926080"/>
            <a:ext cx="10972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 txBox="1"/>
          <p:nvPr/>
        </p:nvSpPr>
        <p:spPr>
          <a:xfrm>
            <a:off x="617220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Colleague B</a:t>
            </a:r>
            <a:endParaRPr lang="en-US" sz="1200" dirty="0"/>
          </a:p>
        </p:txBody>
      </p:sp>
      <p:sp>
        <p:nvSpPr>
          <p:cNvPr id="23" name="Colleague C"/>
          <p:cNvSpPr/>
          <p:nvPr/>
        </p:nvSpPr>
        <p:spPr>
          <a:xfrm>
            <a:off x="7498080" y="2926080"/>
            <a:ext cx="10972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 txBox="1"/>
          <p:nvPr/>
        </p:nvSpPr>
        <p:spPr>
          <a:xfrm>
            <a:off x="749808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Colleague 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V="1">
            <a:off x="5394960" y="2103120"/>
            <a:ext cx="82296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6" name="Shape 24"/>
          <p:cNvSpPr/>
          <p:nvPr/>
        </p:nvSpPr>
        <p:spPr>
          <a:xfrm>
            <a:off x="6720840" y="2103120"/>
            <a:ext cx="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7223760" y="2103120"/>
            <a:ext cx="82296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 txBox="1"/>
          <p:nvPr/>
        </p:nvSpPr>
        <p:spPr>
          <a:xfrm>
            <a:off x="548640" y="3840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Subject avisa a todos sus Observers con notify(). En SOA, el broker entrega el evento.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40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Todos hablan con el Mediator, que coordina; los Colleagues no se conocen entre sí.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1C7DD-AE16-3396-A768-25871454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EBC240-CDC5-6022-2777-9FC32B90C69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 err="1"/>
              <a:t>Demostración</a:t>
            </a:r>
            <a:r>
              <a:rPr lang="en-US" sz="3400" dirty="0"/>
              <a:t> Observer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9A839D4-8AA5-259D-CBA6-6C4F86AE7A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0D3864-16E3-1F3C-FAA5-52B37E4B911E}"/>
              </a:ext>
            </a:extLst>
          </p:cNvPr>
          <p:cNvSpPr/>
          <p:nvPr/>
        </p:nvSpPr>
        <p:spPr>
          <a:xfrm>
            <a:off x="548640" y="914400"/>
            <a:ext cx="6374674" cy="406908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660477F-36C8-BC06-0385-E8E72D52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87" t="10007" r="7068" b="9250"/>
          <a:stretch>
            <a:fillRect/>
          </a:stretch>
        </p:blipFill>
        <p:spPr>
          <a:xfrm>
            <a:off x="685800" y="1059848"/>
            <a:ext cx="6080760" cy="377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64168"/>
      </p:ext>
    </p:extLst>
  </p:cSld>
  <p:clrMapOvr>
    <a:masterClrMapping/>
  </p:clrMapOvr>
</p:sld>
</file>

<file path=ppt/theme/theme1.xml><?xml version="1.0" encoding="utf-8"?>
<a:theme xmlns:a="http://schemas.openxmlformats.org/drawingml/2006/main" name="Azul">
  <a:themeElements>
    <a:clrScheme name="Azul">
      <a:dk1>
        <a:srgbClr val="222222"/>
      </a:dk1>
      <a:lt1>
        <a:srgbClr val="FFFFFF"/>
      </a:lt1>
      <a:dk2>
        <a:srgbClr val="1F4E9C"/>
      </a:dk2>
      <a:lt2>
        <a:srgbClr val="E8F0FB"/>
      </a:lt2>
      <a:accent1>
        <a:srgbClr val="1F4E9C"/>
      </a:accent1>
      <a:accent2>
        <a:srgbClr val="4A90D9"/>
      </a:accent2>
      <a:accent3>
        <a:srgbClr val="9CC3EE"/>
      </a:accent3>
      <a:accent4>
        <a:srgbClr val="E76F51"/>
      </a:accent4>
      <a:accent5>
        <a:srgbClr val="6C8EAD"/>
      </a:accent5>
      <a:accent6>
        <a:srgbClr val="5B9E6B"/>
      </a:accent6>
      <a:hlink>
        <a:srgbClr val="1F4E9C"/>
      </a:hlink>
      <a:folHlink>
        <a:srgbClr val="6C8EAD"/>
      </a:folHlink>
    </a:clrScheme>
    <a:fontScheme name="Azu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117</TotalTime>
  <Words>619</Words>
  <Application>Microsoft Office PowerPoint</Application>
  <PresentationFormat>Presentación en pantalla (16:9)</PresentationFormat>
  <Paragraphs>100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Mona Sans VF</vt:lpstr>
      <vt:lpstr>Azul</vt:lpstr>
      <vt:lpstr>Arquitectura Orientada a Servicios (SOA)</vt:lpstr>
      <vt:lpstr>SOA: Definición</vt:lpstr>
      <vt:lpstr>SOA: Características</vt:lpstr>
      <vt:lpstr>SOA: Diagrama</vt:lpstr>
      <vt:lpstr>Patrones Observer y Mediator</vt:lpstr>
      <vt:lpstr>Patrones: Definición</vt:lpstr>
      <vt:lpstr>Patrones: Características</vt:lpstr>
      <vt:lpstr>Patrones: Diagramas</vt:lpstr>
      <vt:lpstr>Demostración Observer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SOA: patrones Observer y Mediator</dc:title>
  <dc:subject>PptxGenJS Presentation</dc:subject>
  <dc:creator>PptxGenJS</dc:creator>
  <cp:lastModifiedBy>24_92101060324</cp:lastModifiedBy>
  <cp:revision>5</cp:revision>
  <dcterms:created xsi:type="dcterms:W3CDTF">2026-10-14T14:14:31Z</dcterms:created>
  <dcterms:modified xsi:type="dcterms:W3CDTF">2026-10-15T15:29:14Z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2026-10-15T13:57:14Z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467b71e2-0262-4a97-8278-39a3d845f4a1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