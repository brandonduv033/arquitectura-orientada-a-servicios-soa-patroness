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2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4E60B-7F9A-9675-77A3-DA1D44A35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1E47B4-048B-D575-500F-E04EED3A8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BC8C73-ED8F-E36F-1621-8EF758F2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E19228-CBA9-6954-F26D-8B5BD23E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A57172-F50B-B8B1-A5DA-ADA9BA30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0678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ACFD7-6AD2-A602-A46A-9435F882C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E55D79-9FA4-9B5F-D253-E0554D087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3B26D-D98B-3F8C-000D-63DD181D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736A74-6AC1-E294-E991-88CDC1619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6348FD-981D-525A-408D-9C1404A9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330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09089-D697-D3BB-26D3-AFA2336D1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9D6A36-205A-FB5D-B548-B7EDE1A2E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D21036-BD16-1980-F12B-A5651C052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8ED95A-AA2A-3F3D-9EB6-867F2992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F77395-094F-A6ED-6DF9-6990518E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108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A246E2-6E35-200B-536F-48CEA334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66C3D7-AA58-5B9D-D448-5E570E7BD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A6332F-2A09-7EFA-1A50-ED290739F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B8E707-1FAD-25B4-577B-82A20DAC3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051302-23AE-7AE4-76B8-F4748DD2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35BCF8-4A75-AEEA-FBE2-1D27CF33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559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8D75A-AC16-7E6D-2835-3D3031DE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3AF6BC-8470-DB8A-74FC-96EACF046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BFA8E6-4AFC-E70A-D731-97E2E9CE6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3C7A58-D5B7-A757-F8BB-1888975F6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765CACA-DB87-0334-8D3A-9BE82DD78A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695F097-2B41-3575-B245-84C34C67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8BAB29F-D579-82C0-FAA5-B4FCA2484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4D4B9C-02BC-FC81-B29B-39AE4198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377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CCAD3-7DF5-94B1-7CEF-686D535A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3827FD4-BFE5-A255-9040-7E4D962F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09CD20F-F8E8-E721-BFDE-59B5F47C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4BAE63-37D6-D1E1-1078-02CD5481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3430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A43F091-DD49-1555-4CBE-9631012F9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202E41E-F808-B0CF-C6AC-BF671933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DE1DA9-B9A0-718C-45A1-E06F6E33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280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4256B-A11D-AB6B-9F6F-AEA69AB4B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7140BB-26F5-6153-182A-59925F4EB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149A52-5004-F96E-1E6B-C1E0C8321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908898-25C7-1546-7755-260C38E34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52D588-EF59-76F1-5DA7-762F36C08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24E04F-7265-5157-F417-1B5C63F5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185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8173-07BF-A28C-F317-6D2AE79E1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D512064-7370-D1E1-5869-A4DBC9B9B8D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554678-0F5F-37E2-EA0C-32095AB6E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0D2B0C-FC2D-D793-6BAE-82262847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906E5D-BADC-8CF2-E8E3-E4A6FEB8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CB6E8C-AA80-1244-7D73-4DBD232F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0592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6801C-E3BC-4FBE-B0E9-207DE5A6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4D3378-7605-DD38-3B5A-891910F97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54F3B3-5D17-CFA3-8F69-F8F1331DF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463431-DDEF-D2BE-F0B9-C08E6EA0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CFC611-7935-435D-302C-ADD14AE37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872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F743C1-5A8F-685A-6BFF-01CA6974F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78E38B-EE06-89AF-C48F-3EB6C3651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F94757-D047-CD0D-ADAB-3729E501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DA2DB3-2E37-8A31-8092-E6FC0A66F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D99AEC-59E7-F01F-4C63-15AD4D47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51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EE551A-754E-8EBF-6A69-2FD06746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36F641-D44E-36C0-614B-4DC3307FD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97DDFE-FE1E-B9A8-24C0-00D699C04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D09D7C-0847-1FAA-8DEF-F91B45E13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2C2033-36CA-E140-26E8-1F54C7116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292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5FA4C54D-F8F7-667D-27BC-8658065CB91A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116F78-536A-8DEB-2C90-7E0E23F1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SOA: ventajas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DCB8F89-07EF-1B4D-58F0-38E94E7816CB}"/>
              </a:ext>
            </a:extLst>
          </p:cNvPr>
          <p:cNvSpPr/>
          <p:nvPr/>
        </p:nvSpPr>
        <p:spPr>
          <a:xfrm>
            <a:off x="635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3104DFF-4EA5-4B41-7453-FCF0813BAEC2}"/>
              </a:ext>
            </a:extLst>
          </p:cNvPr>
          <p:cNvSpPr/>
          <p:nvPr/>
        </p:nvSpPr>
        <p:spPr>
          <a:xfrm>
            <a:off x="889000" y="1778000"/>
            <a:ext cx="584200" cy="584200"/>
          </a:xfrm>
          <a:prstGeom prst="ellipse">
            <a:avLst/>
          </a:prstGeom>
          <a:solidFill>
            <a:srgbClr val="34C7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0F122D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80E2F62-EF11-9979-FA79-19B954B83227}"/>
              </a:ext>
            </a:extLst>
          </p:cNvPr>
          <p:cNvSpPr txBox="1"/>
          <p:nvPr/>
        </p:nvSpPr>
        <p:spPr>
          <a:xfrm>
            <a:off x="1676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Reutilización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86993C2-E08C-2F9D-C383-47DC52930807}"/>
              </a:ext>
            </a:extLst>
          </p:cNvPr>
          <p:cNvSpPr txBox="1"/>
          <p:nvPr/>
        </p:nvSpPr>
        <p:spPr>
          <a:xfrm>
            <a:off x="1676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Un mismo servicio (por ejemplo, el de autenticación) lo consumen varias aplicaciones sin duplicar código.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60F500F-4A41-2A6A-DDC3-9160B0534A45}"/>
              </a:ext>
            </a:extLst>
          </p:cNvPr>
          <p:cNvSpPr/>
          <p:nvPr/>
        </p:nvSpPr>
        <p:spPr>
          <a:xfrm>
            <a:off x="6223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5288C90-5B68-753B-D43A-AD8CC6F4FD57}"/>
              </a:ext>
            </a:extLst>
          </p:cNvPr>
          <p:cNvSpPr/>
          <p:nvPr/>
        </p:nvSpPr>
        <p:spPr>
          <a:xfrm>
            <a:off x="6477000" y="1778000"/>
            <a:ext cx="584200" cy="584200"/>
          </a:xfrm>
          <a:prstGeom prst="ellipse">
            <a:avLst/>
          </a:prstGeom>
          <a:solidFill>
            <a:srgbClr val="34C7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0F122D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90371F-4A44-4DE3-0431-B23D4385C791}"/>
              </a:ext>
            </a:extLst>
          </p:cNvPr>
          <p:cNvSpPr txBox="1"/>
          <p:nvPr/>
        </p:nvSpPr>
        <p:spPr>
          <a:xfrm>
            <a:off x="7264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Bajo acoplamiento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457CD12-A9AA-F8C1-4D98-78D844A56B06}"/>
              </a:ext>
            </a:extLst>
          </p:cNvPr>
          <p:cNvSpPr txBox="1"/>
          <p:nvPr/>
        </p:nvSpPr>
        <p:spPr>
          <a:xfrm>
            <a:off x="7264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Los servicios se comunican por contratos, así que se puede cambiar uno sin romper al resto.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21D6417-7577-1AC4-2B11-02DCE1C47F3C}"/>
              </a:ext>
            </a:extLst>
          </p:cNvPr>
          <p:cNvSpPr/>
          <p:nvPr/>
        </p:nvSpPr>
        <p:spPr>
          <a:xfrm>
            <a:off x="635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86F5F6C-BF1B-182D-B94F-54B633A8CFD9}"/>
              </a:ext>
            </a:extLst>
          </p:cNvPr>
          <p:cNvSpPr/>
          <p:nvPr/>
        </p:nvSpPr>
        <p:spPr>
          <a:xfrm>
            <a:off x="889000" y="3746500"/>
            <a:ext cx="584200" cy="584200"/>
          </a:xfrm>
          <a:prstGeom prst="ellipse">
            <a:avLst/>
          </a:prstGeom>
          <a:solidFill>
            <a:srgbClr val="34C7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0F122D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2E3D3F3-678F-26EF-F076-D2A42F917E0F}"/>
              </a:ext>
            </a:extLst>
          </p:cNvPr>
          <p:cNvSpPr txBox="1"/>
          <p:nvPr/>
        </p:nvSpPr>
        <p:spPr>
          <a:xfrm>
            <a:off x="1676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Interoperabilidad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A2E10D2-3EB6-831B-2176-F54873247AB4}"/>
              </a:ext>
            </a:extLst>
          </p:cNvPr>
          <p:cNvSpPr txBox="1"/>
          <p:nvPr/>
        </p:nvSpPr>
        <p:spPr>
          <a:xfrm>
            <a:off x="1676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Cada servicio puede estar en un lenguaje distinto y aun así hablar con los demás mediante REST o SOAP.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D69BBCDB-C959-FAA7-B2AC-22CA55BAB3ED}"/>
              </a:ext>
            </a:extLst>
          </p:cNvPr>
          <p:cNvSpPr/>
          <p:nvPr/>
        </p:nvSpPr>
        <p:spPr>
          <a:xfrm>
            <a:off x="6223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AA36ED98-D8D3-58F6-3E0E-8834EEEFAA77}"/>
              </a:ext>
            </a:extLst>
          </p:cNvPr>
          <p:cNvSpPr/>
          <p:nvPr/>
        </p:nvSpPr>
        <p:spPr>
          <a:xfrm>
            <a:off x="6477000" y="3746500"/>
            <a:ext cx="584200" cy="584200"/>
          </a:xfrm>
          <a:prstGeom prst="ellipse">
            <a:avLst/>
          </a:prstGeom>
          <a:solidFill>
            <a:srgbClr val="34C7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0F122D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A15A986-18C8-B306-41B3-BF554F9AC2C7}"/>
              </a:ext>
            </a:extLst>
          </p:cNvPr>
          <p:cNvSpPr txBox="1"/>
          <p:nvPr/>
        </p:nvSpPr>
        <p:spPr>
          <a:xfrm>
            <a:off x="7264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Escalabilidad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8A6CE4F-DE98-22BF-7DBC-CCFE44ADBA18}"/>
              </a:ext>
            </a:extLst>
          </p:cNvPr>
          <p:cNvSpPr txBox="1"/>
          <p:nvPr/>
        </p:nvSpPr>
        <p:spPr>
          <a:xfrm>
            <a:off x="7264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Si un servicio recibe mucha carga, se escala solo ese servicio y no todo el sistema.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4B6826B7-7CEE-5CCD-812E-29A9C2F65F94}"/>
              </a:ext>
            </a:extLst>
          </p:cNvPr>
          <p:cNvSpPr/>
          <p:nvPr/>
        </p:nvSpPr>
        <p:spPr>
          <a:xfrm>
            <a:off x="635000" y="5524500"/>
            <a:ext cx="10922000" cy="7366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rgbClr val="F4B942"/>
                </a:solidFill>
                <a:latin typeface="Calibri" panose="020F0502020204030204" pitchFamily="34" charset="0"/>
              </a:rPr>
              <a:t>Ideal para: sistemas grandes, con varios equipos y varios clientes que comparten servicios.</a:t>
            </a:r>
            <a:endParaRPr lang="es-CO">
              <a:solidFill>
                <a:srgbClr val="F4B94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465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FC9324-6BCE-493A-12D3-5F293AC6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SOA: desventajas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A1A7B28-27E2-7096-1FBC-6250A82044B0}"/>
              </a:ext>
            </a:extLst>
          </p:cNvPr>
          <p:cNvSpPr/>
          <p:nvPr/>
        </p:nvSpPr>
        <p:spPr>
          <a:xfrm>
            <a:off x="635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9EA1E8B-6A49-E4C7-6CC9-52C34567DCC5}"/>
              </a:ext>
            </a:extLst>
          </p:cNvPr>
          <p:cNvSpPr/>
          <p:nvPr/>
        </p:nvSpPr>
        <p:spPr>
          <a:xfrm>
            <a:off x="889000" y="17780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BE01947-2410-16CC-ECE4-1034DB36CD79}"/>
              </a:ext>
            </a:extLst>
          </p:cNvPr>
          <p:cNvSpPr txBox="1"/>
          <p:nvPr/>
        </p:nvSpPr>
        <p:spPr>
          <a:xfrm>
            <a:off x="1676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Mayor complejidad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E5C1B1-5949-AED3-C6C2-EE08962DC082}"/>
              </a:ext>
            </a:extLst>
          </p:cNvPr>
          <p:cNvSpPr txBox="1"/>
          <p:nvPr/>
        </p:nvSpPr>
        <p:spPr>
          <a:xfrm>
            <a:off x="1676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Hay que diseñar, desplegar y mantener muchos servicios en lugar de una sola aplicación.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8F06F80-2031-7981-419C-E5BEE8DDDD7D}"/>
              </a:ext>
            </a:extLst>
          </p:cNvPr>
          <p:cNvSpPr/>
          <p:nvPr/>
        </p:nvSpPr>
        <p:spPr>
          <a:xfrm>
            <a:off x="6223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EB896B1-5D9A-81B9-31D2-BD22E740F8A9}"/>
              </a:ext>
            </a:extLst>
          </p:cNvPr>
          <p:cNvSpPr/>
          <p:nvPr/>
        </p:nvSpPr>
        <p:spPr>
          <a:xfrm>
            <a:off x="6477000" y="17780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5297F9-9C29-435C-410D-ABEFC6403CB7}"/>
              </a:ext>
            </a:extLst>
          </p:cNvPr>
          <p:cNvSpPr txBox="1"/>
          <p:nvPr/>
        </p:nvSpPr>
        <p:spPr>
          <a:xfrm>
            <a:off x="7264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Latencia de red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8A3ADE4-C4FA-B0ED-CFD7-6142EB5B435C}"/>
              </a:ext>
            </a:extLst>
          </p:cNvPr>
          <p:cNvSpPr txBox="1"/>
          <p:nvPr/>
        </p:nvSpPr>
        <p:spPr>
          <a:xfrm>
            <a:off x="7264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Cada llamada entre servicios viaja por la red, y eso es más lento que una llamada interna.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156885B-435B-954B-5C0B-800A73A27E51}"/>
              </a:ext>
            </a:extLst>
          </p:cNvPr>
          <p:cNvSpPr/>
          <p:nvPr/>
        </p:nvSpPr>
        <p:spPr>
          <a:xfrm>
            <a:off x="635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F1672ED-A365-2CDD-2BC2-1E1A14A235D7}"/>
              </a:ext>
            </a:extLst>
          </p:cNvPr>
          <p:cNvSpPr/>
          <p:nvPr/>
        </p:nvSpPr>
        <p:spPr>
          <a:xfrm>
            <a:off x="889000" y="37465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942B85-3806-6E7E-563D-5A2CD5190C24}"/>
              </a:ext>
            </a:extLst>
          </p:cNvPr>
          <p:cNvSpPr txBox="1"/>
          <p:nvPr/>
        </p:nvSpPr>
        <p:spPr>
          <a:xfrm>
            <a:off x="1676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Gobierno de contratos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61E214-57C6-6793-3A51-E3769CBC0974}"/>
              </a:ext>
            </a:extLst>
          </p:cNvPr>
          <p:cNvSpPr txBox="1"/>
          <p:nvPr/>
        </p:nvSpPr>
        <p:spPr>
          <a:xfrm>
            <a:off x="1676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Los cambios en una API se deben versionar para no romper a quienes la consumen.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C47647E-07AB-D185-4A16-81A9D019AB1A}"/>
              </a:ext>
            </a:extLst>
          </p:cNvPr>
          <p:cNvSpPr/>
          <p:nvPr/>
        </p:nvSpPr>
        <p:spPr>
          <a:xfrm>
            <a:off x="6223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311902E1-8E1D-E6A5-DB20-22E858D2FD55}"/>
              </a:ext>
            </a:extLst>
          </p:cNvPr>
          <p:cNvSpPr/>
          <p:nvPr/>
        </p:nvSpPr>
        <p:spPr>
          <a:xfrm>
            <a:off x="6477000" y="37465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28081BF-5AC4-1715-0AF2-68FF9BC7596A}"/>
              </a:ext>
            </a:extLst>
          </p:cNvPr>
          <p:cNvSpPr txBox="1"/>
          <p:nvPr/>
        </p:nvSpPr>
        <p:spPr>
          <a:xfrm>
            <a:off x="7264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Seguridad y monitoreo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98D59C2-0A95-7CF0-042E-E1FCDC50F697}"/>
              </a:ext>
            </a:extLst>
          </p:cNvPr>
          <p:cNvSpPr txBox="1"/>
          <p:nvPr/>
        </p:nvSpPr>
        <p:spPr>
          <a:xfrm>
            <a:off x="7264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Hay más puntos de entrada que proteger y es más difícil seguir una petición de principio a fin.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BEDDBE48-E002-0A02-70EF-AEF10BEC1A4C}"/>
              </a:ext>
            </a:extLst>
          </p:cNvPr>
          <p:cNvSpPr/>
          <p:nvPr/>
        </p:nvSpPr>
        <p:spPr>
          <a:xfrm>
            <a:off x="635000" y="5524500"/>
            <a:ext cx="10922000" cy="7366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rgbClr val="F4B942"/>
                </a:solidFill>
                <a:latin typeface="Calibri" panose="020F0502020204030204" pitchFamily="34" charset="0"/>
              </a:rPr>
              <a:t>Cuidado: en proyectos pequeños, SOA puede ser exagerado.</a:t>
            </a:r>
            <a:endParaRPr lang="es-CO">
              <a:solidFill>
                <a:srgbClr val="F4B94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56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FE7D64DB-C5FD-D992-F020-91F87E5C8482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13750F-AC17-AF7B-C66B-9B3777908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Observer: ventajas y desventajas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EDD861F-87A0-68C5-E3EB-742B2E52E244}"/>
              </a:ext>
            </a:extLst>
          </p:cNvPr>
          <p:cNvSpPr/>
          <p:nvPr/>
        </p:nvSpPr>
        <p:spPr>
          <a:xfrm>
            <a:off x="762000" y="3111500"/>
            <a:ext cx="1651000" cy="1651000"/>
          </a:xfrm>
          <a:prstGeom prst="ellipse">
            <a:avLst/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>
                <a:solidFill>
                  <a:srgbClr val="0F122D"/>
                </a:solidFill>
                <a:latin typeface="Calibri" panose="020F0502020204030204" pitchFamily="34" charset="0"/>
              </a:rPr>
              <a:t>Sujeto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notifica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C01D2D4-D3BE-42B8-B953-AE1DD8CCFB69}"/>
              </a:ext>
            </a:extLst>
          </p:cNvPr>
          <p:cNvCxnSpPr/>
          <p:nvPr/>
        </p:nvCxnSpPr>
        <p:spPr>
          <a:xfrm flipV="1">
            <a:off x="2438400" y="2127250"/>
            <a:ext cx="1701800" cy="180975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4853A48-A215-D8B8-E7C0-9228774DD494}"/>
              </a:ext>
            </a:extLst>
          </p:cNvPr>
          <p:cNvSpPr/>
          <p:nvPr/>
        </p:nvSpPr>
        <p:spPr>
          <a:xfrm>
            <a:off x="4191000" y="1778000"/>
            <a:ext cx="1778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Observador A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D9E3C50-0309-2C0E-1C81-9544E702937F}"/>
              </a:ext>
            </a:extLst>
          </p:cNvPr>
          <p:cNvCxnSpPr/>
          <p:nvPr/>
        </p:nvCxnSpPr>
        <p:spPr>
          <a:xfrm>
            <a:off x="2438400" y="3937000"/>
            <a:ext cx="1701800" cy="635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84780C4-F831-34CE-F3B0-9C034A3EBA03}"/>
              </a:ext>
            </a:extLst>
          </p:cNvPr>
          <p:cNvSpPr/>
          <p:nvPr/>
        </p:nvSpPr>
        <p:spPr>
          <a:xfrm>
            <a:off x="4191000" y="3594100"/>
            <a:ext cx="1778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Observador B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B3426D6-F236-00D4-D35D-43B760688F9C}"/>
              </a:ext>
            </a:extLst>
          </p:cNvPr>
          <p:cNvCxnSpPr/>
          <p:nvPr/>
        </p:nvCxnSpPr>
        <p:spPr>
          <a:xfrm>
            <a:off x="2438400" y="3937000"/>
            <a:ext cx="1701800" cy="182245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96B2B95-BB0D-FB09-B1FA-C3D25DD06C48}"/>
              </a:ext>
            </a:extLst>
          </p:cNvPr>
          <p:cNvSpPr/>
          <p:nvPr/>
        </p:nvSpPr>
        <p:spPr>
          <a:xfrm>
            <a:off x="4191000" y="5410200"/>
            <a:ext cx="1778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Observador C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D9A5083-F9DB-98FF-C9DA-2A60CDC8B45B}"/>
              </a:ext>
            </a:extLst>
          </p:cNvPr>
          <p:cNvSpPr/>
          <p:nvPr/>
        </p:nvSpPr>
        <p:spPr>
          <a:xfrm>
            <a:off x="6350000" y="15875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62A1560-1CE9-C4F5-81DF-74AAE2610360}"/>
              </a:ext>
            </a:extLst>
          </p:cNvPr>
          <p:cNvSpPr txBox="1"/>
          <p:nvPr/>
        </p:nvSpPr>
        <p:spPr>
          <a:xfrm>
            <a:off x="6629400" y="17653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34C78C"/>
                </a:solidFill>
                <a:latin typeface="Calibri" panose="020F0502020204030204" pitchFamily="34" charset="0"/>
              </a:rPr>
              <a:t>Ventajas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7224748-5BDF-EE20-EAFE-51A5697998CD}"/>
              </a:ext>
            </a:extLst>
          </p:cNvPr>
          <p:cNvSpPr txBox="1"/>
          <p:nvPr/>
        </p:nvSpPr>
        <p:spPr>
          <a:xfrm>
            <a:off x="6629400" y="22479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Emisor y receptores desacoplados: se agregan suscriptores sin tocar al sujeto.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Actualiza varias vistas a la vez y en tiempo real.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C7D73DA-3F39-E11B-6AE5-687EB1CE5CF7}"/>
              </a:ext>
            </a:extLst>
          </p:cNvPr>
          <p:cNvSpPr/>
          <p:nvPr/>
        </p:nvSpPr>
        <p:spPr>
          <a:xfrm>
            <a:off x="6350000" y="39370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F139612-C27A-1D3B-A912-644D2160E1FD}"/>
              </a:ext>
            </a:extLst>
          </p:cNvPr>
          <p:cNvSpPr txBox="1"/>
          <p:nvPr/>
        </p:nvSpPr>
        <p:spPr>
          <a:xfrm>
            <a:off x="6629400" y="41148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E85A64"/>
                </a:solidFill>
                <a:latin typeface="Calibri" panose="020F0502020204030204" pitchFamily="34" charset="0"/>
              </a:rPr>
              <a:t>Desventajas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27D2E8A-C202-D3C0-742F-9226CAB1C31E}"/>
              </a:ext>
            </a:extLst>
          </p:cNvPr>
          <p:cNvSpPr txBox="1"/>
          <p:nvPr/>
        </p:nvSpPr>
        <p:spPr>
          <a:xfrm>
            <a:off x="6629400" y="45974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Cascadas de actualizaciones difíciles de depurar.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Fugas de memoria si no se cancela la suscripción.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16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1" grpId="0" animBg="1"/>
      <p:bldP spid="12" grpId="0"/>
      <p:bldP spid="13" grpId="0"/>
      <p:bldP spid="14" grpId="0" animBg="1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124E5171-9A47-00D2-BC96-A5901261BD97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E2CCA1-EE14-3AA7-0338-0E7A1EBC3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Mediator: ventajas y desventajas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8D35FC00-2D69-BA40-5AF6-3EB49BF70765}"/>
              </a:ext>
            </a:extLst>
          </p:cNvPr>
          <p:cNvCxnSpPr/>
          <p:nvPr/>
        </p:nvCxnSpPr>
        <p:spPr>
          <a:xfrm>
            <a:off x="1460500" y="2127250"/>
            <a:ext cx="1841500" cy="18097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6F9A43D-A78E-46F8-4D99-233FB6D7B4C7}"/>
              </a:ext>
            </a:extLst>
          </p:cNvPr>
          <p:cNvSpPr/>
          <p:nvPr/>
        </p:nvSpPr>
        <p:spPr>
          <a:xfrm>
            <a:off x="635000" y="17780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A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622BE67-A102-5766-0653-7885AB6FC0B1}"/>
              </a:ext>
            </a:extLst>
          </p:cNvPr>
          <p:cNvCxnSpPr/>
          <p:nvPr/>
        </p:nvCxnSpPr>
        <p:spPr>
          <a:xfrm flipH="1">
            <a:off x="3302000" y="2127250"/>
            <a:ext cx="1841500" cy="18097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D57798C-B2F3-C974-6B8D-E86890C979F1}"/>
              </a:ext>
            </a:extLst>
          </p:cNvPr>
          <p:cNvSpPr/>
          <p:nvPr/>
        </p:nvSpPr>
        <p:spPr>
          <a:xfrm>
            <a:off x="4318000" y="17780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B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5A47055-3FB2-98F5-3A20-AF2F8E43F394}"/>
              </a:ext>
            </a:extLst>
          </p:cNvPr>
          <p:cNvCxnSpPr/>
          <p:nvPr/>
        </p:nvCxnSpPr>
        <p:spPr>
          <a:xfrm flipV="1">
            <a:off x="1460500" y="3937000"/>
            <a:ext cx="1841500" cy="18224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47A118F-4E72-24A0-5009-6E64F780C260}"/>
              </a:ext>
            </a:extLst>
          </p:cNvPr>
          <p:cNvSpPr/>
          <p:nvPr/>
        </p:nvSpPr>
        <p:spPr>
          <a:xfrm>
            <a:off x="635000" y="54102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C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1A67FA3-0C71-0048-B14C-188C6D930DF0}"/>
              </a:ext>
            </a:extLst>
          </p:cNvPr>
          <p:cNvCxnSpPr/>
          <p:nvPr/>
        </p:nvCxnSpPr>
        <p:spPr>
          <a:xfrm flipH="1" flipV="1">
            <a:off x="3302000" y="3937000"/>
            <a:ext cx="1841500" cy="18224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3E2112E-BBE0-FDAD-4BE6-8A6824E0DA6D}"/>
              </a:ext>
            </a:extLst>
          </p:cNvPr>
          <p:cNvSpPr/>
          <p:nvPr/>
        </p:nvSpPr>
        <p:spPr>
          <a:xfrm>
            <a:off x="4318000" y="54102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D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A5A1FE7-9DC0-7A73-0EBC-ED9FC6FD4189}"/>
              </a:ext>
            </a:extLst>
          </p:cNvPr>
          <p:cNvSpPr/>
          <p:nvPr/>
        </p:nvSpPr>
        <p:spPr>
          <a:xfrm>
            <a:off x="2476500" y="3111500"/>
            <a:ext cx="1651000" cy="1651000"/>
          </a:xfrm>
          <a:prstGeom prst="ellipse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200" b="1">
                <a:solidFill>
                  <a:srgbClr val="0F122D"/>
                </a:solidFill>
                <a:latin typeface="Calibri" panose="020F0502020204030204" pitchFamily="34" charset="0"/>
              </a:rPr>
              <a:t>Mediador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coordina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BE20CED-622E-DDA1-8F8F-89319FFA3CEA}"/>
              </a:ext>
            </a:extLst>
          </p:cNvPr>
          <p:cNvSpPr/>
          <p:nvPr/>
        </p:nvSpPr>
        <p:spPr>
          <a:xfrm>
            <a:off x="6350000" y="15875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5770670-3A97-5DF3-1CFE-D198891BD127}"/>
              </a:ext>
            </a:extLst>
          </p:cNvPr>
          <p:cNvSpPr txBox="1"/>
          <p:nvPr/>
        </p:nvSpPr>
        <p:spPr>
          <a:xfrm>
            <a:off x="6629400" y="17653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34C78C"/>
                </a:solidFill>
                <a:latin typeface="Calibri" panose="020F0502020204030204" pitchFamily="34" charset="0"/>
              </a:rPr>
              <a:t>Ventajas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FF76C9D-FA8A-9CF3-6342-CBF05CA36FDC}"/>
              </a:ext>
            </a:extLst>
          </p:cNvPr>
          <p:cNvSpPr txBox="1"/>
          <p:nvPr/>
        </p:nvSpPr>
        <p:spPr>
          <a:xfrm>
            <a:off x="6629400" y="22479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Los módulos solo conocen al mediador, no entre sí: menos dependencias.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El código queda más ordenado y fácil de mantener.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A9D1DF3-6723-F41D-2470-F72DC7420D9A}"/>
              </a:ext>
            </a:extLst>
          </p:cNvPr>
          <p:cNvSpPr/>
          <p:nvPr/>
        </p:nvSpPr>
        <p:spPr>
          <a:xfrm>
            <a:off x="6350000" y="39370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912B45F-6587-AE11-FDB3-2D0E275D192E}"/>
              </a:ext>
            </a:extLst>
          </p:cNvPr>
          <p:cNvSpPr txBox="1"/>
          <p:nvPr/>
        </p:nvSpPr>
        <p:spPr>
          <a:xfrm>
            <a:off x="6629400" y="41148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E85A64"/>
                </a:solidFill>
                <a:latin typeface="Calibri" panose="020F0502020204030204" pitchFamily="34" charset="0"/>
              </a:rPr>
              <a:t>Desventajas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9CD9A07-A7A9-9740-C01A-D27118F435DC}"/>
              </a:ext>
            </a:extLst>
          </p:cNvPr>
          <p:cNvSpPr txBox="1"/>
          <p:nvPr/>
        </p:nvSpPr>
        <p:spPr>
          <a:xfrm>
            <a:off x="6629400" y="45974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El mediador puede crecer hasta volverse un 'objeto Dios'.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Si falla, se cae toda la comunicación entre componentes.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468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4" grpId="0" animBg="1"/>
      <p:bldP spid="13" grpId="0" animBg="1"/>
      <p:bldP spid="14" grpId="0"/>
      <p:bldP spid="15" grpId="0"/>
      <p:bldP spid="16" grpId="0" animBg="1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6C99EE61-333B-7783-D814-D31484674B47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1CF72A-16DB-3521-6B3A-546C1309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Comparativa rápida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7870B7-4AD4-9A72-12C7-138960EE1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011983"/>
              </p:ext>
            </p:extLst>
          </p:nvPr>
        </p:nvGraphicFramePr>
        <p:xfrm>
          <a:off x="635000" y="1587500"/>
          <a:ext cx="10922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544620253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056622285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805990068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72400422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Criterio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SOA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Observer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Mediator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89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Tipo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Arquitectura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Patrón de diseño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Patrón de diseño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79344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Comunicación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Servicios por red (HTTP, mensajes)</a:t>
                      </a:r>
                      <a:endParaRPr lang="es-CO" sz="1600" b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Uno a muchos</a:t>
                      </a: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Muchos a muchos, a través de un centro</a:t>
                      </a:r>
                      <a:endParaRPr lang="es-CO" sz="1600" b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72179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Acoplamiento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Bajo, por contratos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Bajo, por suscripción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Bajo entre componentes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62133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Riesgo principal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Complejidad y latencia</a:t>
                      </a: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Cascadas y fugas de memoria</a:t>
                      </a:r>
                      <a:endParaRPr lang="es-CO" sz="1600" b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Mediador sobrecargado</a:t>
                      </a: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005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533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E80C4B23-6F1F-4034-F041-884DDE151CA4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767BBE-4BC1-A828-1C2D-063335E1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Tecnologías relacionadas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14D4279-19EA-87D0-2A3B-5D62843C2BC6}"/>
              </a:ext>
            </a:extLst>
          </p:cNvPr>
          <p:cNvSpPr/>
          <p:nvPr/>
        </p:nvSpPr>
        <p:spPr>
          <a:xfrm>
            <a:off x="635000" y="1524000"/>
            <a:ext cx="3429000" cy="4508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C1138B7-D7B7-F048-6118-43614A444D87}"/>
              </a:ext>
            </a:extLst>
          </p:cNvPr>
          <p:cNvSpPr/>
          <p:nvPr/>
        </p:nvSpPr>
        <p:spPr>
          <a:xfrm>
            <a:off x="939800" y="1803400"/>
            <a:ext cx="889000" cy="889000"/>
          </a:xfrm>
          <a:prstGeom prst="ellipse">
            <a:avLst/>
          </a:prstGeom>
          <a:solidFill>
            <a:srgbClr val="647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500" b="1">
                <a:solidFill>
                  <a:srgbClr val="0F122D"/>
                </a:solidFill>
                <a:latin typeface="Segoe UI Symbol" panose="020B0502040204020203" pitchFamily="34" charset="0"/>
              </a:rPr>
              <a:t>⚛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E681C8-BD47-F8C4-00F5-EECF5F928B9E}"/>
              </a:ext>
            </a:extLst>
          </p:cNvPr>
          <p:cNvSpPr txBox="1"/>
          <p:nvPr/>
        </p:nvSpPr>
        <p:spPr>
          <a:xfrm>
            <a:off x="2032000" y="1854200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React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388281-913B-1AFA-95E2-4122613D3C0C}"/>
              </a:ext>
            </a:extLst>
          </p:cNvPr>
          <p:cNvSpPr txBox="1"/>
          <p:nvPr/>
        </p:nvSpPr>
        <p:spPr>
          <a:xfrm>
            <a:off x="2032000" y="2311400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1500">
                <a:solidFill>
                  <a:srgbClr val="BEC5E6"/>
                </a:solidFill>
                <a:latin typeface="Calibri" panose="020F0502020204030204" pitchFamily="34" charset="0"/>
              </a:rPr>
              <a:t>Interfaz (cliente)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3300DFC-18A3-348F-81AD-4DBDA6F0BB65}"/>
              </a:ext>
            </a:extLst>
          </p:cNvPr>
          <p:cNvSpPr txBox="1"/>
          <p:nvPr/>
        </p:nvSpPr>
        <p:spPr>
          <a:xfrm>
            <a:off x="939800" y="3048000"/>
            <a:ext cx="28194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Observer: el estado y los hooks (useState, useEffect) vuelven a dibujar los componentes que dependen de él.</a:t>
            </a:r>
          </a:p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Mediator: Context o Redux centralizan la comunicación entre componentes.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AA080EF-82F4-A956-9F63-D72C37E0BD53}"/>
              </a:ext>
            </a:extLst>
          </p:cNvPr>
          <p:cNvSpPr/>
          <p:nvPr/>
        </p:nvSpPr>
        <p:spPr>
          <a:xfrm>
            <a:off x="4381500" y="1524000"/>
            <a:ext cx="3429000" cy="4508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89F4CFA-1246-4957-C40A-7BCCA1D683DE}"/>
              </a:ext>
            </a:extLst>
          </p:cNvPr>
          <p:cNvSpPr/>
          <p:nvPr/>
        </p:nvSpPr>
        <p:spPr>
          <a:xfrm>
            <a:off x="4686300" y="1803400"/>
            <a:ext cx="889000" cy="889000"/>
          </a:xfrm>
          <a:prstGeom prst="ellipse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500" b="1">
                <a:solidFill>
                  <a:srgbClr val="0F122D"/>
                </a:solidFill>
                <a:latin typeface="Calibri" panose="020F0502020204030204" pitchFamily="34" charset="0"/>
              </a:rPr>
              <a:t>DB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D21E515-0583-B822-0421-DAC125CA2CD6}"/>
              </a:ext>
            </a:extLst>
          </p:cNvPr>
          <p:cNvSpPr txBox="1"/>
          <p:nvPr/>
        </p:nvSpPr>
        <p:spPr>
          <a:xfrm>
            <a:off x="5778500" y="1854200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MySQL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65EBF4C-8852-45A7-82D2-CCD92E5D1B22}"/>
              </a:ext>
            </a:extLst>
          </p:cNvPr>
          <p:cNvSpPr txBox="1"/>
          <p:nvPr/>
        </p:nvSpPr>
        <p:spPr>
          <a:xfrm>
            <a:off x="5778500" y="2311400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1500">
                <a:solidFill>
                  <a:srgbClr val="BEC5E6"/>
                </a:solidFill>
                <a:latin typeface="Calibri" panose="020F0502020204030204" pitchFamily="34" charset="0"/>
              </a:rPr>
              <a:t>Datos (persistencia)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F96EF8F-91BC-E130-C244-4A95F1C85BCC}"/>
              </a:ext>
            </a:extLst>
          </p:cNvPr>
          <p:cNvSpPr txBox="1"/>
          <p:nvPr/>
        </p:nvSpPr>
        <p:spPr>
          <a:xfrm>
            <a:off x="4686300" y="3048000"/>
            <a:ext cx="28194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En SOA, un servicio es dueño de sus datos y los expone por una API.</a:t>
            </a:r>
          </a:p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La interfaz nunca consulta la base directamente: siempre pasa por el servicio.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43A1F00-8C45-EE55-3E31-8F9CB0BE8B1E}"/>
              </a:ext>
            </a:extLst>
          </p:cNvPr>
          <p:cNvSpPr/>
          <p:nvPr/>
        </p:nvSpPr>
        <p:spPr>
          <a:xfrm>
            <a:off x="8128000" y="1524000"/>
            <a:ext cx="3429000" cy="4508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77E368A-5615-D831-6BCB-CF251B0C7B07}"/>
              </a:ext>
            </a:extLst>
          </p:cNvPr>
          <p:cNvSpPr/>
          <p:nvPr/>
        </p:nvSpPr>
        <p:spPr>
          <a:xfrm>
            <a:off x="8432800" y="1803400"/>
            <a:ext cx="889000" cy="889000"/>
          </a:xfrm>
          <a:prstGeom prst="ellipse">
            <a:avLst/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500" b="1">
                <a:solidFill>
                  <a:srgbClr val="0F122D"/>
                </a:solidFill>
                <a:latin typeface="Segoe UI Symbol" panose="020B0502040204020203" pitchFamily="34" charset="0"/>
              </a:rPr>
              <a:t>☁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57BC6AF-ED6D-1A8A-51C4-34A16BAB10CE}"/>
              </a:ext>
            </a:extLst>
          </p:cNvPr>
          <p:cNvSpPr txBox="1"/>
          <p:nvPr/>
        </p:nvSpPr>
        <p:spPr>
          <a:xfrm>
            <a:off x="9525000" y="1854200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Nube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A627263-B3B5-0FD4-34C7-0EA78737736A}"/>
              </a:ext>
            </a:extLst>
          </p:cNvPr>
          <p:cNvSpPr txBox="1"/>
          <p:nvPr/>
        </p:nvSpPr>
        <p:spPr>
          <a:xfrm>
            <a:off x="9525000" y="2311400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1500">
                <a:solidFill>
                  <a:srgbClr val="BEC5E6"/>
                </a:solidFill>
                <a:latin typeface="Calibri" panose="020F0502020204030204" pitchFamily="34" charset="0"/>
              </a:rPr>
              <a:t>Despliegue y servicios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846604D-FD0F-0843-DF1E-BB91C66AC276}"/>
              </a:ext>
            </a:extLst>
          </p:cNvPr>
          <p:cNvSpPr txBox="1"/>
          <p:nvPr/>
        </p:nvSpPr>
        <p:spPr>
          <a:xfrm>
            <a:off x="8432800" y="3048000"/>
            <a:ext cx="28194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Los servicios se publican como APIs en AWS, Azure o Google Cloud y escalan por separado.</a:t>
            </a:r>
          </a:p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Las colas y el pub/sub aplican la idea de Observer a gran escala.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460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0A5DACC3-ADC3-44C7-A0A5-B2465CD50076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309FBE-B5C9-419B-9A38-E8A4478A1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ES" sz="3600" b="1">
                <a:solidFill>
                  <a:srgbClr val="FFFFFF"/>
                </a:solidFill>
                <a:latin typeface="Calibri" panose="020F0502020204030204" pitchFamily="34" charset="0"/>
              </a:rPr>
              <a:t>Cómo encajan en una misma solución</a:t>
            </a:r>
            <a:endParaRPr lang="es-CO" sz="3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36F514A-4289-AF3A-B314-742C7F7361BC}"/>
              </a:ext>
            </a:extLst>
          </p:cNvPr>
          <p:cNvSpPr/>
          <p:nvPr/>
        </p:nvSpPr>
        <p:spPr>
          <a:xfrm>
            <a:off x="635000" y="1651000"/>
            <a:ext cx="3175000" cy="1397000"/>
          </a:xfrm>
          <a:prstGeom prst="roundRect">
            <a:avLst>
              <a:gd name="adj" fmla="val 15000"/>
            </a:avLst>
          </a:prstGeom>
          <a:solidFill>
            <a:srgbClr val="647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React</a:t>
            </a:r>
          </a:p>
          <a:p>
            <a:pPr algn="ctr"/>
            <a:r>
              <a:rPr lang="es-CO" sz="1600">
                <a:solidFill>
                  <a:srgbClr val="FFFFFF"/>
                </a:solidFill>
                <a:latin typeface="Calibri" panose="020F0502020204030204" pitchFamily="34" charset="0"/>
              </a:rPr>
              <a:t>Cliente / interfaz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78C7B64-8366-7852-8AD3-EED8193A5DB2}"/>
              </a:ext>
            </a:extLst>
          </p:cNvPr>
          <p:cNvCxnSpPr/>
          <p:nvPr/>
        </p:nvCxnSpPr>
        <p:spPr>
          <a:xfrm>
            <a:off x="3860800" y="2349500"/>
            <a:ext cx="609600" cy="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AB96D22-C8C8-4FE3-F583-95C73A7EC5D9}"/>
              </a:ext>
            </a:extLst>
          </p:cNvPr>
          <p:cNvSpPr/>
          <p:nvPr/>
        </p:nvSpPr>
        <p:spPr>
          <a:xfrm>
            <a:off x="4508500" y="1651000"/>
            <a:ext cx="3175000" cy="139700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600" b="1">
                <a:solidFill>
                  <a:srgbClr val="0F122D"/>
                </a:solidFill>
                <a:latin typeface="Calibri" panose="020F0502020204030204" pitchFamily="34" charset="0"/>
              </a:rPr>
              <a:t>Servicio SOA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API REST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171037A-7C8F-3489-9A02-F339B129E5BD}"/>
              </a:ext>
            </a:extLst>
          </p:cNvPr>
          <p:cNvCxnSpPr/>
          <p:nvPr/>
        </p:nvCxnSpPr>
        <p:spPr>
          <a:xfrm>
            <a:off x="7734300" y="2349500"/>
            <a:ext cx="609600" cy="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52B9E29-ABCF-15BA-2244-B5D65CBD1480}"/>
              </a:ext>
            </a:extLst>
          </p:cNvPr>
          <p:cNvSpPr/>
          <p:nvPr/>
        </p:nvSpPr>
        <p:spPr>
          <a:xfrm>
            <a:off x="8382000" y="1651000"/>
            <a:ext cx="3175000" cy="1397000"/>
          </a:xfrm>
          <a:prstGeom prst="roundRect">
            <a:avLst>
              <a:gd name="adj" fmla="val 15000"/>
            </a:avLst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600" b="1">
                <a:solidFill>
                  <a:srgbClr val="0F122D"/>
                </a:solidFill>
                <a:latin typeface="Calibri" panose="020F0502020204030204" pitchFamily="34" charset="0"/>
              </a:rPr>
              <a:t>MySQL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Base de datos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4E5ED2E-A6AD-1C19-73A3-03C9C1829F3E}"/>
              </a:ext>
            </a:extLst>
          </p:cNvPr>
          <p:cNvSpPr txBox="1"/>
          <p:nvPr/>
        </p:nvSpPr>
        <p:spPr>
          <a:xfrm>
            <a:off x="635000" y="3276600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600">
                <a:solidFill>
                  <a:srgbClr val="BEC5E6"/>
                </a:solidFill>
                <a:latin typeface="Calibri" panose="020F0502020204030204" pitchFamily="34" charset="0"/>
              </a:rPr>
              <a:t>Observer: los componentes se suscriben al estado y se actualizan solos.</a:t>
            </a:r>
            <a:endParaRPr lang="es-CO" sz="16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BEB5CF0-33C1-5D5C-5EBC-7F41CD370A65}"/>
              </a:ext>
            </a:extLst>
          </p:cNvPr>
          <p:cNvSpPr txBox="1"/>
          <p:nvPr/>
        </p:nvSpPr>
        <p:spPr>
          <a:xfrm>
            <a:off x="4508500" y="3276600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600">
                <a:solidFill>
                  <a:srgbClr val="BEC5E6"/>
                </a:solidFill>
                <a:latin typeface="Calibri" panose="020F0502020204030204" pitchFamily="34" charset="0"/>
              </a:rPr>
              <a:t>Expone operaciones por contrato y hace de intermediario entre la interfaz y los datos.</a:t>
            </a:r>
            <a:endParaRPr lang="es-CO" sz="16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5D40A74-5E04-E55C-98A2-3C7BFCDF4045}"/>
              </a:ext>
            </a:extLst>
          </p:cNvPr>
          <p:cNvSpPr txBox="1"/>
          <p:nvPr/>
        </p:nvSpPr>
        <p:spPr>
          <a:xfrm>
            <a:off x="8382000" y="3276600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600">
                <a:solidFill>
                  <a:srgbClr val="BEC5E6"/>
                </a:solidFill>
                <a:latin typeface="Calibri" panose="020F0502020204030204" pitchFamily="34" charset="0"/>
              </a:rPr>
              <a:t>Guarda la información; solo el servicio dueño de los datos accede a ella.</a:t>
            </a:r>
            <a:endParaRPr lang="es-CO" sz="16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B0FFB1E-ABC2-DBC6-638E-D7F6672F2A99}"/>
              </a:ext>
            </a:extLst>
          </p:cNvPr>
          <p:cNvSpPr/>
          <p:nvPr/>
        </p:nvSpPr>
        <p:spPr>
          <a:xfrm>
            <a:off x="635000" y="5016500"/>
            <a:ext cx="10922000" cy="1206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rgbClr val="FFFFFF"/>
                </a:solidFill>
                <a:latin typeface="Calibri" panose="020F0502020204030204" pitchFamily="34" charset="0"/>
              </a:rPr>
              <a:t>Nube: aloja los servicios, los escala por separado y ofrece colas de mensajes (pub/sub) para notificar eventos entre ellos.</a:t>
            </a:r>
            <a:endParaRPr lang="es-CO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787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/>
      <p:bldP spid="10" grpId="0"/>
      <p:bldP spid="11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DC6E74A2-15A2-7A09-D535-1AEE4D0C23F0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8B15EA-5FC4-E87E-3FC9-72F1208C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Ideas para llevarse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379093D-A92A-233B-EC9F-563C0D8AFE41}"/>
              </a:ext>
            </a:extLst>
          </p:cNvPr>
          <p:cNvSpPr/>
          <p:nvPr/>
        </p:nvSpPr>
        <p:spPr>
          <a:xfrm>
            <a:off x="635000" y="1587500"/>
            <a:ext cx="10922000" cy="1397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B7E2722-1169-4AC8-3AA5-D00F918595F4}"/>
              </a:ext>
            </a:extLst>
          </p:cNvPr>
          <p:cNvSpPr/>
          <p:nvPr/>
        </p:nvSpPr>
        <p:spPr>
          <a:xfrm>
            <a:off x="939800" y="1879600"/>
            <a:ext cx="812800" cy="812800"/>
          </a:xfrm>
          <a:prstGeom prst="ellipse">
            <a:avLst/>
          </a:prstGeom>
          <a:solidFill>
            <a:srgbClr val="647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200" b="1">
                <a:solidFill>
                  <a:srgbClr val="0F122D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E1E8651-9D4A-FA26-4675-C8536845F09D}"/>
              </a:ext>
            </a:extLst>
          </p:cNvPr>
          <p:cNvSpPr txBox="1"/>
          <p:nvPr/>
        </p:nvSpPr>
        <p:spPr>
          <a:xfrm>
            <a:off x="2159000" y="1765300"/>
            <a:ext cx="9017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400" b="1">
                <a:solidFill>
                  <a:srgbClr val="6473F5"/>
                </a:solidFill>
                <a:latin typeface="Calibri" panose="020F0502020204030204" pitchFamily="34" charset="0"/>
              </a:rPr>
              <a:t>SOA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8DF59AA-2BC4-061E-8741-DD1C2E9CC32D}"/>
              </a:ext>
            </a:extLst>
          </p:cNvPr>
          <p:cNvSpPr txBox="1"/>
          <p:nvPr/>
        </p:nvSpPr>
        <p:spPr>
          <a:xfrm>
            <a:off x="2159000" y="2247900"/>
            <a:ext cx="9017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700">
                <a:solidFill>
                  <a:srgbClr val="FFFFFF"/>
                </a:solidFill>
                <a:latin typeface="Calibri" panose="020F0502020204030204" pitchFamily="34" charset="0"/>
              </a:rPr>
              <a:t>Gana escalabilidad y reutilización, a cambio de más complejidad. Ideal para sistemas grandes y distribuidos.</a:t>
            </a:r>
            <a:endParaRPr lang="es-CO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315C65E-C7DB-07FB-DC85-7206FC5174FF}"/>
              </a:ext>
            </a:extLst>
          </p:cNvPr>
          <p:cNvSpPr/>
          <p:nvPr/>
        </p:nvSpPr>
        <p:spPr>
          <a:xfrm>
            <a:off x="635000" y="3175000"/>
            <a:ext cx="10922000" cy="1397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B178F55-7EE2-998B-6AA5-B7153C64079C}"/>
              </a:ext>
            </a:extLst>
          </p:cNvPr>
          <p:cNvSpPr/>
          <p:nvPr/>
        </p:nvSpPr>
        <p:spPr>
          <a:xfrm>
            <a:off x="939800" y="3467100"/>
            <a:ext cx="812800" cy="812800"/>
          </a:xfrm>
          <a:prstGeom prst="ellipse">
            <a:avLst/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200" b="1">
                <a:solidFill>
                  <a:srgbClr val="0F122D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165BA00-118E-2DE5-6408-59E49BC1C938}"/>
              </a:ext>
            </a:extLst>
          </p:cNvPr>
          <p:cNvSpPr txBox="1"/>
          <p:nvPr/>
        </p:nvSpPr>
        <p:spPr>
          <a:xfrm>
            <a:off x="2159000" y="3352800"/>
            <a:ext cx="9017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400" b="1">
                <a:solidFill>
                  <a:srgbClr val="2EC4B6"/>
                </a:solidFill>
                <a:latin typeface="Calibri" panose="020F0502020204030204" pitchFamily="34" charset="0"/>
              </a:rPr>
              <a:t>Observer y Mediator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049EC52-B406-7EDF-50CE-F9CC184176F0}"/>
              </a:ext>
            </a:extLst>
          </p:cNvPr>
          <p:cNvSpPr txBox="1"/>
          <p:nvPr/>
        </p:nvSpPr>
        <p:spPr>
          <a:xfrm>
            <a:off x="2159000" y="3835400"/>
            <a:ext cx="9017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700">
                <a:solidFill>
                  <a:srgbClr val="FFFFFF"/>
                </a:solidFill>
                <a:latin typeface="Calibri" panose="020F0502020204030204" pitchFamily="34" charset="0"/>
              </a:rPr>
              <a:t>Resuelven problemas distintos: Observer reparte los cambios a muchos; Mediator centraliza la comunicación entre muchos.</a:t>
            </a:r>
            <a:endParaRPr lang="es-CO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5C0A7CF-0BDF-3E04-9ACF-2279A5738D00}"/>
              </a:ext>
            </a:extLst>
          </p:cNvPr>
          <p:cNvSpPr/>
          <p:nvPr/>
        </p:nvSpPr>
        <p:spPr>
          <a:xfrm>
            <a:off x="635000" y="4762500"/>
            <a:ext cx="10922000" cy="1397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9260B3C-6A65-7775-5C1E-ADD3394EE6C7}"/>
              </a:ext>
            </a:extLst>
          </p:cNvPr>
          <p:cNvSpPr/>
          <p:nvPr/>
        </p:nvSpPr>
        <p:spPr>
          <a:xfrm>
            <a:off x="939800" y="5054600"/>
            <a:ext cx="812800" cy="812800"/>
          </a:xfrm>
          <a:prstGeom prst="ellipse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200" b="1">
                <a:solidFill>
                  <a:srgbClr val="0F122D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A2EFF35-D13A-3D84-51FA-8EE7B28102D9}"/>
              </a:ext>
            </a:extLst>
          </p:cNvPr>
          <p:cNvSpPr txBox="1"/>
          <p:nvPr/>
        </p:nvSpPr>
        <p:spPr>
          <a:xfrm>
            <a:off x="2159000" y="4940300"/>
            <a:ext cx="9017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2400" b="1">
                <a:solidFill>
                  <a:srgbClr val="F4B942"/>
                </a:solidFill>
                <a:latin typeface="Calibri" panose="020F0502020204030204" pitchFamily="34" charset="0"/>
              </a:rPr>
              <a:t>React, MySQL y la nube</a:t>
            </a:r>
            <a:endParaRPr lang="es-CO" sz="2400" b="1">
              <a:solidFill>
                <a:srgbClr val="F4B942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34464E2-2191-FC33-E98A-EFFB2C42E8F8}"/>
              </a:ext>
            </a:extLst>
          </p:cNvPr>
          <p:cNvSpPr txBox="1"/>
          <p:nvPr/>
        </p:nvSpPr>
        <p:spPr>
          <a:xfrm>
            <a:off x="2159000" y="5422900"/>
            <a:ext cx="9017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700">
                <a:solidFill>
                  <a:srgbClr val="FFFFFF"/>
                </a:solidFill>
                <a:latin typeface="Calibri" panose="020F0502020204030204" pitchFamily="34" charset="0"/>
              </a:rPr>
              <a:t>Se combinan bien: interfaz reactiva, servicios por contrato y datos persistentes, todo desplegado y escalable en la nube.</a:t>
            </a:r>
            <a:endParaRPr lang="es-CO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57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657</Words>
  <Application>Microsoft Office PowerPoint</Application>
  <PresentationFormat>Personalizado</PresentationFormat>
  <Paragraphs>111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Segoe UI Symbol</vt:lpstr>
      <vt:lpstr>Tema de Office</vt:lpstr>
      <vt:lpstr>SOA: ventajas</vt:lpstr>
      <vt:lpstr>SOA: desventajas</vt:lpstr>
      <vt:lpstr>Observer: ventajas y desventajas</vt:lpstr>
      <vt:lpstr>Mediator: ventajas y desventajas</vt:lpstr>
      <vt:lpstr>Comparativa rápida</vt:lpstr>
      <vt:lpstr>Tecnologías relacionadas</vt:lpstr>
      <vt:lpstr>Cómo encajan en una misma solución</vt:lpstr>
      <vt:lpstr>Ideas para llevarse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SANDRO VASQUEZ</dc:creator>
  <cp:lastModifiedBy>SANDRO VASQUEZ</cp:lastModifiedBy>
  <cp:revision>2</cp:revision>
  <dcterms:created xsi:type="dcterms:W3CDTF">2026-10-15T20:46:09Z</dcterms:created>
  <dcterms:modified xsi:type="dcterms:W3CDTF">2026-10-15T21:05:27Z</dcterms:modified>
</cp:coreProperties>
</file>